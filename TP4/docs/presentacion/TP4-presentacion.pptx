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>
                <a:solidFill>
                  <a:srgbClr val="CFD6F5"/>
                </a:solidFill>
                <a:latin typeface="Calibri"/>
              </a:rPr>
              <a:t>Aprendizaje No Supervisado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88036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E3A8"/>
                </a:solidFill>
                <a:latin typeface="Calibri"/>
              </a:rPr>
              <a:t>Trabajo Práctico N°4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931920"/>
            <a:ext cx="10058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E4E7F7"/>
                </a:solidFill>
                <a:latin typeface="Calibri"/>
              </a:rPr>
              <a:t>Campañas de marketing (PCA, Kohonen y Oja)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E4E7F7"/>
                </a:solidFill>
                <a:latin typeface="Calibri"/>
              </a:rPr>
              <a:t>Memoria asociativa (Hopfield)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E4E7F7"/>
                </a:solidFill>
                <a:latin typeface="Calibri"/>
              </a:rPr>
              <a:t>Integrantes: Di Candia, Lucas · [completar con el resto del grupo]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66928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9A9DB3"/>
                </a:solidFill>
                <a:latin typeface="Calibri"/>
              </a:rPr>
              <a:t>2Q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Tabla de Contenidos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57400"/>
            <a:ext cx="2926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E3A8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8892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CFD6F5"/>
                </a:solidFill>
                <a:latin typeface="Calibri"/>
              </a:rPr>
              <a:t>Datos, EDA y PCA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737360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59" y="2057400"/>
            <a:ext cx="2926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E3A8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59" y="278892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CFD6F5"/>
                </a:solidFill>
                <a:latin typeface="Calibri"/>
              </a:rPr>
              <a:t>Red de Kohonen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737360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057400"/>
            <a:ext cx="2926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E3A8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8892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CFD6F5"/>
                </a:solidFill>
                <a:latin typeface="Calibri"/>
              </a:rPr>
              <a:t>Regla de Oja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977639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297679"/>
            <a:ext cx="2926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E3A8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CFD6F5"/>
                </a:solidFill>
                <a:latin typeface="Calibri"/>
              </a:rPr>
              <a:t>Decisión para las campañas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3977639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09159" y="4297679"/>
            <a:ext cx="2926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E3A8"/>
                </a:solidFill>
                <a:latin typeface="Calibr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59" y="502920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CFD6F5"/>
                </a:solidFill>
                <a:latin typeface="Calibri"/>
              </a:rPr>
              <a:t>Memoria asociativa: Hopfield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977639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4297679"/>
            <a:ext cx="2926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E3A8"/>
                </a:solidFill>
                <a:latin typeface="Calibri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502920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CFD6F5"/>
                </a:solidFill>
                <a:latin typeface="Calibri"/>
              </a:rPr>
              <a:t>Conclusiones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1440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>
                <a:solidFill>
                  <a:srgbClr val="CFD6F5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E3A8"/>
                </a:solidFill>
                <a:latin typeface="Calibri"/>
              </a:rPr>
              <a:t>Datos, EDA y PCA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Los datos: 50 creadores, 33 columnas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01. Datos, EDA y PCA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37360"/>
            <a:ext cx="2651760" cy="1463040"/>
          </a:xfrm>
          <a:prstGeom prst="roundRect">
            <a:avLst>
              <a:gd name="adj" fmla="val 10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2468879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E3A8"/>
                </a:solidFill>
                <a:latin typeface="Calibri"/>
              </a:rPr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42032"/>
            <a:ext cx="2377440" cy="61447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4E7F7"/>
                </a:solidFill>
                <a:latin typeface="Calibri"/>
              </a:rPr>
              <a:t>creadores de contenido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1737360"/>
            <a:ext cx="2651760" cy="1463040"/>
          </a:xfrm>
          <a:prstGeom prst="roundRect">
            <a:avLst>
              <a:gd name="adj" fmla="val 10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828800"/>
            <a:ext cx="2468879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E3A8"/>
                </a:solidFill>
                <a:latin typeface="Calibri"/>
              </a:rPr>
              <a:t>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542032"/>
            <a:ext cx="2377440" cy="61447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4E7F7"/>
                </a:solidFill>
                <a:latin typeface="Calibri"/>
              </a:rPr>
              <a:t>columnas, ninguna celda faltante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737360"/>
            <a:ext cx="2651760" cy="1463040"/>
          </a:xfrm>
          <a:prstGeom prst="roundRect">
            <a:avLst>
              <a:gd name="adj" fmla="val 10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2468879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E3A8"/>
                </a:solidFill>
                <a:latin typeface="Calibri"/>
              </a:rPr>
              <a:t>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542032"/>
            <a:ext cx="2377440" cy="61447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4E7F7"/>
                </a:solidFill>
                <a:latin typeface="Calibri"/>
              </a:rPr>
              <a:t>variables independientes seleccionadas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737360"/>
            <a:ext cx="2286000" cy="1463040"/>
          </a:xfrm>
          <a:prstGeom prst="roundRect">
            <a:avLst>
              <a:gd name="adj" fmla="val 10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182880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E3A8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542032"/>
            <a:ext cx="2011680" cy="61447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4E7F7"/>
                </a:solidFill>
                <a:latin typeface="Calibri"/>
              </a:rPr>
              <a:t>clientes de la agencia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474720"/>
            <a:ext cx="10820095" cy="2743200"/>
          </a:xfrm>
          <a:prstGeom prst="roundRect">
            <a:avLst>
              <a:gd name="adj" fmla="val 5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611879"/>
            <a:ext cx="10454335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1">
                <a:solidFill>
                  <a:srgbClr val="E4E7F7"/>
                </a:solidFill>
                <a:latin typeface="Calibri"/>
              </a:rPr>
              <a:t>Perfil comercial: </a:t>
            </a:r>
            <a:r>
              <a:rPr sz="1700" b="0">
                <a:solidFill>
                  <a:srgbClr val="E4E7F7"/>
                </a:solidFill>
                <a:latin typeface="Calibri"/>
              </a:rPr>
              <a:t>seguidores, alcance, precio, publicaciones patrocinadas.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1">
                <a:solidFill>
                  <a:srgbClr val="E4E7F7"/>
                </a:solidFill>
                <a:latin typeface="Calibri"/>
              </a:rPr>
              <a:t>Audiencia: </a:t>
            </a:r>
            <a:r>
              <a:rPr sz="1700" b="0">
                <a:solidFill>
                  <a:srgbClr val="E4E7F7"/>
                </a:solidFill>
                <a:latin typeface="Calibri"/>
              </a:rPr>
              <a:t>porcentaje argentino, alcance de no seguidores, interacción por mil cuentas.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1">
                <a:solidFill>
                  <a:srgbClr val="E4E7F7"/>
                </a:solidFill>
                <a:latin typeface="Calibri"/>
              </a:rPr>
              <a:t>Contenido: </a:t>
            </a:r>
            <a:r>
              <a:rPr sz="1700" b="0">
                <a:solidFill>
                  <a:srgbClr val="E4E7F7"/>
                </a:solidFill>
                <a:latin typeface="Calibri"/>
              </a:rPr>
              <a:t>tópico (fútbol, maquillaje, perros, arte), tipo (tutorial, reseña, entretenimiento) y formato.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1">
                <a:solidFill>
                  <a:srgbClr val="E4E7F7"/>
                </a:solidFill>
                <a:latin typeface="Calibri"/>
              </a:rPr>
              <a:t>Outliers: </a:t>
            </a:r>
            <a:r>
              <a:rPr sz="1700" b="0">
                <a:solidFill>
                  <a:srgbClr val="E4E7F7"/>
                </a:solidFill>
                <a:latin typeface="Calibri"/>
              </a:rPr>
              <a:t>33 celdas atípicas en 25 creadores (sobre todo especialistas en arte o maquillaje). Se reportan y se conservan: no son errores.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1">
                <a:solidFill>
                  <a:srgbClr val="E4E7F7"/>
                </a:solidFill>
                <a:latin typeface="Calibri"/>
              </a:rPr>
              <a:t>Qué se descarta: </a:t>
            </a:r>
            <a:r>
              <a:rPr sz="1700" b="0">
                <a:solidFill>
                  <a:srgbClr val="E4E7F7"/>
                </a:solidFill>
                <a:latin typeface="Calibri"/>
              </a:rPr>
              <a:t>6 columnas que son combinaciones exactas de otras (precio en ARS, interacción total, alcance estimado, orgánico, arte y showcase). El arte no desaparece: se reconstruye como 100 menos los otros tres tópicos.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Selección de variables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01. Datos, EDA y PCA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25 variables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0">
                <a:solidFill>
                  <a:srgbClr val="E4E7F7"/>
                </a:solidFill>
                <a:latin typeface="Calibri"/>
              </a:rPr>
              <a:t>De 31 columnas numéricas se descartan 6 que son combinaciones exactas de otras.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0">
                <a:solidFill>
                  <a:srgbClr val="E4E7F7"/>
                </a:solidFill>
                <a:latin typeface="Calibri"/>
              </a:rPr>
              <a:t>El conjunto seleccionado tiene rango 25 de 25: ninguna combinación lineal exacta sobrevive.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0">
                <a:solidFill>
                  <a:srgbClr val="E4E7F7"/>
                </a:solidFill>
                <a:latin typeface="Calibri"/>
              </a:rPr>
              <a:t>Las escalas difieren unas 148 mil veces (followers vs comments_per_1000): hay que estandarizar.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69904" y="1645920"/>
            <a:ext cx="5120966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da__correlation_heatmap_sel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1344" y="1737360"/>
            <a:ext cx="4938086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PCA: varianza explicada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01. Datos, EDA y PCA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Scree plot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1">
                <a:solidFill>
                  <a:srgbClr val="E4E7F7"/>
                </a:solidFill>
                <a:latin typeface="Calibri"/>
              </a:rPr>
              <a:t>PC1: </a:t>
            </a:r>
            <a:r>
              <a:rPr sz="1700" b="0">
                <a:solidFill>
                  <a:srgbClr val="E4E7F7"/>
                </a:solidFill>
                <a:latin typeface="Calibri"/>
              </a:rPr>
              <a:t>53,2% de la varianza.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1">
                <a:solidFill>
                  <a:srgbClr val="E4E7F7"/>
                </a:solidFill>
                <a:latin typeface="Calibri"/>
              </a:rPr>
              <a:t>PC1 + PC2: </a:t>
            </a:r>
            <a:r>
              <a:rPr sz="1700" b="0">
                <a:solidFill>
                  <a:srgbClr val="E4E7F7"/>
                </a:solidFill>
                <a:latin typeface="Calibri"/>
              </a:rPr>
              <a:t>61,1%.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0">
                <a:solidFill>
                  <a:srgbClr val="E4E7F7"/>
                </a:solidFill>
                <a:latin typeface="Calibri"/>
              </a:rPr>
              <a:t>Una componente concentra más de la mitad, pero con dos no alcanza para representar a los creadores.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83480" y="2021209"/>
            <a:ext cx="6293815" cy="38214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ca__sc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112649"/>
            <a:ext cx="6110935" cy="36385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Interpretación de PC1 y PC2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01. Datos, EDA y PCA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66654" y="1645920"/>
            <a:ext cx="5560707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ca__bi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8094" y="1737360"/>
            <a:ext cx="5377827" cy="4389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482535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5415" y="182880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E3A8"/>
                </a:solidFill>
                <a:latin typeface="Calibri"/>
              </a:rPr>
              <a:t>Biplot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E3A8"/>
                </a:solidFill>
                <a:latin typeface="Calibri"/>
              </a:rPr>
              <a:t>•  </a:t>
            </a:r>
            <a:r>
              <a:rPr sz="1600" b="1">
                <a:solidFill>
                  <a:srgbClr val="E4E7F7"/>
                </a:solidFill>
                <a:latin typeface="Calibri"/>
              </a:rPr>
              <a:t>PC1: </a:t>
            </a:r>
            <a:r>
              <a:rPr sz="1600" b="0">
                <a:solidFill>
                  <a:srgbClr val="E4E7F7"/>
                </a:solidFill>
                <a:latin typeface="Calibri"/>
              </a:rPr>
              <a:t>de audiencia grande y video corto de tendencia a audiencia chica, epígrafes largos y contenido didáctico.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E3A8"/>
                </a:solidFill>
                <a:latin typeface="Calibri"/>
              </a:rPr>
              <a:t>•  </a:t>
            </a:r>
            <a:r>
              <a:rPr sz="1600" b="1">
                <a:solidFill>
                  <a:srgbClr val="E4E7F7"/>
                </a:solidFill>
                <a:latin typeface="Calibri"/>
              </a:rPr>
              <a:t>PC2: </a:t>
            </a:r>
            <a:r>
              <a:rPr sz="1600" b="0">
                <a:solidFill>
                  <a:srgbClr val="E4E7F7"/>
                </a:solidFill>
                <a:latin typeface="Calibri"/>
              </a:rPr>
              <a:t>mezcla audiencia argentina y tópico.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E3A8"/>
                </a:solidFill>
                <a:latin typeface="Calibri"/>
              </a:rPr>
              <a:t>•  </a:t>
            </a:r>
            <a:r>
              <a:rPr sz="1600" b="0">
                <a:solidFill>
                  <a:srgbClr val="E4E7F7"/>
                </a:solidFill>
                <a:latin typeface="Calibri"/>
              </a:rPr>
              <a:t>PC1 separa tamaño y estilo, no tópicos.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¿Estandarizar? ¿Reducir dimensión?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01. Datos, EDA y PCA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06240" cy="4480560"/>
          </a:xfrm>
          <a:prstGeom prst="roundRect">
            <a:avLst>
              <a:gd name="adj" fmla="val 5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840479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Entrada de Kohonen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0">
                <a:solidFill>
                  <a:srgbClr val="E4E7F7"/>
                </a:solidFill>
                <a:latin typeface="Calibri"/>
              </a:rPr>
              <a:t>Sin estandarizar, la PCA solo mide la escala de cada variable.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0">
                <a:solidFill>
                  <a:srgbClr val="E4E7F7"/>
                </a:solidFill>
                <a:latin typeface="Calibri"/>
              </a:rPr>
              <a:t>Con dos componentes se explica apenas 61,1% de la varianza.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1">
                <a:solidFill>
                  <a:srgbClr val="E4E7F7"/>
                </a:solidFill>
                <a:latin typeface="Calibri"/>
              </a:rPr>
              <a:t>Decisión: </a:t>
            </a:r>
            <a:r>
              <a:rPr sz="1700" b="0">
                <a:solidFill>
                  <a:srgbClr val="E4E7F7"/>
                </a:solidFill>
                <a:latin typeface="Calibri"/>
              </a:rPr>
              <a:t>Kohonen se entrena con las 25 variables estandarizadas, no con componentes principales.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2075654"/>
            <a:ext cx="6110935" cy="371253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ca_scaling_sweep__standardize-false__sc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167094"/>
            <a:ext cx="5928055" cy="352965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1440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>
                <a:solidFill>
                  <a:srgbClr val="CFD6F5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E3A8"/>
                </a:solidFill>
                <a:latin typeface="Calibri"/>
              </a:rPr>
              <a:t>Red de Kohonen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Configuración elegida por regla, no a mano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77081"/>
            <a:ext cx="5577840" cy="4509677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om_sweep__sweep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68521"/>
            <a:ext cx="5394959" cy="432679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583680" y="1691640"/>
            <a:ext cx="2468880" cy="1371600"/>
          </a:xfrm>
          <a:prstGeom prst="roundRect">
            <a:avLst>
              <a:gd name="adj" fmla="val 10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783080"/>
            <a:ext cx="2286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E3A8"/>
                </a:solidFill>
                <a:latin typeface="Calibri"/>
              </a:rPr>
              <a:t>2,1214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446020"/>
            <a:ext cx="2194560" cy="5760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4E7F7"/>
                </a:solidFill>
                <a:latin typeface="Calibri"/>
              </a:rPr>
              <a:t>error de cuantización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1691640"/>
            <a:ext cx="2286000" cy="1371600"/>
          </a:xfrm>
          <a:prstGeom prst="roundRect">
            <a:avLst>
              <a:gd name="adj" fmla="val 10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783080"/>
            <a:ext cx="2103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E3A8"/>
                </a:solidFill>
                <a:latin typeface="Calibri"/>
              </a:rPr>
              <a:t>0,0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2446020"/>
            <a:ext cx="2011680" cy="5760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4E7F7"/>
                </a:solidFill>
                <a:latin typeface="Calibri"/>
              </a:rPr>
              <a:t>error topográfico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3246120"/>
            <a:ext cx="4937760" cy="2971800"/>
          </a:xfrm>
          <a:prstGeom prst="roundRect">
            <a:avLst>
              <a:gd name="adj" fmla="val 5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3383279"/>
            <a:ext cx="4572000" cy="2697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E3A8"/>
                </a:solidFill>
                <a:latin typeface="Calibri"/>
              </a:rPr>
              <a:t>•  </a:t>
            </a:r>
            <a:r>
              <a:rPr sz="1500" b="0">
                <a:solidFill>
                  <a:srgbClr val="E4E7F7"/>
                </a:solidFill>
                <a:latin typeface="Calibri"/>
              </a:rPr>
              <a:t>Mapa hexagonal de 64 neuronas con vecindad escalón; una regla fija se aplica sobre dos barridos de hiperparámetros.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E3A8"/>
                </a:solidFill>
                <a:latin typeface="Calibri"/>
              </a:rPr>
              <a:t>•  </a:t>
            </a:r>
            <a:r>
              <a:rPr sz="1500" b="0">
                <a:solidFill>
                  <a:srgbClr val="E4E7F7"/>
                </a:solidFill>
                <a:latin typeface="Calibri"/>
              </a:rPr>
              <a:t>Cuidado: queda en el borde del umbral de neuronas vacías; con otro umbral la regla podría elegir otro mapa.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Entrenamiento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3840480" cy="4480560"/>
          </a:xfrm>
          <a:prstGeom prst="roundRect">
            <a:avLst>
              <a:gd name="adj" fmla="val 5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47472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Curvas de entrenamiento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1">
                <a:solidFill>
                  <a:srgbClr val="E4E7F7"/>
                </a:solidFill>
                <a:latin typeface="Calibri"/>
              </a:rPr>
              <a:t>QE: </a:t>
            </a:r>
            <a:r>
              <a:rPr sz="1700" b="0">
                <a:solidFill>
                  <a:srgbClr val="E4E7F7"/>
                </a:solidFill>
                <a:latin typeface="Calibri"/>
              </a:rPr>
              <a:t>baja de 3,90 en la época 1 a 2,12 y se estabiliza en las últimas 100 épocas.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1">
                <a:solidFill>
                  <a:srgbClr val="E4E7F7"/>
                </a:solidFill>
                <a:latin typeface="Calibri"/>
              </a:rPr>
              <a:t>Error topográfico: </a:t>
            </a:r>
            <a:r>
              <a:rPr sz="1700" b="0">
                <a:solidFill>
                  <a:srgbClr val="E4E7F7"/>
                </a:solidFill>
                <a:latin typeface="Calibri"/>
              </a:rPr>
              <a:t>llega a 0 y se queda ahí.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74920" y="1645919"/>
            <a:ext cx="5128054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om_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6360" y="1737359"/>
            <a:ext cx="4945174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Regiones del mapa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E3A8"/>
                </a:solidFill>
                <a:latin typeface="Calibri"/>
              </a:rPr>
              <a:t>3 regiones contiguas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E3A8"/>
                </a:solidFill>
                <a:latin typeface="Calibri"/>
              </a:rPr>
              <a:t>•  </a:t>
            </a:r>
            <a:r>
              <a:rPr sz="1600" b="1">
                <a:solidFill>
                  <a:srgbClr val="E4E7F7"/>
                </a:solidFill>
                <a:latin typeface="Calibri"/>
              </a:rPr>
              <a:t>Región 1 (21): </a:t>
            </a:r>
            <a:r>
              <a:rPr sz="1600" b="0">
                <a:solidFill>
                  <a:srgbClr val="E4E7F7"/>
                </a:solidFill>
                <a:latin typeface="Calibri"/>
              </a:rPr>
              <a:t>engagement profundo, audiencia chica.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E3A8"/>
                </a:solidFill>
                <a:latin typeface="Calibri"/>
              </a:rPr>
              <a:t>•  </a:t>
            </a:r>
            <a:r>
              <a:rPr sz="1600" b="1">
                <a:solidFill>
                  <a:srgbClr val="E4E7F7"/>
                </a:solidFill>
                <a:latin typeface="Calibri"/>
              </a:rPr>
              <a:t>Región 2 (18): </a:t>
            </a:r>
            <a:r>
              <a:rPr sz="1600" b="0">
                <a:solidFill>
                  <a:srgbClr val="E4E7F7"/>
                </a:solidFill>
                <a:latin typeface="Calibri"/>
              </a:rPr>
              <a:t>intermedio y mezclado.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E3A8"/>
                </a:solidFill>
                <a:latin typeface="Calibri"/>
              </a:rPr>
              <a:t>•  </a:t>
            </a:r>
            <a:r>
              <a:rPr sz="1600" b="1">
                <a:solidFill>
                  <a:srgbClr val="E4E7F7"/>
                </a:solidFill>
                <a:latin typeface="Calibri"/>
              </a:rPr>
              <a:t>Región 3 (11): </a:t>
            </a:r>
            <a:r>
              <a:rPr sz="1600" b="0">
                <a:solidFill>
                  <a:srgbClr val="E4E7F7"/>
                </a:solidFill>
                <a:latin typeface="Calibri"/>
              </a:rPr>
              <a:t>alcance masivo, video y entretenimiento.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E3A8"/>
                </a:solidFill>
                <a:latin typeface="Calibri"/>
              </a:rPr>
              <a:t>•  </a:t>
            </a:r>
            <a:r>
              <a:rPr sz="1600" b="0">
                <a:solidFill>
                  <a:srgbClr val="E4E7F7"/>
                </a:solidFill>
                <a:latin typeface="Calibri"/>
              </a:rPr>
              <a:t>La separación es real pero moderada: 32 de las 64 neuronas están vacías.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6173" y="1645920"/>
            <a:ext cx="6028428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om__reg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7613" y="1737360"/>
            <a:ext cx="5845548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Matriz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Lectura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1">
                <a:solidFill>
                  <a:srgbClr val="E4E7F7"/>
                </a:solidFill>
                <a:latin typeface="Calibri"/>
              </a:rPr>
              <a:t>Distancia alta entre vecinas: </a:t>
            </a:r>
            <a:r>
              <a:rPr sz="1700" b="0">
                <a:solidFill>
                  <a:srgbClr val="E4E7F7"/>
                </a:solidFill>
                <a:latin typeface="Calibri"/>
              </a:rPr>
              <a:t>frontera entre grupos.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1">
                <a:solidFill>
                  <a:srgbClr val="E4E7F7"/>
                </a:solidFill>
                <a:latin typeface="Calibri"/>
              </a:rPr>
              <a:t>Distancia baja: </a:t>
            </a:r>
            <a:r>
              <a:rPr sz="1700" b="0">
                <a:solidFill>
                  <a:srgbClr val="E4E7F7"/>
                </a:solidFill>
                <a:latin typeface="Calibri"/>
              </a:rPr>
              <a:t>zona homogénea de creadores parecidos.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0">
                <a:solidFill>
                  <a:srgbClr val="E4E7F7"/>
                </a:solidFill>
                <a:latin typeface="Calibri"/>
              </a:rPr>
              <a:t>Las fronteras de las regiones siguen las paredes más altas, pero no todas: la distancia a través de ellas es 1,57 veces la media interna.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01256" y="1645920"/>
            <a:ext cx="6058262" cy="457199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om__u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696" y="1737360"/>
            <a:ext cx="5875382" cy="438911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Perfil de cada región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799" y="1915037"/>
            <a:ext cx="10820095" cy="293648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om__region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2006477"/>
            <a:ext cx="10637215" cy="275360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" y="5276088"/>
            <a:ext cx="10820095" cy="987551"/>
          </a:xfrm>
          <a:prstGeom prst="roundRect">
            <a:avLst>
              <a:gd name="adj" fmla="val 12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76088"/>
            <a:ext cx="10454335" cy="987551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E4E7F7"/>
                </a:solidFill>
                <a:latin typeface="Calibri"/>
              </a:rPr>
              <a:t>Media estandarizada de cada variable por región: la región 3 concentra alcance y video; la región 1, engagement profundo y audiencia chica.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Planos de componentes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08334" y="1645920"/>
            <a:ext cx="4860225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om__component_pla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9774" y="1737360"/>
            <a:ext cx="4677345" cy="4389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665415" y="1691640"/>
            <a:ext cx="3840480" cy="4480560"/>
          </a:xfrm>
          <a:prstGeom prst="roundRect">
            <a:avLst>
              <a:gd name="adj" fmla="val 5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48295" y="1828800"/>
            <a:ext cx="347472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Una variable por plano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0">
                <a:solidFill>
                  <a:srgbClr val="E4E7F7"/>
                </a:solidFill>
                <a:latin typeface="Calibri"/>
              </a:rPr>
              <a:t>Las variables de un bloque casi colineal dibujan el mismo plano.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0">
                <a:solidFill>
                  <a:srgbClr val="E4E7F7"/>
                </a:solidFill>
                <a:latin typeface="Calibri"/>
              </a:rPr>
              <a:t>Lo que ordena el mapa es el eje alcance y video contra engagement profundo: el mismo PC1 de 1.1.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¿Coinciden las regiones con PC1 y PC2?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Sí, con PC1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1">
                <a:solidFill>
                  <a:srgbClr val="E4E7F7"/>
                </a:solidFill>
                <a:latin typeface="Calibri"/>
              </a:rPr>
              <a:t>PC1: </a:t>
            </a:r>
            <a:r>
              <a:rPr sz="1700" b="0">
                <a:solidFill>
                  <a:srgbClr val="E4E7F7"/>
                </a:solidFill>
                <a:latin typeface="Calibri"/>
              </a:rPr>
              <a:t>explica 0,8314 de la diferencia entre regiones.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1">
                <a:solidFill>
                  <a:srgbClr val="E4E7F7"/>
                </a:solidFill>
                <a:latin typeface="Calibri"/>
              </a:rPr>
              <a:t>PC2: </a:t>
            </a:r>
            <a:r>
              <a:rPr sz="1700" b="0">
                <a:solidFill>
                  <a:srgbClr val="E4E7F7"/>
                </a:solidFill>
                <a:latin typeface="Calibri"/>
              </a:rPr>
              <a:t>solo 0,2066.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0">
                <a:solidFill>
                  <a:srgbClr val="E4E7F7"/>
                </a:solidFill>
                <a:latin typeface="Calibri"/>
              </a:rPr>
              <a:t>Las regiones siguen el eje de tamaño y estilo, y casi nada el de tópico.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72828" y="1645920"/>
            <a:ext cx="5915118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om__biplot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268" y="1737360"/>
            <a:ext cx="5732238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Mapa de control sobre componentes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51547" y="1600200"/>
            <a:ext cx="7488599" cy="3840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om_pca_control__control_region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987" y="1691640"/>
            <a:ext cx="7305719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" y="5550408"/>
            <a:ext cx="10820095" cy="713231"/>
          </a:xfrm>
          <a:prstGeom prst="roundRect">
            <a:avLst>
              <a:gd name="adj" fmla="val 12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50408"/>
            <a:ext cx="10454335" cy="713231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E4E7F7"/>
                </a:solidFill>
                <a:latin typeface="Calibri"/>
              </a:rPr>
              <a:t>Entrenando con 6 componentes principales (83,0% de la varianza) en vez de las variables se obtienen casi las mismas regiones (ARI = 0,748; 44 de 50 creadores quedan en la misma región): la conclusión de 1.1 no cambia.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1440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>
                <a:solidFill>
                  <a:srgbClr val="CFD6F5"/>
                </a:solidFill>
                <a:latin typeface="Calibr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E3A8"/>
                </a:solidFill>
                <a:latin typeface="Calibri"/>
              </a:rPr>
              <a:t>Regla de Oja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Oja converge al mismo eje que PC1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03. Regla de Oja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06240" cy="4480560"/>
          </a:xfrm>
          <a:prstGeom prst="roundRect">
            <a:avLst>
              <a:gd name="adj" fmla="val 5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840479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E3A8"/>
                </a:solidFill>
                <a:latin typeface="Calibri"/>
              </a:rPr>
              <a:t>Pesos de Oja vs carga de PC1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E3A8"/>
                </a:solidFill>
                <a:latin typeface="Calibri"/>
              </a:rPr>
              <a:t>•  </a:t>
            </a:r>
            <a:r>
              <a:rPr sz="1600" b="1">
                <a:solidFill>
                  <a:srgbClr val="E4E7F7"/>
                </a:solidFill>
                <a:latin typeface="Calibri"/>
              </a:rPr>
              <a:t>Coseno con PC1: </a:t>
            </a:r>
            <a:r>
              <a:rPr sz="1600" b="0">
                <a:solidFill>
                  <a:srgbClr val="E4E7F7"/>
                </a:solidFill>
                <a:latin typeface="Calibri"/>
              </a:rPr>
              <a:t>0,999993.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E3A8"/>
                </a:solidFill>
                <a:latin typeface="Calibri"/>
              </a:rPr>
              <a:t>•  </a:t>
            </a:r>
            <a:r>
              <a:rPr sz="1600" b="1">
                <a:solidFill>
                  <a:srgbClr val="E4E7F7"/>
                </a:solidFill>
                <a:latin typeface="Calibri"/>
              </a:rPr>
              <a:t>Correlación del índice con PC1: </a:t>
            </a:r>
            <a:r>
              <a:rPr sz="1600" b="0">
                <a:solidFill>
                  <a:srgbClr val="E4E7F7"/>
                </a:solidFill>
                <a:latin typeface="Calibri"/>
              </a:rPr>
              <a:t>0,999999.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E3A8"/>
                </a:solidFill>
                <a:latin typeface="Calibri"/>
              </a:rPr>
              <a:t>•  </a:t>
            </a:r>
            <a:r>
              <a:rPr sz="1600" b="0">
                <a:solidFill>
                  <a:srgbClr val="E4E7F7"/>
                </a:solidFill>
                <a:latin typeface="Calibri"/>
              </a:rPr>
              <a:t>La tasa η0 = 0,0005 salió de una regla registrada que no mira PC1.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6170" y="1645920"/>
            <a:ext cx="4131313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ja__weights_vs_p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7610" y="1737360"/>
            <a:ext cx="3948433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¿Qué mide el índice?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03. Regla de Oja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23992" y="1645920"/>
            <a:ext cx="5463149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oja__scores_vs_p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432" y="1737360"/>
            <a:ext cx="5280269" cy="4389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99655" y="1691640"/>
            <a:ext cx="4206240" cy="4480560"/>
          </a:xfrm>
          <a:prstGeom prst="roundRect">
            <a:avLst>
              <a:gd name="adj" fmla="val 5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82535" y="1828800"/>
            <a:ext cx="3840479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E3A8"/>
                </a:solidFill>
                <a:latin typeface="Calibri"/>
              </a:rPr>
              <a:t>Índice vs puntaje de PC1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E3A8"/>
                </a:solidFill>
                <a:latin typeface="Calibri"/>
              </a:rPr>
              <a:t>•  </a:t>
            </a:r>
            <a:r>
              <a:rPr sz="1600" b="0">
                <a:solidFill>
                  <a:srgbClr val="E4E7F7"/>
                </a:solidFill>
                <a:latin typeface="Calibri"/>
              </a:rPr>
              <a:t>Mide tamaño y estilo (el eje de PC1), no calidad ni encaje con un cliente.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E3A8"/>
                </a:solidFill>
                <a:latin typeface="Calibri"/>
              </a:rPr>
              <a:t>•  </a:t>
            </a:r>
            <a:r>
              <a:rPr sz="1600" b="1">
                <a:solidFill>
                  <a:srgbClr val="E4E7F7"/>
                </a:solidFill>
                <a:latin typeface="Calibri"/>
              </a:rPr>
              <a:t>El primero del ranking, @mundoanimal.ar, </a:t>
            </a:r>
            <a:r>
              <a:rPr sz="1600" b="0">
                <a:solidFill>
                  <a:srgbClr val="E4E7F7"/>
                </a:solidFill>
                <a:latin typeface="Calibri"/>
              </a:rPr>
              <a:t>no lo eligió ningún cliente.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E3A8"/>
                </a:solidFill>
                <a:latin typeface="Calibri"/>
              </a:rPr>
              <a:t>•  </a:t>
            </a:r>
            <a:r>
              <a:rPr sz="1600" b="1">
                <a:solidFill>
                  <a:srgbClr val="E4E7F7"/>
                </a:solidFill>
                <a:latin typeface="Calibri"/>
              </a:rPr>
              <a:t>Elegir al de mayor índice para cualquier campaña no es correcto.</a:t>
            </a:r>
            <a:r>
              <a:rPr sz="1600" b="0">
                <a:solidFill>
                  <a:srgbClr val="E4E7F7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1440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>
                <a:solidFill>
                  <a:srgbClr val="CFD6F5"/>
                </a:solidFill>
                <a:latin typeface="Calibr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E3A8"/>
                </a:solidFill>
                <a:latin typeface="Calibri"/>
              </a:rPr>
              <a:t>Decisión para las campañas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Cada cliente, su regla transparente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04. Decisión para las campañas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737360"/>
          <a:ext cx="108173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2834640"/>
                <a:gridCol w="3044952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FFE3A8"/>
                          </a:solidFill>
                          <a:latin typeface="Calibri"/>
                        </a:rPr>
                        <a:t>Cliente</a:t>
                      </a:r>
                    </a:p>
                  </a:txBody>
                  <a:tcPr anchor="ctr">
                    <a:solidFill>
                      <a:srgbClr val="3A3C5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E3A8"/>
                          </a:solidFill>
                          <a:latin typeface="Calibri"/>
                        </a:rPr>
                        <a:t>Creador 1</a:t>
                      </a:r>
                    </a:p>
                  </a:txBody>
                  <a:tcPr anchor="ctr">
                    <a:solidFill>
                      <a:srgbClr val="3A3C5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E3A8"/>
                          </a:solidFill>
                          <a:latin typeface="Calibri"/>
                        </a:rPr>
                        <a:t>Creador 2</a:t>
                      </a:r>
                    </a:p>
                  </a:txBody>
                  <a:tcPr anchor="ctr">
                    <a:solidFill>
                      <a:srgbClr val="3A3C5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E3A8"/>
                          </a:solidFill>
                          <a:latin typeface="Calibri"/>
                        </a:rPr>
                        <a:t>Creador 3</a:t>
                      </a:r>
                    </a:p>
                  </a:txBody>
                  <a:tcPr anchor="ctr">
                    <a:solidFill>
                      <a:srgbClr val="3A3C5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E4E7F7"/>
                          </a:solidFill>
                          <a:latin typeface="Calibri"/>
                        </a:rPr>
                        <a:t>Refugios de perros</a:t>
                      </a:r>
                    </a:p>
                  </a:txBody>
                  <a:tcPr anchor="ctr">
                    <a:solidFill>
                      <a:srgbClr val="3032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E4E7F7"/>
                          </a:solidFill>
                          <a:latin typeface="Calibri"/>
                        </a:rPr>
                        <a:t>@ideasconhuella</a:t>
                      </a:r>
                    </a:p>
                  </a:txBody>
                  <a:tcPr anchor="ctr">
                    <a:solidFill>
                      <a:srgbClr val="3032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E4E7F7"/>
                          </a:solidFill>
                          <a:latin typeface="Calibri"/>
                        </a:rPr>
                        <a:t>@huellasyconsejos</a:t>
                      </a:r>
                    </a:p>
                  </a:txBody>
                  <a:tcPr anchor="ctr">
                    <a:solidFill>
                      <a:srgbClr val="3032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E4E7F7"/>
                          </a:solidFill>
                          <a:latin typeface="Calibri"/>
                        </a:rPr>
                        <a:t>@consejoscaninos</a:t>
                      </a:r>
                    </a:p>
                  </a:txBody>
                  <a:tcPr anchor="ctr">
                    <a:solidFill>
                      <a:srgbClr val="30324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E4E7F7"/>
                          </a:solidFill>
                          <a:latin typeface="Calibri"/>
                        </a:rPr>
                        <a:t>Ropa de fútbol</a:t>
                      </a:r>
                    </a:p>
                  </a:txBody>
                  <a:tcPr anchor="ctr">
                    <a:solidFill>
                      <a:srgbClr val="3032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E4E7F7"/>
                          </a:solidFill>
                          <a:latin typeface="Calibri"/>
                        </a:rPr>
                        <a:t>@futbolcononda</a:t>
                      </a:r>
                    </a:p>
                  </a:txBody>
                  <a:tcPr anchor="ctr">
                    <a:solidFill>
                      <a:srgbClr val="3032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E4E7F7"/>
                          </a:solidFill>
                          <a:latin typeface="Calibri"/>
                        </a:rPr>
                        <a:t>@golconmate</a:t>
                      </a:r>
                    </a:p>
                  </a:txBody>
                  <a:tcPr anchor="ctr">
                    <a:solidFill>
                      <a:srgbClr val="3032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E4E7F7"/>
                          </a:solidFill>
                          <a:latin typeface="Calibri"/>
                        </a:rPr>
                        <a:t>@lookdecancha</a:t>
                      </a:r>
                    </a:p>
                  </a:txBody>
                  <a:tcPr anchor="ctr">
                    <a:solidFill>
                      <a:srgbClr val="30324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E4E7F7"/>
                          </a:solidFill>
                          <a:latin typeface="Calibri"/>
                        </a:rPr>
                        <a:t>Maquillaje</a:t>
                      </a:r>
                    </a:p>
                  </a:txBody>
                  <a:tcPr anchor="ctr">
                    <a:solidFill>
                      <a:srgbClr val="3032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E4E7F7"/>
                          </a:solidFill>
                          <a:latin typeface="Calibri"/>
                        </a:rPr>
                        <a:t>@reelargentino</a:t>
                      </a:r>
                    </a:p>
                  </a:txBody>
                  <a:tcPr anchor="ctr">
                    <a:solidFill>
                      <a:srgbClr val="3032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E4E7F7"/>
                          </a:solidFill>
                          <a:latin typeface="Calibri"/>
                        </a:rPr>
                        <a:t>@brochasymates</a:t>
                      </a:r>
                    </a:p>
                  </a:txBody>
                  <a:tcPr anchor="ctr">
                    <a:solidFill>
                      <a:srgbClr val="3032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E4E7F7"/>
                          </a:solidFill>
                          <a:latin typeface="Calibri"/>
                        </a:rPr>
                        <a:t>@maquillajereal</a:t>
                      </a:r>
                    </a:p>
                  </a:txBody>
                  <a:tcPr anchor="ctr">
                    <a:solidFill>
                      <a:srgbClr val="30324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E4E7F7"/>
                          </a:solidFill>
                          <a:latin typeface="Calibri"/>
                        </a:rPr>
                        <a:t>Materiales de arte</a:t>
                      </a:r>
                    </a:p>
                  </a:txBody>
                  <a:tcPr anchor="ctr">
                    <a:solidFill>
                      <a:srgbClr val="3032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E4E7F7"/>
                          </a:solidFill>
                          <a:latin typeface="Calibri"/>
                        </a:rPr>
                        <a:t>@colorenmovimiento</a:t>
                      </a:r>
                    </a:p>
                  </a:txBody>
                  <a:tcPr anchor="ctr">
                    <a:solidFill>
                      <a:srgbClr val="3032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E4E7F7"/>
                          </a:solidFill>
                          <a:latin typeface="Calibri"/>
                        </a:rPr>
                        <a:t>@galeriacotidiana</a:t>
                      </a:r>
                    </a:p>
                  </a:txBody>
                  <a:tcPr anchor="ctr">
                    <a:solidFill>
                      <a:srgbClr val="3032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E4E7F7"/>
                          </a:solidFill>
                          <a:latin typeface="Calibri"/>
                        </a:rPr>
                        <a:t>@rinconcreativo</a:t>
                      </a:r>
                    </a:p>
                  </a:txBody>
                  <a:tcPr anchor="ctr">
                    <a:solidFill>
                      <a:srgbClr val="303243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85800" y="4754880"/>
            <a:ext cx="10820095" cy="1463040"/>
          </a:xfrm>
          <a:prstGeom prst="roundRect">
            <a:avLst>
              <a:gd name="adj" fmla="val 5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892040"/>
            <a:ext cx="10454335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E3A8"/>
                </a:solidFill>
                <a:latin typeface="Calibri"/>
              </a:rPr>
              <a:t>•  </a:t>
            </a:r>
            <a:r>
              <a:rPr sz="1600" b="0">
                <a:solidFill>
                  <a:srgbClr val="E4E7F7"/>
                </a:solidFill>
                <a:latin typeface="Calibri"/>
              </a:rPr>
              <a:t>Filtro por tópico y puntaje ponderado propio de cada cliente.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E3A8"/>
                </a:solidFill>
                <a:latin typeface="Calibri"/>
              </a:rPr>
              <a:t>•  </a:t>
            </a:r>
            <a:r>
              <a:rPr sz="1600" b="0">
                <a:solidFill>
                  <a:srgbClr val="E4E7F7"/>
                </a:solidFill>
                <a:latin typeface="Calibri"/>
              </a:rPr>
              <a:t>Fútbol: los elegidos encarnan descubrimiento con alcance masivo, no profundidad educativa.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Regla vs. elegir solo por seguidores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04. Decisión para las campañas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572000" cy="4480560"/>
          </a:xfrm>
          <a:prstGeom prst="roundRect">
            <a:avLst>
              <a:gd name="adj" fmla="val 5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420624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FFE3A8"/>
                </a:solidFill>
                <a:latin typeface="Calibri"/>
              </a:rPr>
              <a:t>La regla gana en los 4 clientes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E3A8"/>
                </a:solidFill>
                <a:latin typeface="Calibri"/>
              </a:rPr>
              <a:t>•  </a:t>
            </a:r>
            <a:r>
              <a:rPr sz="1500" b="1">
                <a:solidFill>
                  <a:srgbClr val="E4E7F7"/>
                </a:solidFill>
                <a:latin typeface="Calibri"/>
              </a:rPr>
              <a:t>Audiencia argentina: </a:t>
            </a:r>
            <a:r>
              <a:rPr sz="1500" b="0">
                <a:solidFill>
                  <a:srgbClr val="E4E7F7"/>
                </a:solidFill>
                <a:latin typeface="Calibri"/>
              </a:rPr>
              <a:t>88,06% perros, 81,53% fútbol, 78,98% maquillaje y 68,94% arte, contra 63,48% de los más seguidos.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E3A8"/>
                </a:solidFill>
                <a:latin typeface="Calibri"/>
              </a:rPr>
              <a:t>•  </a:t>
            </a:r>
            <a:r>
              <a:rPr sz="1500" b="1">
                <a:solidFill>
                  <a:srgbClr val="E4E7F7"/>
                </a:solidFill>
                <a:latin typeface="Calibri"/>
              </a:rPr>
              <a:t>USD por mil de alcance argentino: </a:t>
            </a:r>
            <a:r>
              <a:rPr sz="1500" b="0">
                <a:solidFill>
                  <a:srgbClr val="E4E7F7"/>
                </a:solidFill>
                <a:latin typeface="Calibri"/>
              </a:rPr>
              <a:t>19,91 fútbol, 19,96 maquillaje y 27,01 arte, contra 32,94.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E3A8"/>
                </a:solidFill>
                <a:latin typeface="Calibri"/>
              </a:rPr>
              <a:t>•  </a:t>
            </a:r>
            <a:r>
              <a:rPr sz="1500" b="0">
                <a:solidFill>
                  <a:srgbClr val="E4E7F7"/>
                </a:solidFill>
                <a:latin typeface="Calibri"/>
              </a:rPr>
              <a:t>Límites: llega a menos gente en total y son proxies (no hay datos de ventas).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10379" y="1645920"/>
            <a:ext cx="4988655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ampaigns_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1819" y="1737360"/>
            <a:ext cx="4805775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1440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>
                <a:solidFill>
                  <a:srgbClr val="CFD6F5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E3A8"/>
                </a:solidFill>
                <a:latin typeface="Calibri"/>
              </a:rPr>
              <a:t>Memoria asociativa: Hopfield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Red de Hopfield escrita a mano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05. Hopfield · letras 5×5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06240" cy="4480560"/>
          </a:xfrm>
          <a:prstGeom prst="roundRect">
            <a:avLst>
              <a:gd name="adj" fmla="val 5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840479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Numpy, sin librerías de redes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0">
                <a:solidFill>
                  <a:srgbClr val="E4E7F7"/>
                </a:solidFill>
                <a:latin typeface="Calibri"/>
              </a:rPr>
              <a:t>Pesos de Hebb con diagonal cero, energía y actualización asincrónica o sincrónica.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1">
                <a:solidFill>
                  <a:srgbClr val="E4E7F7"/>
                </a:solidFill>
                <a:latin typeface="Calibri"/>
              </a:rPr>
              <a:t>La energía no sube en ninguna actualización.</a:t>
            </a:r>
            <a:r>
              <a:rPr sz="1700" b="0">
                <a:solidFill>
                  <a:srgbClr val="E4E7F7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0">
                <a:solidFill>
                  <a:srgbClr val="E4E7F7"/>
                </a:solidFill>
                <a:latin typeface="Calibri"/>
              </a:rPr>
              <a:t>Es la misma red para las letras y para los códigos QR.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2233299"/>
            <a:ext cx="6110935" cy="339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opfield_letters__ener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324739"/>
            <a:ext cx="5928055" cy="32143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Ortogonalidad: qué 4 letras guardar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05. Hopfield · letras 5×5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E3A8"/>
                </a:solidFill>
                <a:latin typeface="Calibri"/>
              </a:rPr>
              <a:t>Las más ortogonales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E3A8"/>
                </a:solidFill>
                <a:latin typeface="Calibri"/>
              </a:rPr>
              <a:t>•  </a:t>
            </a:r>
            <a:r>
              <a:rPr sz="1600" b="1">
                <a:solidFill>
                  <a:srgbClr val="E4E7F7"/>
                </a:solidFill>
                <a:latin typeface="Calibri"/>
              </a:rPr>
              <a:t>G, R, T y V: </a:t>
            </a:r>
            <a:r>
              <a:rPr sz="1600" b="0">
                <a:solidFill>
                  <a:srgbClr val="E4E7F7"/>
                </a:solidFill>
                <a:latin typeface="Calibri"/>
              </a:rPr>
              <a:t>producto interno máximo 1 en valor absoluto.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E3A8"/>
                </a:solidFill>
                <a:latin typeface="Calibri"/>
              </a:rPr>
              <a:t>•  </a:t>
            </a:r>
            <a:r>
              <a:rPr sz="1600" b="1">
                <a:solidFill>
                  <a:srgbClr val="E4E7F7"/>
                </a:solidFill>
                <a:latin typeface="Calibri"/>
              </a:rPr>
              <a:t>Peor conjunto: </a:t>
            </a:r>
            <a:r>
              <a:rPr sz="1600" b="0">
                <a:solidFill>
                  <a:srgbClr val="E4E7F7"/>
                </a:solidFill>
                <a:latin typeface="Calibri"/>
              </a:rPr>
              <a:t>21.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E3A8"/>
                </a:solidFill>
                <a:latin typeface="Calibri"/>
              </a:rPr>
              <a:t>•  </a:t>
            </a:r>
            <a:r>
              <a:rPr sz="1600" b="0">
                <a:solidFill>
                  <a:srgbClr val="E4E7F7"/>
                </a:solidFill>
                <a:latin typeface="Calibri"/>
              </a:rPr>
              <a:t>En el peor conjunto la red ya cambia píxeles de letras guardadas exactas.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83480" y="1923208"/>
            <a:ext cx="6293815" cy="401742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opfield_letters__alphab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014648"/>
            <a:ext cx="6110935" cy="383454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Capacidad de almacenamiento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05. Hopfield · letras 5×5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06240" cy="4480560"/>
          </a:xfrm>
          <a:prstGeom prst="roundRect">
            <a:avLst>
              <a:gd name="adj" fmla="val 5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840479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E3A8"/>
                </a:solidFill>
                <a:latin typeface="Calibri"/>
              </a:rPr>
              <a:t>Más allá de la cota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E3A8"/>
                </a:solidFill>
                <a:latin typeface="Calibri"/>
              </a:rPr>
              <a:t>•  </a:t>
            </a:r>
            <a:r>
              <a:rPr sz="1600" b="1">
                <a:solidFill>
                  <a:srgbClr val="E4E7F7"/>
                </a:solidFill>
                <a:latin typeface="Calibri"/>
              </a:rPr>
              <a:t>Cota teórica de Hebb: </a:t>
            </a:r>
            <a:r>
              <a:rPr sz="1600" b="0">
                <a:solidFill>
                  <a:srgbClr val="E4E7F7"/>
                </a:solidFill>
                <a:latin typeface="Calibri"/>
              </a:rPr>
              <a:t>3,45 patrones.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E3A8"/>
                </a:solidFill>
                <a:latin typeface="Calibri"/>
              </a:rPr>
              <a:t>•  </a:t>
            </a:r>
            <a:r>
              <a:rPr sz="1600" b="0">
                <a:solidFill>
                  <a:srgbClr val="E4E7F7"/>
                </a:solidFill>
                <a:latin typeface="Calibri"/>
              </a:rPr>
              <a:t>Guardamos cuatro, por encima de la cota: funciona solo porque son casi ortogonales.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E3A8"/>
                </a:solidFill>
                <a:latin typeface="Calibri"/>
              </a:rPr>
              <a:t>•  </a:t>
            </a:r>
            <a:r>
              <a:rPr sz="1600" b="0">
                <a:solidFill>
                  <a:srgbClr val="E4E7F7"/>
                </a:solidFill>
                <a:latin typeface="Calibri"/>
              </a:rPr>
              <a:t>Cuántas letras caben depende de cuán correlacionadas estén, no solo de cuántas sean.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2045596"/>
            <a:ext cx="6110935" cy="377264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opfield_letters__capa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137036"/>
            <a:ext cx="5928055" cy="358976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Recuperación con ruido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05. Hopfield · letras 5×5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3657600" cy="4480560"/>
          </a:xfrm>
          <a:prstGeom prst="roundRect">
            <a:avLst>
              <a:gd name="adj" fmla="val 5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29184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Letras elegidas vs peor conjunto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1">
                <a:solidFill>
                  <a:srgbClr val="E4E7F7"/>
                </a:solidFill>
                <a:latin typeface="Calibri"/>
              </a:rPr>
              <a:t>Sin errores hasta ruido 0,12 </a:t>
            </a:r>
            <a:r>
              <a:rPr sz="1700" b="0">
                <a:solidFill>
                  <a:srgbClr val="E4E7F7"/>
                </a:solidFill>
                <a:latin typeface="Calibri"/>
              </a:rPr>
              <a:t>con el modo asincrónico, que siempre converge.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0">
                <a:solidFill>
                  <a:srgbClr val="E4E7F7"/>
                </a:solidFill>
                <a:latin typeface="Calibri"/>
              </a:rPr>
              <a:t>El conjunto peor queda muy por debajo.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2510320"/>
            <a:ext cx="6659575" cy="284319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opfield_letters__recovery_vs_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601760"/>
            <a:ext cx="6476695" cy="2660319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Un patrón muy ruidoso y un estado espúreo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05. Hopfield · letras 5×5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799" y="1702958"/>
            <a:ext cx="10820095" cy="253768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opfield_letters__spuri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1794398"/>
            <a:ext cx="10637215" cy="235480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" y="4453128"/>
            <a:ext cx="10820095" cy="1810511"/>
          </a:xfrm>
          <a:prstGeom prst="roundRect">
            <a:avLst>
              <a:gd name="adj" fmla="val 12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453128"/>
            <a:ext cx="10454335" cy="1810511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E4E7F7"/>
                </a:solidFill>
                <a:latin typeface="Calibri"/>
              </a:rPr>
              <a:t>Con ruido alto, 39,5% de las consultas termina en un estado espúreo: una mezcla de letras con signo. Las 16 mezclas de tres letras con signo son puntos fijos.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Los cinco QR se parecen demasiado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06240" cy="4480560"/>
          </a:xfrm>
          <a:prstGeom prst="roundRect">
            <a:avLst>
              <a:gd name="adj" fmla="val 5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840479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Matriz de superposiciones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1">
                <a:solidFill>
                  <a:srgbClr val="E4E7F7"/>
                </a:solidFill>
                <a:latin typeface="Calibri"/>
              </a:rPr>
              <a:t>Superposición media: </a:t>
            </a:r>
            <a:r>
              <a:rPr sz="1700" b="0">
                <a:solidFill>
                  <a:srgbClr val="E4E7F7"/>
                </a:solidFill>
                <a:latin typeface="Calibri"/>
              </a:rPr>
              <a:t>0,6701.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1">
                <a:solidFill>
                  <a:srgbClr val="E4E7F7"/>
                </a:solidFill>
                <a:latin typeface="Calibri"/>
              </a:rPr>
              <a:t>Módulos compartidos: </a:t>
            </a:r>
            <a:r>
              <a:rPr sz="1700" b="0">
                <a:solidFill>
                  <a:srgbClr val="E4E7F7"/>
                </a:solidFill>
                <a:latin typeface="Calibri"/>
              </a:rPr>
              <a:t>0,6976.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E3A8"/>
                </a:solidFill>
                <a:latin typeface="Calibri"/>
              </a:rPr>
              <a:t>•  </a:t>
            </a:r>
            <a:r>
              <a:rPr sz="1700" b="0">
                <a:solidFill>
                  <a:srgbClr val="E4E7F7"/>
                </a:solidFill>
                <a:latin typeface="Calibri"/>
              </a:rPr>
              <a:t>Son todo menos ortogonales: las letras elegidas estaban en el otro extremo.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09185" y="1645920"/>
            <a:ext cx="5425285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opfield_qr__overl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625" y="1737360"/>
            <a:ext cx="5242405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Hebb no recupera ningún código QR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51654" y="1600200"/>
            <a:ext cx="9688386" cy="3840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opfield_qr__hebb_attr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3094" y="1691640"/>
            <a:ext cx="9505506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" y="5550408"/>
            <a:ext cx="10820095" cy="713231"/>
          </a:xfrm>
          <a:prstGeom prst="roundRect">
            <a:avLst>
              <a:gd name="adj" fmla="val 12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50408"/>
            <a:ext cx="10454335" cy="713231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E4E7F7"/>
                </a:solidFill>
                <a:latin typeface="Calibri"/>
              </a:rPr>
              <a:t>Ninguno de los 5 códigos es un punto fijo, y 97,47% de las consultas termina en el mismo "QR promedio". Es la interferencia que las letras ortogonales evitaban.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Con pseudoinversa: la misma red, sin interferencia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799" y="1668382"/>
            <a:ext cx="10820095" cy="342979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opfield_qr__recovery_vs_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1759822"/>
            <a:ext cx="10637215" cy="324691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" y="5276088"/>
            <a:ext cx="10820095" cy="987551"/>
          </a:xfrm>
          <a:prstGeom prst="roundRect">
            <a:avLst>
              <a:gd name="adj" fmla="val 12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76088"/>
            <a:ext cx="10454335" cy="987551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E4E7F7"/>
                </a:solidFill>
                <a:latin typeface="Calibri"/>
              </a:rPr>
              <a:t>Los 5 códigos pasan a ser puntos fijos y se recupera todo hasta 0,35 de ruido. No es la regla del curso: prueba que lo que rompe a Hebb es la correlación, no la cantidad de patrones.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Iteraciones y energía en cada paso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E3A8"/>
                </a:solidFill>
                <a:latin typeface="Calibri"/>
              </a:rPr>
              <a:t>Convergencia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E3A8"/>
                </a:solidFill>
                <a:latin typeface="Calibri"/>
              </a:rPr>
              <a:t>•  </a:t>
            </a:r>
            <a:r>
              <a:rPr sz="1600" b="0">
                <a:solidFill>
                  <a:srgbClr val="E4E7F7"/>
                </a:solidFill>
                <a:latin typeface="Calibri"/>
              </a:rPr>
              <a:t>La energía no sube en ningún paso.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E3A8"/>
                </a:solidFill>
                <a:latin typeface="Calibri"/>
              </a:rPr>
              <a:t>•  </a:t>
            </a:r>
            <a:r>
              <a:rPr sz="1600" b="0">
                <a:solidFill>
                  <a:srgbClr val="E4E7F7"/>
                </a:solidFill>
                <a:latin typeface="Calibri"/>
              </a:rPr>
              <a:t>Casi todas las consultas convergen en pocos barridos.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E3A8"/>
                </a:solidFill>
                <a:latin typeface="Calibri"/>
              </a:rPr>
              <a:t>•  </a:t>
            </a:r>
            <a:r>
              <a:rPr sz="1600" b="0">
                <a:solidFill>
                  <a:srgbClr val="E4E7F7"/>
                </a:solidFill>
                <a:latin typeface="Calibri"/>
              </a:rPr>
              <a:t>Pero la red baja al mínimo más cercano, que con Hebb es el equivocado.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83480" y="2702663"/>
            <a:ext cx="6293815" cy="245851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opfield_qr__energy_per_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794103"/>
            <a:ext cx="6110935" cy="227563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Lectura con un decodificador QR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596" y="1600199"/>
            <a:ext cx="10554503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opfield_qr__decode_vs_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36" y="1691639"/>
            <a:ext cx="10371623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" y="5276088"/>
            <a:ext cx="10820095" cy="987551"/>
          </a:xfrm>
          <a:prstGeom prst="roundRect">
            <a:avLst>
              <a:gd name="adj" fmla="val 12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76088"/>
            <a:ext cx="10454335" cy="987551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E4E7F7"/>
                </a:solidFill>
                <a:latin typeface="Calibri"/>
              </a:rPr>
              <a:t>El lector decodifica los 5 originales. Tras la pseudoinversa un código se lee igual de bien que se recupera; tras Hebb no lee ninguno: el "QR promedio" falla de manera visible.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Limitaciones del caso de uso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37360"/>
            <a:ext cx="5349240" cy="2103120"/>
          </a:xfrm>
          <a:prstGeom prst="roundRect">
            <a:avLst>
              <a:gd name="adj" fmla="val 7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E3A8"/>
                </a:solidFill>
                <a:latin typeface="Calibri"/>
              </a:rPr>
              <a:t>Correlación entre códigos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93776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E4E7F7"/>
                </a:solidFill>
                <a:latin typeface="Calibri"/>
              </a:rPr>
              <a:t>Hebb no guarda ninguno aunque la cota (188,922 patrones) esté muy por encima de cinco.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349240" cy="2103120"/>
          </a:xfrm>
          <a:prstGeom prst="roundRect">
            <a:avLst>
              <a:gd name="adj" fmla="val 7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92024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E3A8"/>
                </a:solidFill>
                <a:latin typeface="Calibri"/>
              </a:rPr>
              <a:t>Estados espúreos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514600"/>
            <a:ext cx="493776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E4E7F7"/>
                </a:solidFill>
                <a:latin typeface="Calibri"/>
              </a:rPr>
              <a:t>Con mucho ruido la red termina en mezclas que no son ningún menú.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023360"/>
            <a:ext cx="5349240" cy="2103120"/>
          </a:xfrm>
          <a:prstGeom prst="roundRect">
            <a:avLst>
              <a:gd name="adj" fmla="val 7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20624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E3A8"/>
                </a:solidFill>
                <a:latin typeface="Calibri"/>
              </a:rPr>
              <a:t>Capacidad efectiva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493776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E4E7F7"/>
                </a:solidFill>
                <a:latin typeface="Calibri"/>
              </a:rPr>
              <a:t>Mucho menor que la cota teórica cuando los patrones se parecen.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023360"/>
            <a:ext cx="5349240" cy="2103120"/>
          </a:xfrm>
          <a:prstGeom prst="roundRect">
            <a:avLst>
              <a:gd name="adj" fmla="val 7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20624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E3A8"/>
                </a:solidFill>
                <a:latin typeface="Calibri"/>
              </a:rPr>
              <a:t>Umbral de ruido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800600"/>
            <a:ext cx="493776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E4E7F7"/>
                </a:solidFill>
                <a:latin typeface="Calibri"/>
              </a:rPr>
              <a:t>El umbral de 0,35 es el de la pseudoinversa; una foto real no es una matriz limpia y alineada.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1440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>
                <a:solidFill>
                  <a:srgbClr val="CFD6F5"/>
                </a:solidFill>
                <a:latin typeface="Calibr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E3A8"/>
                </a:solidFill>
                <a:latin typeface="Calibri"/>
              </a:rPr>
              <a:t>Conclusiones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Ejercicio 1: un eje domina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06. Conclusiones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820095" cy="4526280"/>
          </a:xfrm>
          <a:prstGeom prst="roundRect">
            <a:avLst>
              <a:gd name="adj" fmla="val 5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454335" cy="4251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E3A8"/>
                </a:solidFill>
                <a:latin typeface="Calibri"/>
              </a:rPr>
              <a:t>•  </a:t>
            </a:r>
            <a:r>
              <a:rPr sz="1900" b="1">
                <a:solidFill>
                  <a:srgbClr val="E4E7F7"/>
                </a:solidFill>
                <a:latin typeface="Calibri"/>
              </a:rPr>
              <a:t>PC1 ordena a los creadores por tamaño y estilo </a:t>
            </a:r>
            <a:r>
              <a:rPr sz="1900" b="0">
                <a:solidFill>
                  <a:srgbClr val="E4E7F7"/>
                </a:solidFill>
                <a:latin typeface="Calibri"/>
              </a:rPr>
              <a:t>y concentra 53,2% de la varianza.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E3A8"/>
                </a:solidFill>
                <a:latin typeface="Calibri"/>
              </a:rPr>
              <a:t>•  </a:t>
            </a:r>
            <a:r>
              <a:rPr sz="1900" b="1">
                <a:solidFill>
                  <a:srgbClr val="E4E7F7"/>
                </a:solidFill>
                <a:latin typeface="Calibri"/>
              </a:rPr>
              <a:t>Kohonen y Oja encuentran lo mismo: </a:t>
            </a:r>
            <a:r>
              <a:rPr sz="1900" b="0">
                <a:solidFill>
                  <a:srgbClr val="E4E7F7"/>
                </a:solidFill>
                <a:latin typeface="Calibri"/>
              </a:rPr>
              <a:t>las regiones siguen PC1 (0,8314 contra 0,2066) y Oja converge a PC1 (coseno 0,999993).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E3A8"/>
                </a:solidFill>
                <a:latin typeface="Calibri"/>
              </a:rPr>
              <a:t>•  </a:t>
            </a:r>
            <a:r>
              <a:rPr sz="1900" b="1">
                <a:solidFill>
                  <a:srgbClr val="E4E7F7"/>
                </a:solidFill>
                <a:latin typeface="Calibri"/>
              </a:rPr>
              <a:t>Por eso ningún índice único decide una campaña: </a:t>
            </a:r>
            <a:r>
              <a:rPr sz="1900" b="0">
                <a:solidFill>
                  <a:srgbClr val="E4E7F7"/>
                </a:solidFill>
                <a:latin typeface="Calibri"/>
              </a:rPr>
              <a:t>el primero del ranking no lo eligió ningún cliente.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E3A8"/>
                </a:solidFill>
                <a:latin typeface="Calibri"/>
              </a:rPr>
              <a:t>•  </a:t>
            </a:r>
            <a:r>
              <a:rPr sz="1900" b="1">
                <a:solidFill>
                  <a:srgbClr val="E4E7F7"/>
                </a:solidFill>
                <a:latin typeface="Calibri"/>
              </a:rPr>
              <a:t>Reglas por cliente: </a:t>
            </a:r>
            <a:r>
              <a:rPr sz="1900" b="0">
                <a:solidFill>
                  <a:srgbClr val="E4E7F7"/>
                </a:solidFill>
                <a:latin typeface="Calibri"/>
              </a:rPr>
              <a:t>mejor audiencia argentina que elegir por seguidores en los 4 clientes, y menor costo por mil en fútbol, maquillaje y arte.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E3A8"/>
                </a:solidFill>
                <a:latin typeface="Calibri"/>
              </a:rPr>
              <a:t>•  </a:t>
            </a:r>
            <a:r>
              <a:rPr sz="1900" b="1">
                <a:solidFill>
                  <a:srgbClr val="E4E7F7"/>
                </a:solidFill>
                <a:latin typeface="Calibri"/>
              </a:rPr>
              <a:t>Límite: </a:t>
            </a:r>
            <a:r>
              <a:rPr sz="1900" b="0">
                <a:solidFill>
                  <a:srgbClr val="E4E7F7"/>
                </a:solidFill>
                <a:latin typeface="Calibri"/>
              </a:rPr>
              <a:t>todo se argumenta con proxies, sin datos de ventas ni conversión; reglas y umbrales son criterios del grupo.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Ejercicio 2: la ortogonalidad es el hilo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E3A8"/>
                </a:solidFill>
                <a:latin typeface="Calibri"/>
              </a:rPr>
              <a:t>06. Conclusiones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820095" cy="4526280"/>
          </a:xfrm>
          <a:prstGeom prst="roundRect">
            <a:avLst>
              <a:gd name="adj" fmla="val 5000"/>
            </a:avLst>
          </a:prstGeom>
          <a:solidFill>
            <a:srgbClr val="30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454335" cy="4251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E3A8"/>
                </a:solidFill>
                <a:latin typeface="Calibri"/>
              </a:rPr>
              <a:t>•  </a:t>
            </a:r>
            <a:r>
              <a:rPr sz="1900" b="1">
                <a:solidFill>
                  <a:srgbClr val="E4E7F7"/>
                </a:solidFill>
                <a:latin typeface="Calibri"/>
              </a:rPr>
              <a:t>Letras: </a:t>
            </a:r>
            <a:r>
              <a:rPr sz="1900" b="0">
                <a:solidFill>
                  <a:srgbClr val="E4E7F7"/>
                </a:solidFill>
                <a:latin typeface="Calibri"/>
              </a:rPr>
              <a:t>G, R, T y V (producto interno máximo 1) se recuperan sin errores hasta ruido 0,12; con mucho ruido aparecen estados espúreos.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E3A8"/>
                </a:solidFill>
                <a:latin typeface="Calibri"/>
              </a:rPr>
              <a:t>•  </a:t>
            </a:r>
            <a:r>
              <a:rPr sz="1900" b="1">
                <a:solidFill>
                  <a:srgbClr val="E4E7F7"/>
                </a:solidFill>
                <a:latin typeface="Calibri"/>
              </a:rPr>
              <a:t>QR: </a:t>
            </a:r>
            <a:r>
              <a:rPr sz="1900" b="0">
                <a:solidFill>
                  <a:srgbClr val="E4E7F7"/>
                </a:solidFill>
                <a:latin typeface="Calibri"/>
              </a:rPr>
              <a:t>comparten ~70% de sus módulos; con Hebb ninguno es punto fijo y 97,47% de las consultas cae en el mismo "QR promedio".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E3A8"/>
                </a:solidFill>
                <a:latin typeface="Calibri"/>
              </a:rPr>
              <a:t>•  </a:t>
            </a:r>
            <a:r>
              <a:rPr sz="1900" b="1">
                <a:solidFill>
                  <a:srgbClr val="E4E7F7"/>
                </a:solidFill>
                <a:latin typeface="Calibri"/>
              </a:rPr>
              <a:t>Pseudoinversa: </a:t>
            </a:r>
            <a:r>
              <a:rPr sz="1900" b="0">
                <a:solidFill>
                  <a:srgbClr val="E4E7F7"/>
                </a:solidFill>
                <a:latin typeface="Calibri"/>
              </a:rPr>
              <a:t>recupera todo hasta 0,35 de ruido, lo que confirma que la causa es la correlación y no la cantidad.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E3A8"/>
                </a:solidFill>
                <a:latin typeface="Calibri"/>
              </a:rPr>
              <a:t>•  </a:t>
            </a:r>
            <a:r>
              <a:rPr sz="1900" b="1">
                <a:solidFill>
                  <a:srgbClr val="E4E7F7"/>
                </a:solidFill>
                <a:latin typeface="Calibri"/>
              </a:rPr>
              <a:t>Caso de uso: </a:t>
            </a:r>
            <a:r>
              <a:rPr sz="1900" b="0">
                <a:solidFill>
                  <a:srgbClr val="E4E7F7"/>
                </a:solidFill>
                <a:latin typeface="Calibri"/>
              </a:rPr>
              <a:t>limitado por correlación, estados espúreos, capacidad efectiva y umbral de ruido.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B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9A9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A9DB3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CFD6F5"/>
                </a:solidFill>
                <a:latin typeface="Calibri"/>
              </a:rPr>
              <a:t>¿Preguntas?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E3A8"/>
                </a:solidFill>
                <a:latin typeface="Calibri"/>
              </a:rPr>
              <a:t>¡Gracias!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8404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9A9DB3"/>
                </a:solidFill>
                <a:latin typeface="Calibri"/>
              </a:rPr>
              <a:t>Todo el trabajo se regenera con un comando: python -m tp4.delivery verify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