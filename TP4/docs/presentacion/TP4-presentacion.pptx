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FFD9D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Trabajo Práctico N°4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Campañas de marketing (PCA, Kohonen y Oja)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Memoria asociativa (Hopfield)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Integrantes: Di Candia, Lucas · [completar con el resto del grupo]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692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B59A97"/>
                </a:solidFill>
                <a:latin typeface="Calibri"/>
              </a:rPr>
              <a:t>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Tabla de Contenidos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Datos, EDA y PCA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Red de Kohonen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Regla de Oja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Decisión para las campañas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59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Memoria asociativa: Hopfield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79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02920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Datos, EDA y PCA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datos: 50 creadores, 33 columnas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creadores de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columnas, ninguna celda faltante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246887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42032"/>
            <a:ext cx="237744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variables independientes seleccionadas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737360"/>
            <a:ext cx="228600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82880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542032"/>
            <a:ext cx="2011680" cy="6144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clientes de la agencia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10820095" cy="27432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11879"/>
            <a:ext cx="10454335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Perfil comercial: </a:t>
            </a:r>
            <a:r>
              <a:rPr sz="1700" b="0">
                <a:solidFill>
                  <a:srgbClr val="F6E9E6"/>
                </a:solidFill>
                <a:latin typeface="Calibri"/>
              </a:rPr>
              <a:t>seguidores, alcance, precio, publicaciones patrocinadas.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Audiencia: </a:t>
            </a:r>
            <a:r>
              <a:rPr sz="1700" b="0">
                <a:solidFill>
                  <a:srgbClr val="F6E9E6"/>
                </a:solidFill>
                <a:latin typeface="Calibri"/>
              </a:rPr>
              <a:t>porcentaje argentino, alcance de no seguidores, interacción por mil cuentas.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Contenido: </a:t>
            </a:r>
            <a:r>
              <a:rPr sz="1700" b="0">
                <a:solidFill>
                  <a:srgbClr val="F6E9E6"/>
                </a:solidFill>
                <a:latin typeface="Calibri"/>
              </a:rPr>
              <a:t>tópico (fútbol, maquillaje, perros, arte), tipo (tutorial, reseña, entretenimiento) y formato.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Outliers: </a:t>
            </a:r>
            <a:r>
              <a:rPr sz="1700" b="0">
                <a:solidFill>
                  <a:srgbClr val="F6E9E6"/>
                </a:solidFill>
                <a:latin typeface="Calibri"/>
              </a:rPr>
              <a:t>33 celdas atípicas en 25 creadores (sobre todo especialistas en arte o maquillaje). Se reportan y se conservan: no son errores.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Qué se descarta: </a:t>
            </a:r>
            <a:r>
              <a:rPr sz="1700" b="0">
                <a:solidFill>
                  <a:srgbClr val="F6E9E6"/>
                </a:solidFill>
                <a:latin typeface="Calibri"/>
              </a:rPr>
              <a:t>6 columnas que son combinaciones exactas de otras (precio en ARS, interacción total, alcance estimado, orgánico, arte y showcase). El arte no desaparece: se reconstruye como 100 menos los otros tres tópicos.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Selección de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25 variables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De 31 columnas numéricas se descartan 6 que son combinaciones exactas de otras.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seleccionado tiene rango 25 de 25: ninguna combinación lineal exacta sobrevive.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escalas difieren unas 148 mil veces (followers vs comments_per_1000): hay que estandarizar.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9904" y="1645920"/>
            <a:ext cx="5120966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da__correlation_heatmap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344" y="1737360"/>
            <a:ext cx="493808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PCA: varianza explicada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Scree 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 + 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61,1%.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Una componente concentra más de la mitad, pero con dos no alcanza para representar a los creadores.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021209"/>
            <a:ext cx="6293815" cy="38214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112649"/>
            <a:ext cx="6110935" cy="363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Interpretación de PC1 y PC2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66654" y="1645920"/>
            <a:ext cx="556070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ca_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94" y="1737360"/>
            <a:ext cx="5377827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82535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5415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Biplot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de audiencia grande y video corto de tendencia a audiencia chica, epígrafes largos y contenido didáctico.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PC2: </a:t>
            </a:r>
            <a:r>
              <a:rPr sz="1600" b="0">
                <a:solidFill>
                  <a:srgbClr val="F6E9E6"/>
                </a:solidFill>
                <a:latin typeface="Calibri"/>
              </a:rPr>
              <a:t>mezcla audiencia argentina y tópico.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PC1 separa tamaño y estilo, no tópicos.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¿Estandarizar? ¿Reducir dimensión?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Entrada de Kohonen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Sin estandarizar, la PCA solo mide la escala de cada variable.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dos componentes se explica apenas 61,1%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Decisión: </a:t>
            </a:r>
            <a:r>
              <a:rPr sz="1700" b="0">
                <a:solidFill>
                  <a:srgbClr val="F6E9E6"/>
                </a:solidFill>
                <a:latin typeface="Calibri"/>
              </a:rPr>
              <a:t>Kohonen se entrena con las 25 variables estandarizadas, no con componentes principales.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75654"/>
            <a:ext cx="6110935" cy="37125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ca_scaling_sweep__standardize-false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67094"/>
            <a:ext cx="5928055" cy="35296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Red de Kohonen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Configuración elegida por regla, no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77081"/>
            <a:ext cx="5577840" cy="450967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sweep__sweep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8521"/>
            <a:ext cx="5394959" cy="4326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69164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2,1214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446020"/>
            <a:ext cx="219456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de cuantización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691640"/>
            <a:ext cx="228600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103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0,0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446020"/>
            <a:ext cx="201168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topográfico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246120"/>
            <a:ext cx="4937760" cy="29718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3383279"/>
            <a:ext cx="4572000" cy="2697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Mapa hexagonal de 64 neuronas con vecindad escalón; una regla fija se aplica sobre dos barridos de hiperparámetros.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Cuidado: queda en el borde del umbral de neuronas vacías; con otro umbral la regla podría elegir otro mapa.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Entrenamiento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Curvas de entrenamiento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QE: </a:t>
            </a:r>
            <a:r>
              <a:rPr sz="1700" b="0">
                <a:solidFill>
                  <a:srgbClr val="F6E9E6"/>
                </a:solidFill>
                <a:latin typeface="Calibri"/>
              </a:rPr>
              <a:t>baja de 3,90 en la época 1 a 2,12 y se estabiliza en las últimas 100 épocas.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Error topográfico: </a:t>
            </a:r>
            <a:r>
              <a:rPr sz="1700" b="0">
                <a:solidFill>
                  <a:srgbClr val="F6E9E6"/>
                </a:solidFill>
                <a:latin typeface="Calibri"/>
              </a:rPr>
              <a:t>llega a 0 y se queda ahí.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4920" y="1645919"/>
            <a:ext cx="5128054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360" y="1737359"/>
            <a:ext cx="4945174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Regiones del mapa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3 regiones contiguas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1 (21): </a:t>
            </a:r>
            <a:r>
              <a:rPr sz="1600" b="0">
                <a:solidFill>
                  <a:srgbClr val="F6E9E6"/>
                </a:solidFill>
                <a:latin typeface="Calibri"/>
              </a:rPr>
              <a:t>engagement profundo, audiencia chica.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2 (18): </a:t>
            </a:r>
            <a:r>
              <a:rPr sz="1600" b="0">
                <a:solidFill>
                  <a:srgbClr val="F6E9E6"/>
                </a:solidFill>
                <a:latin typeface="Calibri"/>
              </a:rPr>
              <a:t>intermedio y mezclado.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3 (11): </a:t>
            </a:r>
            <a:r>
              <a:rPr sz="1600" b="0">
                <a:solidFill>
                  <a:srgbClr val="F6E9E6"/>
                </a:solidFill>
                <a:latin typeface="Calibri"/>
              </a:rPr>
              <a:t>alcance masivo, video y entretenimiento.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separación es real pero moderada: 32 de las 64 neuronas están vacías.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173" y="1645920"/>
            <a:ext cx="602842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reg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613" y="1737360"/>
            <a:ext cx="58455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Matriz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Lectura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alta entre vecinas: </a:t>
            </a:r>
            <a:r>
              <a:rPr sz="1700" b="0">
                <a:solidFill>
                  <a:srgbClr val="F6E9E6"/>
                </a:solidFill>
                <a:latin typeface="Calibri"/>
              </a:rPr>
              <a:t>frontera entre grupos.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baja: </a:t>
            </a:r>
            <a:r>
              <a:rPr sz="1700" b="0">
                <a:solidFill>
                  <a:srgbClr val="F6E9E6"/>
                </a:solidFill>
                <a:latin typeface="Calibri"/>
              </a:rPr>
              <a:t>zona homogénea de creadores parecidos.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fronteras de las regiones siguen las paredes más altas, pero no todas: la distancia a través de ellas es 1,57 veces la media interna.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1256" y="1645920"/>
            <a:ext cx="6058262" cy="4571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696" y="1737360"/>
            <a:ext cx="5875382" cy="43891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Perfil de cada región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915037"/>
            <a:ext cx="10820095" cy="29364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regio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2006477"/>
            <a:ext cx="10637215" cy="27536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Media estandarizada de cada variable por región: la región 3 concentra alcance y video; la región 1, engagement profundo y audiencia chica.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Planos de 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8334" y="1645920"/>
            <a:ext cx="486022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_component_p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774" y="1737360"/>
            <a:ext cx="4677345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65415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8295" y="1828800"/>
            <a:ext cx="34747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Una variable por plano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variables de un bloque casi colineal dibujan el mismo plano.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Lo que ordena el mapa es el eje alcance y video contra engagement profundo: el mismo PC1 de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¿Coinciden las regiones con PC1 y PC2?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Sí, con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explica 0,8314 de la diferencia entre regiones.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solo 0,2066.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regiones siguen el eje de tamaño y estilo, y casi nada el de tópico.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2828" y="1645920"/>
            <a:ext cx="591511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m__biplot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68" y="1737360"/>
            <a:ext cx="573223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Mapa de control sobre componentes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1547" y="1600200"/>
            <a:ext cx="7488599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m_pca_control__control_reg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987" y="1691640"/>
            <a:ext cx="7305719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Entrenando con 6 componentes principales (83,0% de la varianza) en vez de las variables se obtienen casi las mismas regiones (ARI = 0,748; 44 de 50 creadores quedan en la misma región): la conclusión de 1.1 no cambia.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Regla de Oja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Oja converge al mismo eje que PC1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Pesos de Oja vs carga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Coseno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Correlación del índice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tasa η0 = 0,0005 salió de una regla registrada que no mira PC1.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6170" y="1645920"/>
            <a:ext cx="413131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ja__weight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610" y="1737360"/>
            <a:ext cx="394843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¿Qué mide el índice?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3992" y="1645920"/>
            <a:ext cx="5463149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ja__score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432" y="1737360"/>
            <a:ext cx="5280269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99655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2535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Índice vs puntaje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Mide tamaño y estilo (el eje de PC1), no calidad ni encaje con un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 primero del ranking, @mundoanimal.ar, </a:t>
            </a:r>
            <a:r>
              <a:rPr sz="1600" b="0">
                <a:solidFill>
                  <a:srgbClr val="F6E9E6"/>
                </a:solidFill>
                <a:latin typeface="Calibri"/>
              </a:rPr>
              <a:t>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Elegir al de mayor índice para cualquier campaña no es correcto.</a:t>
            </a:r>
            <a:r>
              <a:rPr sz="1600" b="0">
                <a:solidFill>
                  <a:srgbClr val="F6E9E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Decisión para las campañas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Cada cliente, su regla transparente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37360"/>
          <a:ext cx="108173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834640"/>
                <a:gridCol w="30449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1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2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3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Refugios de perros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@ideasconhuella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@huellasyconsejos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@consejoscaninos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Ropa de fútbol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@futbolcononda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@golconmate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@lookdecancha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Maquillaje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@reelargentino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@brochasymates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@maquillajereal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Materiales de arte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@colorenmovimiento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@galeriacotidiana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@rinconcreativo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4754880"/>
            <a:ext cx="10820095" cy="146304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92040"/>
            <a:ext cx="10454335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Filtro por tópico y puntaje ponderado propio de cada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Fútbol: los elegidos encarnan descubrimiento con alcance masivo, no profundidad educativa.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Regla vs. elegir solo por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5720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206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8A75"/>
                </a:solidFill>
                <a:latin typeface="Calibri"/>
              </a:rPr>
              <a:t>La regla gana en los 4 clientes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Audiencia argentina: </a:t>
            </a:r>
            <a:r>
              <a:rPr sz="1500" b="0">
                <a:solidFill>
                  <a:srgbClr val="F6E9E6"/>
                </a:solidFill>
                <a:latin typeface="Calibri"/>
              </a:rPr>
              <a:t>88,06% perros, 81,53% fútbol, 78,98% maquillaje y 68,94% arte, contra 63,48% de los más seguidos.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USD por mil de alcance argentino: </a:t>
            </a:r>
            <a:r>
              <a:rPr sz="1500" b="0">
                <a:solidFill>
                  <a:srgbClr val="F6E9E6"/>
                </a:solidFill>
                <a:latin typeface="Calibri"/>
              </a:rPr>
              <a:t>19,91 fútbol, 19,96 maquillaje y 27,01 arte, contra 32,94.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Límites: llega a menos gente en total y son proxies (no hay datos de ventas).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10379" y="1645920"/>
            <a:ext cx="49886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mpaigns_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819" y="1737360"/>
            <a:ext cx="480577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Memoria asociativa: Hopfield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Red de Hopfield escrita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Numpy, sin librerías de redes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Pesos de Hebb con diagonal cero, energía y actualización asincrónica o sincrónica.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La energía no sube en ninguna actualización.</a:t>
            </a:r>
            <a:r>
              <a:rPr sz="1700" b="0">
                <a:solidFill>
                  <a:srgbClr val="F6E9E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Es la misma red para las letras y para los códigos QR.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233299"/>
            <a:ext cx="6110935" cy="339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24739"/>
            <a:ext cx="5928055" cy="32143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Ortogonalidad: qué 4 letras guardar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Las más ortogonales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G, R, T y V: </a:t>
            </a:r>
            <a:r>
              <a:rPr sz="1600" b="0">
                <a:solidFill>
                  <a:srgbClr val="F6E9E6"/>
                </a:solidFill>
                <a:latin typeface="Calibri"/>
              </a:rPr>
              <a:t>producto interno máximo 1 en valor absoluto.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Peor conjunto: </a:t>
            </a:r>
            <a:r>
              <a:rPr sz="1600" b="0">
                <a:solidFill>
                  <a:srgbClr val="F6E9E6"/>
                </a:solidFill>
                <a:latin typeface="Calibri"/>
              </a:rPr>
              <a:t>21.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En el peor conjunto la red ya cambia píxeles de letras guardadas exactas.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923208"/>
            <a:ext cx="6293815" cy="40174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alphab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014648"/>
            <a:ext cx="6110935" cy="38345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Capacidad de almacenamiento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Más allá de la cota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Cota teórica de Hebb: </a:t>
            </a:r>
            <a:r>
              <a:rPr sz="1600" b="0">
                <a:solidFill>
                  <a:srgbClr val="F6E9E6"/>
                </a:solidFill>
                <a:latin typeface="Calibri"/>
              </a:rPr>
              <a:t>3,45 patrones.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Guardamos cuatro, por encima de la cota: funciona solo porque son casi ortogonales.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Cuántas letras caben depende de cuán correlacionadas estén, no solo de cuántas sean.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45596"/>
            <a:ext cx="6110935" cy="377264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37036"/>
            <a:ext cx="5928055" cy="358976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Recuperación con ruido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2918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Letras elegidas vs peor conjunto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Sin errores hasta ruido 0,12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el modo asincrónico, que siempre converge.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peor queda muy por debajo.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510320"/>
            <a:ext cx="6659575" cy="28431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letters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01760"/>
            <a:ext cx="6476695" cy="26603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Un patrón muy ruidoso y un estado espúreo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702958"/>
            <a:ext cx="10820095" cy="253768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letters__spur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4398"/>
            <a:ext cx="10637215" cy="235480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4453128"/>
            <a:ext cx="10820095" cy="181051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53128"/>
            <a:ext cx="10454335" cy="181051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Con ruido alto, 39,5% de las consultas termina en un estado espúreo: una mezcla de letras con signo. Las 16 mezclas de tres letras con signo son puntos fijos.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cinco QR se parecen demasiado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Matriz de superposiciones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Superposición media: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0,6701.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Módulos compartidos: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0,6976.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Son todo menos ortogonales: las letras elegidas estaban en el otro extremo.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09185" y="1645920"/>
            <a:ext cx="542528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overl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25" y="1737360"/>
            <a:ext cx="524240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Hebb no recupera ningún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1654" y="1600200"/>
            <a:ext cx="9688386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hebb_at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094" y="1691640"/>
            <a:ext cx="9505506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Ninguno de los 5 códigos es un punto fijo, y 97,47% de las consultas termina en el mismo "QR promedio". Es la interferencia que las letras ortogonales evitaban.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 pseudoinversa: la misma red, sin interferencia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68382"/>
            <a:ext cx="10820095" cy="342979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59822"/>
            <a:ext cx="10637215" cy="32469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Los 5 códigos pasan a ser puntos fijos y se recupera todo hasta 0,35 de ruido. No es la regla del curso: prueba que lo que rompe a Hebb es la correlación, no la cantidad de patrones.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Iteraciones y energía en cada paso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Convergencia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energía no sube en ningún paso.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Casi todas las consultas convergen en pocos barridos.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Pero la red baja al mínimo más cercano, que con Hebb es el equivocado.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702663"/>
            <a:ext cx="6293815" cy="24585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opfield_qr__energy_per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4103"/>
            <a:ext cx="6110935" cy="22756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Lectura con un decodificador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596" y="1600199"/>
            <a:ext cx="10554503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pfield_qr__decode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36" y="1691639"/>
            <a:ext cx="10371623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El lector decodifica los 5 originales. Tras la pseudoinversa un código se lee igual de bien que se recupera; tras Hebb no lee ninguno: el "QR promedio" falla de manera visible.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Limitaciones del caso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Correlación entre códigos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Hebb no guarda ninguno aunque la cota (188,922 patrones) esté muy por encima de cinco.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Estados espúreos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14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Con mucho ruido la red termina en mezclas que no son ningún menú.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Capacidad efectiva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Mucho menor que la cota teórica cuando los patrones se parecen.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Umbral de ruido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00600"/>
            <a:ext cx="49377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El umbral de 0,35 es el de la pseudoinversa; una foto real no es una matriz limpia y alineada.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1: un eje domina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PC1 ordena a los creadores por tamaño y estilo </a:t>
            </a:r>
            <a:r>
              <a:rPr sz="1900" b="0">
                <a:solidFill>
                  <a:srgbClr val="F6E9E6"/>
                </a:solidFill>
                <a:latin typeface="Calibri"/>
              </a:rPr>
              <a:t>y concentra 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Kohonen y Oja encuentran lo mismo: </a:t>
            </a:r>
            <a:r>
              <a:rPr sz="1900" b="0">
                <a:solidFill>
                  <a:srgbClr val="F6E9E6"/>
                </a:solidFill>
                <a:latin typeface="Calibri"/>
              </a:rPr>
              <a:t>las regiones siguen PC1 (0,8314 contra 0,2066) y Oja converge a PC1 (coseno 0,999993).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Por eso ningún índice único decide una campaña: </a:t>
            </a:r>
            <a:r>
              <a:rPr sz="1900" b="0">
                <a:solidFill>
                  <a:srgbClr val="F6E9E6"/>
                </a:solidFill>
                <a:latin typeface="Calibri"/>
              </a:rPr>
              <a:t>el primero del ranking 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Reglas por cliente: </a:t>
            </a:r>
            <a:r>
              <a:rPr sz="1900" b="0">
                <a:solidFill>
                  <a:srgbClr val="F6E9E6"/>
                </a:solidFill>
                <a:latin typeface="Calibri"/>
              </a:rPr>
              <a:t>mejor audiencia argentina que elegir por seguidores en los 4 clientes, y menor costo por mil en fútbol, maquillaje y arte.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Límite: </a:t>
            </a:r>
            <a:r>
              <a:rPr sz="1900" b="0">
                <a:solidFill>
                  <a:srgbClr val="F6E9E6"/>
                </a:solidFill>
                <a:latin typeface="Calibri"/>
              </a:rPr>
              <a:t>todo se argumenta con proxies, sin datos de ventas ni conversión; reglas y umbrales son criterios del grupo.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2: la ortogonalidad es el hilo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Letras: </a:t>
            </a:r>
            <a:r>
              <a:rPr sz="1900" b="0">
                <a:solidFill>
                  <a:srgbClr val="F6E9E6"/>
                </a:solidFill>
                <a:latin typeface="Calibri"/>
              </a:rPr>
              <a:t>G, R, T y V (producto interno máximo 1) se recuperan sin errores hasta ruido 0,12; con mucho ruido aparecen estados espúreos.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QR: </a:t>
            </a:r>
            <a:r>
              <a:rPr sz="1900" b="0">
                <a:solidFill>
                  <a:srgbClr val="F6E9E6"/>
                </a:solidFill>
                <a:latin typeface="Calibri"/>
              </a:rPr>
              <a:t>comparten ~70% de sus módulos; con Hebb ninguno es punto fijo y 97,47% de las consultas cae en el mismo "QR promedio".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Pseudoinversa: </a:t>
            </a:r>
            <a:r>
              <a:rPr sz="1900" b="0">
                <a:solidFill>
                  <a:srgbClr val="F6E9E6"/>
                </a:solidFill>
                <a:latin typeface="Calibri"/>
              </a:rPr>
              <a:t>recupera todo hasta 0,35 de ruido, lo que confirma que la causa es la correlación y no la cantidad.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Caso de uso: </a:t>
            </a:r>
            <a:r>
              <a:rPr sz="1900" b="0">
                <a:solidFill>
                  <a:srgbClr val="F6E9E6"/>
                </a:solidFill>
                <a:latin typeface="Calibri"/>
              </a:rPr>
              <a:t>limitado por correlación, estados espúreos, capacidad efectiva y umbral de ruido.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¡Gracias!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B59A97"/>
                </a:solidFill>
                <a:latin typeface="Calibri"/>
              </a:rPr>
              <a:t>Todo el trabajo se regenera con un comando: python -m tp4.delivery verify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