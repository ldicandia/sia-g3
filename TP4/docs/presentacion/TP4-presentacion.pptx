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Dos preguntas del enunciado: elegir creadores y recuperar patrones deteriorados.</a:t>
            </a:r>
          </a:p>
          <a:p>
            <a:r>
              <a:t>• Caso 1: adecuar creadores al objetivo, la audiencia y el contenido de cada campaña.</a:t>
            </a:r>
          </a:p>
          <a:p>
            <a:r>
              <a:t>• Caso 2: estudiar recuperación de patrones incompletos o ruidosos con memoria asociativa.</a:t>
            </a:r>
          </a:p>
          <a:p>
            <a:r>
              <a:t>• Recorrido: representar los datos, comparar configuraciones e interpretar resultados y limitaciones.</a:t>
            </a:r>
          </a:p>
          <a:p>
            <a:r>
              <a:t>• Fuente: SIATP42026.pdf, ejercicios 1 y 2; datos originales del TP.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Ejercicio 1: creadores de contenido. Ejercicio 2: memoria asociativa de Hopfield.</a:t>
            </a:r>
          </a:p>
          <a:p>
            <a:r>
              <a:t>• Fuente: SIATP42026.pdf, ejercicios 1 y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 agencia elige principalmente por seguidores; necesita adecuación a cada campaña.</a:t>
            </a:r>
          </a:p>
          <a:p>
            <a:r>
              <a:t>• Esta figura usa los tres primeros por seguidores del catálogo original.</a:t>
            </a:r>
          </a:p>
          <a:p>
            <a:r>
              <a:t>• Los porcentajes corresponden al contenido publicado, no a conversiones ni composición temática de audiencia.</a:t>
            </a:r>
          </a:p>
          <a:p>
            <a:r>
              <a:t>• Clientes: refugios, ropa de fútbol, belleza y materiales de arte.</a:t>
            </a:r>
          </a:p>
          <a:p>
            <a:r>
              <a:t>• Fuente: enunciado 1, datos/creadores.csv; runs/campaigns/comparison.csv.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50 creadores, 31 variables numéricas; nombres e ID solo identifican filas. Sin faltantes; conservamos los 50 registros.</a:t>
            </a:r>
          </a:p>
          <a:p>
            <a:r>
              <a:t>• Quitamos cuatro columnas porque se calculan a partir de otras que ya están. price_ars: derivada de price_usd × 1500 (tipo de cambio fijo), misma información. total_engagement_per_1000: suma exacta de likes, comments, saves y shares por 1000. estimated_argentina_reach: derivada de average_reach × argentina_audience_pct / 100 (redondeada). organic_posts_pct: complemento exacto, 100 − sponsored_posts_pct.</a:t>
            </a:r>
          </a:p>
          <a:p>
            <a:r>
              <a:t>• Siguen en el CSV: price_ars, el engagement total y el alcance argentino estimado sirven para interpretar campañas, no para entrenar.</a:t>
            </a:r>
          </a:p>
          <a:p>
            <a:r>
              <a:t>• Conservamos completos los cuatro tópicos y los cuatro formatos de contenido. Cada grupo es un conjunto de porcentajes que suma 100% en los 50 creadores (desvío máximo 1.4e-14). Son variables dependientes, pero PCA admite esa dependencia, y así todas las categorías pesan igual en las distancias de Kohonen y Oja. Cambiar columnas o pesos obliga a repetir el análisis.</a:t>
            </a:r>
          </a:p>
          <a:p>
            <a:r>
              <a:t>• Fuente: enunciado pp. 1-4; configs/feature_set.json; datos/creadores.csv; runs/eda/identities.csv y feature_set.json.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EDA: inspeccionamos distribuciones, correlaciones y boxplots en las 31 variables; aquí tres escalas ilustrativas.</a:t>
            </a:r>
          </a:p>
          <a:p>
            <a:r>
              <a:t>• Boxplots: 33 celdas en 25 creadores fuera de bigotes de 1,5 RIC. Se señalan, sin quitar ni recortar filas.</a:t>
            </a:r>
          </a:p>
          <a:p>
            <a:r>
              <a:t>• Media y desvío se calculan en el catálogo. Z-score con ddof=0, consistente con StandardScaler.</a:t>
            </a:r>
          </a:p>
          <a:p>
            <a:r>
              <a:t>• Sin escalar, PC1 explica 96% y predomina seguidores; las unidades dominan la varianza.</a:t>
            </a:r>
          </a:p>
          <a:p>
            <a:r>
              <a:t>• Fuente: clase Kohonen p. 19; PCA pp. 25-27; runs/eda; runs/pca_scaling_sweep/standardize-false.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 explica 49,7% y PC2 9,2%; seis componentes superan 80% y diez superan 90%.</a:t>
            </a:r>
          </a:p>
          <a:p>
            <a:r>
              <a:t>• 80% y 90% son referencias descriptivas elegidas, no umbrales de selección automática.</a:t>
            </a:r>
          </a:p>
          <a:p>
            <a:r>
              <a:t>• El biplot omite 41,1%. Mantenemos las 27 variables estandarizadas para SOM y Oja.</a:t>
            </a:r>
          </a:p>
          <a:p>
            <a:r>
              <a:t>• El enunciado pide agrupar considerando el conjunto de variables; PCA ayuda a interpretar la representación.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PC1: epígrafe +0,256; impresiones -0,251; video -0,249; alcance -0,248; tendencias -0,246.</a:t>
            </a:r>
          </a:p>
          <a:p>
            <a:r>
              <a:t>• PC2: showcase +0,419 y arte +0,401 frente a audiencia argentina -0,361 y perros -0,261.</a:t>
            </a:r>
          </a:p>
          <a:p>
            <a:r>
              <a:t>• Color y marcador de cada punto: tópico dominante del creador (Fútbol 15, Belleza 11, Perros 13, Arte 11). Es un rótulo; no entra en PCA.</a:t>
            </a:r>
          </a:p>
          <a:p>
            <a:r>
              <a:t>• Las 27 flechas son los coeficientes de PC1 y PC2 multiplicados por un único factor visual. Las finas y grises no se rotulan; las rotuladas en gris oscuro son las que interpretamos.</a:t>
            </a:r>
          </a:p>
          <a:p>
            <a:r>
              <a:t>• Las cuatro flechas gruesas de color son los tópicos y muestran hacia dónde tira cada uno: Perros hacia PC1 positiva (+0,133) y PC2 negativa, Arte hacia PC2 positiva (+0,401), Belleza hacia abajo y a la izquierda. La flecha de Fútbol es corta (−0,066; +0,051): este plano explica poco de ese tópico.</a:t>
            </a:r>
          </a:p>
          <a:p>
            <a:r>
              <a:t>• Los dos creadores rotulados son ejemplos de cada extremo. No son predictores comerciales.</a:t>
            </a:r>
          </a:p>
          <a:p>
            <a:r>
              <a:t>• El plano de dos componentes omite 41,1% de la varianza y el signo del autovector es una convención. Los puntos cercanos en dos PC pueden diferir en las restantes.</a:t>
            </a:r>
          </a:p>
          <a:p>
            <a:r>
              <a:t>• Fuente: clase PCA, pp. 7-11, 20-32 y 43-46; runs/pca.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Entrada: las mismas 27 variables estandarizadas. Ganadora: menor distancia euclídea.</a:t>
            </a:r>
          </a:p>
          <a:p>
            <a:r>
              <a:t>• Actualizamos la ganadora y vecinas del radio binario; el dibujo destaca una ganadora y su vecindad.</a:t>
            </a:r>
          </a:p>
          <a:p>
            <a:r>
              <a:t>• Grilla hexagonal, pesos iniciales con muestras; η(i)=0,9/(1+i), i cuenta presentaciones; R=1 constante.</a:t>
            </a:r>
          </a:p>
          <a:p>
            <a:r>
              <a:t>• Incluimos el borde d&lt;=R para que R=1 alcance vecinas pegadas, como los ejemplos de clase pp. 15 y 31.</a:t>
            </a:r>
          </a:p>
          <a:p>
            <a:r>
              <a:t>• Los nombres y el tópico dominante solo rotulan resultados; los porcentajes de tópicos sí son variables de entrada.</a:t>
            </a:r>
          </a:p>
          <a:p>
            <a:r>
              <a:t>• Fuente: clase Kohonen, pp. 24-37; runs/som y barridos OAT.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η₀: 0,1, 0,5, 0,9; resto fijo en la base común.</a:t>
            </a:r>
          </a:p>
          <a:p>
            <a:r>
              <a:t>• η₀=0,1 da menor distancia al ganador, pero U media mucho mayor: prototipos vecinos menos parecidos.</a:t>
            </a:r>
          </a:p>
          <a:p>
            <a:r>
              <a:t>• η₀=0,9 equilibra distancia y continuidad frente a 0,5. La elección es manual y condicional a esta base.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el radio constante: 1, 2 y 3; mantenemos tamaño, η y épocas.</a:t>
            </a:r>
          </a:p>
          <a:p>
            <a:r>
              <a:t>• Al aumentar el radio suben la distancia media al ganador y la fracción de neuronas vacías.</a:t>
            </a:r>
          </a:p>
          <a:p>
            <a:r>
              <a:t>• U cae, pero esa caída no prueba calidad: actualizaciones amplias acercan los prototipos entre sí.</a:t>
            </a:r>
          </a:p>
          <a:p>
            <a:r>
              <a:t>• Cada valor usa 30 semillas, 42 a 71. Barras: media ± desvío muestral entre entrenamientos, ddof=1.</a:t>
            </a:r>
          </a:p>
          <a:p>
            <a:r>
              <a:t>• Diseño OAT: cambia un parámetro por vez; las semillas y las demás condiciones son comunes.</a:t>
            </a:r>
          </a:p>
          <a:p>
            <a:r>
              <a:t>• Fuente: clase Kohonen, pp. 24-37; runs/som y barridos OAT. Fuente numérica: runs/som_sweep/comparison.csv.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Variamos solo k de la grilla k×k: 3, 4, 5 y 6; cols=null acompaña el tamaño cuadrado. Resto fijo en la base común.</a:t>
            </a:r>
          </a:p>
          <a:p>
            <a:r>
              <a:t>• Distancia al ganador: 3×3 3,683, 4×4 3,458, 5×5 3,273, 6×6 3,002. Baja siempre al agrandar la grilla, pero eso solo refleja más prototipos para ajustar las mismas entradas.</a:t>
            </a:r>
          </a:p>
          <a:p>
            <a:r>
              <a:t>• Neuronas vacías (de k²): 3×3 0,10 (1,1%), 4×4 0,90 (5,6%), 5×5 3,23 (12,9%), 6×6 8,53 (23,7%).</a:t>
            </a:r>
          </a:p>
          <a:p>
            <a:r>
              <a:t>• U media: 3×3 2,141, 4×4 2,108, 5×5 2,281, 6×6 2,629. Es mínima en 4×4.</a:t>
            </a:r>
          </a:p>
          <a:p>
            <a:r>
              <a:t>• Creadores por celda con 50 creadores: 3×3 5,6, 4×4 3,1, 5×5 2,0, 6×6 1,4. 3×3 mezcla perfiles; las grillas grandes dejan celdas vacías o con un solo creador.</a:t>
            </a:r>
          </a:p>
          <a:p>
            <a:r>
              <a:t>• Es un compromiso descriptivo: la clase no da un criterio de tamaño y no afirmamos un óptimo global ni significación estadística.</a:t>
            </a:r>
          </a:p>
          <a:p>
            <a:r>
              <a:t>• Cada valor usa 30 semillas, 42 a 71. Barras: media ± desvío muestral entre entrenamientos, ddof=1. Las vacías se expresan como % de k².</a:t>
            </a:r>
          </a:p>
          <a:p>
            <a:r>
              <a:t>• Fuente: clase Kohonen, pp. 24-37; runs/som y barridos OAT. Fuente numérica: runs/som_sweep/comparison.csv (varied_parameter = params.rows); ej1.md 1.2.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panel varía un único parámetro sobre la misma base, no combina los factores.</a:t>
            </a:r>
          </a:p>
          <a:p>
            <a:r>
              <a:t>• 200 épocas cambian poco la distancia frente a 50; el descenso de η limita ajustes tardíos.</a:t>
            </a:r>
          </a:p>
          <a:p>
            <a:r>
              <a:t>• Rectangular aproxima algo mejor las entradas; hexagonal tiene menor U media y menos vacías en este análisis.</a:t>
            </a:r>
          </a:p>
          <a:p>
            <a:r>
              <a:t>• Muestras supera la inicialización uniforme en distancia y ocupación; preserva representantes próximos a datos.</a:t>
            </a:r>
          </a:p>
          <a:p>
            <a:r>
              <a:t>• Final: 4×4 hexagonal, muestras, η₀=0,9, R=1, 200 épocas. Distancia 3,45829±0,07037; vacías 0,9±0,8847 de 16.</a:t>
            </a:r>
          </a:p>
          <a:p>
            <a:r>
              <a:t>• Fuente: clase Kohonen, pp. 24-37; runs/som y barridos OAT. Datos: runs/som_sweep/comparison.csv y som_design_sweep/comparison.csv.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Este mapa ilustra la semilla 42; las coordenadas no identifican perfiles permanentes entre entrenamientos.</a:t>
            </a:r>
          </a:p>
          <a:p>
            <a:r>
              <a:t>• BMU 5 reúne 10 creadores de mayor profundidad; BMU 13 reúne 9 de mayor volumen. Revisar medias del cuadro.</a:t>
            </a:r>
          </a:p>
          <a:p>
            <a:r>
              <a:t>• BMU 1 reúne dos creadores con 54,47% de arte y PC2 media positiva; el biplot permite interpretar el contraste.</a:t>
            </a:r>
          </a:p>
          <a:p>
            <a:r>
              <a:t>• Cada celda lista los nombres de sus creadores, con el color de su tópico dominante; el número pequeño es el índice de neurona, desde cero.</a:t>
            </a:r>
          </a:p>
          <a:p>
            <a:r>
              <a:t>• Los nombres y el tópico dominante son solo rótulos: nunca entran al entrenamiento. La semilla 42 es un ejemplo; otras semillas rotan las celdas.</a:t>
            </a:r>
          </a:p>
          <a:p>
            <a:r>
              <a:t>• Los perfiles son medias reales de los asignados; los pesos prototipo no tienen por qué coincidir con esas medias.</a:t>
            </a:r>
          </a:p>
          <a:p>
            <a:r>
              <a:t>• Fuente: clase Kohonen, pp. 24-37; runs/som y barridos OAT. Datos: runs/som/{neurons,creator_profiles,bmus}.csv; figura equivalente en docs/hallazgos/figuras/som__hit_map.png.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número grande es la distancia media del prototipo a sus vecinos; el pequeño es el índice de neurona.</a:t>
            </a:r>
          </a:p>
          <a:p>
            <a:r>
              <a:t>• Revisión de la matriz: recomputamos U desde los 27 pesos de cada prototipo en runs/som/weights.csv (vecinas a distancia de grilla ≤ 1) y coincide con neurons.csv; desvío máximo 6.4e-10. No hay error de cálculo.</a:t>
            </a:r>
          </a:p>
          <a:p>
            <a:r>
              <a:t>• docs/hallazgos/figuras/som__u_matrix.png usa otra paleta e imprime dentro de cada celda la cantidad de creadores; esta diapositiva imprime U. Ambas colorean por U, y por eso parecían distintas.</a:t>
            </a:r>
          </a:p>
          <a:p>
            <a:r>
              <a:t>• En la semilla 42 la mayor arista une 4 y 8; distancia 5,8384. Se dibuja sobre el borde compartido de las dos celdas. Es una distancia entre dos prototipos; no confundirla con la media U de una celda.</a:t>
            </a:r>
          </a:p>
          <a:p>
            <a:r>
              <a:t>• Las dos celdas de mayor U (0 con 4,00 y 8 con 4,40) tienen PC1 de prototipo de signo opuesto al de la mayoría de sus vecinas (2 de 2 y 2 de 3): U marca el borde entre perfiles de volumen y de profundidad.</a:t>
            </a:r>
          </a:p>
          <a:p>
            <a:r>
              <a:t>• U media entre 30 entrenamientos: 2,10844±0,19310. No promediamos pesos ni celdas que pueden rotarse.</a:t>
            </a:r>
          </a:p>
          <a:p>
            <a:r>
              <a:t>• Distancia alta sugiere cambio de perfil; no establece una frontera estadística ni calidad comercial.</a:t>
            </a:r>
          </a:p>
          <a:p>
            <a:r>
              <a:t>• Fuente: clase Kohonen, pp. 24-37; runs/som y barridos OAT. Datos: runs/som/{neurons,weights,u_edges,per_seed}.csv.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hexágono muestra la PC1 (izquierda) o la PC2 (derecha) del prototipo de la celda, con rango simétrico por panel: cobre negativo, blanco cero, verde petróleo positivo.</a:t>
            </a:r>
          </a:p>
          <a:p>
            <a:r>
              <a:t>• Medias por fila de la grilla, de arriba abajo. PC1: +1,36, +1,86, −0,98, −2,71. PC2: +0,83, +0,22, −0,54, −0,92.</a:t>
            </a:r>
          </a:p>
          <a:p>
            <a:r>
              <a:t>• PC1 es positiva en las dos filas de arriba y negativa en las dos de abajo; no es estrictamente monótona entre la primera y la segunda fila. PC2 baja de fila en fila.</a:t>
            </a:r>
          </a:p>
          <a:p>
            <a:r>
              <a:t>• Celda 5, profundidad: la media de PC1 de sus creadores es +4,83 y su prototipo +3,28. Celda 13, volumen: −5,01 y −3,84. Celda 1, arte: PC2 media +1,78 (ej1.md 1.2). Las diapositivas muestran la proyección del prototipo; los valores de ej1.md son medias de los creadores asignados.</a:t>
            </a:r>
          </a:p>
          <a:p>
            <a:r>
              <a:t>• El mapa se entrena con las 27 variables estandarizadas, no con componentes. Que ordene a los creadores como PCA es una confirmación independiente.</a:t>
            </a:r>
          </a:p>
          <a:p>
            <a:r>
              <a:t>• Dos creadores cercanos en el biplot pueden caer en celdas distintas porque otras componentes también cuentan (ej1.md 1.2).</a:t>
            </a:r>
          </a:p>
          <a:p>
            <a:r>
              <a:t>• Versiones de la nota de hallazgos: som__biplot_cells.png y som__pc_planes.png.</a:t>
            </a:r>
          </a:p>
          <a:p>
            <a:r>
              <a:t>• Fuente: clase Kohonen, pp. 24-37; runs/som y barridos OAT. Datos: runs/som/{neurons,creator_profiles}.csv; runs/pca/loadings.csv.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Una neurona: y=w·x; actualización Δw=ηy(x−yw); pesos iniciales uniformes [0,1], η=0,001, 200 épocas.</a:t>
            </a:r>
          </a:p>
          <a:p>
            <a:r>
              <a:t>• Mostramos seis coeficientes interpretables; pesos completos y dispersiones en weights_stats.csv.</a:t>
            </a:r>
          </a:p>
          <a:p>
            <a:r>
              <a:t>• Coseno absoluto con PC1: media 0,999891, DE 0,000039 en 30 entrenamientos.</a:t>
            </a:r>
          </a:p>
          <a:p>
            <a:r>
              <a:t>• PC1 solo permite comparar y orientar el informe. No interviene en actualización ni parada.</a:t>
            </a:r>
          </a:p>
          <a:p>
            <a:r>
              <a:t>• Norma cerca de uno no prueba dirección convergida. Con η constante persiste variación del vector.</a:t>
            </a:r>
          </a:p>
          <a:p>
            <a:r>
              <a:t>• Fuente: clase Oja y Sanger pp. 12-16; runs/oja/{repeats,weights_stats,history_stats}.csv.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punto es un creador; eje Y muestra media y DE del índice entre semillas.</a:t>
            </a:r>
          </a:p>
          <a:p>
            <a:r>
              <a:t>• Normalizamos y alineamos el signo de los vectores aprendidos para informar; nunca renormalizamos durante el entrenamiento.</a:t>
            </a:r>
          </a:p>
          <a:p>
            <a:r>
              <a:t>• Los cinco primeros aparecen en top5 en los 30 entrenamientos; las cinco cuentas corresponden al extremo positivo de PC1.</a:t>
            </a:r>
          </a:p>
          <a:p>
            <a:r>
              <a:t>• Índice alto no mide ventas, adopciones ni adecuación universal. Invertir el signo invierte el ranking.</a:t>
            </a:r>
          </a:p>
          <a:p>
            <a:r>
              <a:t>• La decisión necesita el objetivo de campaña y las variables observadas, no el máximo automático.</a:t>
            </a:r>
          </a:p>
          <a:p>
            <a:r>
              <a:t>• Fuente: clase PCA p.46; Oja pp.12-16; runs/oja/index_stats.csv y ranking.csv.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Supuesto: explicar ropa de entrenamiento; filtro de contenido de fútbol &gt;=40%, orden por guardados por 1000.</a:t>
            </a:r>
          </a:p>
          <a:p>
            <a:r>
              <a:t>• Comparamos solo candidatos de fútbol de cada celda. No usar medias de toda la celda como si fueran ese subconjunto.</a:t>
            </a:r>
          </a:p>
          <a:p>
            <a:r>
              <a:t>• Celda 5 agrupa los tres elegidos de fútbol; celda 13 concentra más volumen y menos profundidad educativa.</a:t>
            </a:r>
          </a:p>
          <a:p>
            <a:r>
              <a:t>• Una campaña de reconocimiento podría priorizar alcance o descubrimiento; el objetivo cambia la decisión.</a:t>
            </a:r>
          </a:p>
          <a:p>
            <a:r>
              <a:t>• No hay ventas, conversiones ni adopciones en el catálogo: estos proxies no prueban rentabilidad.</a:t>
            </a:r>
          </a:p>
          <a:p>
            <a:r>
              <a:t>• Fuente: enunciado 1.4; configs/campaigns.json; runs/campaigns/strategy_profiles.csv.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Supuestos comunes: una publicación por creador, tres creadores y contenido del tópico &gt;=40%.</a:t>
            </a:r>
          </a:p>
          <a:p>
            <a:r>
              <a:t>• Perros ordena por visitas al perfil; fútbol por guardados; belleza y arte por proporción de tutoriales.</a:t>
            </a:r>
          </a:p>
          <a:p>
            <a:r>
              <a:t>• Comparación: solo seguidores globales y seguidores dentro del tópico. El control temático separa el efecto del filtro.</a:t>
            </a:r>
          </a:p>
          <a:p>
            <a:r>
              <a:t>• La selección propuesta pierde alcance y a veces especialización; en estos datos obtiene menor precio y más profundidad según el criterio.</a:t>
            </a:r>
          </a:p>
          <a:p>
            <a:r>
              <a:t>• La suma de alcances puede repetir audiencia. Los supuestos comerciales se revisan con resultados reales.</a:t>
            </a:r>
          </a:p>
          <a:p>
            <a:r>
              <a:t>• Fuente: runs/campaigns/{picks,baselines,comparison,evidence}.csv; configs/campaigns.json.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Campaña nueva con mismo catálogo: definir objetivo y revisar evidencia; puede cambiar la elección comercial sin cambiar los modelos.</a:t>
            </a:r>
          </a:p>
          <a:p>
            <a:r>
              <a:t>• Datos mensuales o más creadores: revisar distribuciones, escalas, entrenamientos, grilla e interpretaciones.</a:t>
            </a:r>
          </a:p>
          <a:p>
            <a:r>
              <a:t>• Variables nuevas cambian distancias y componentes: repetir representación, estandarización y modelos.</a:t>
            </a:r>
          </a:p>
          <a:p>
            <a:r>
              <a:t>• Puede proyectarse un creador nuevo con la transformación existente si sigue siendo representativa; el repositorio regenera todo al actualizar el CSV.</a:t>
            </a:r>
          </a:p>
          <a:p>
            <a:r>
              <a:t>• Guardar versión de datos, fecha, semillas y parámetros; celdas y signos no son etiquetas permanentes.</a:t>
            </a:r>
          </a:p>
          <a:p>
            <a:r>
              <a:t>• Fuente: enunciado 1.4; modelo de Kohonen y proyección PCA; configs y runs.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letra 5×5 se recorre por filas: 25 estados bipolares. Negro=+1, blanco=-1.</a:t>
            </a:r>
          </a:p>
          <a:p>
            <a:r>
              <a:t>• G, R, T, V forman cuatro filas de P: matriz 4×25. Cada posición corresponde a una neurona.</a:t>
            </a:r>
          </a:p>
          <a:p>
            <a:r>
              <a:t>• Hebb: W=PᵀP/25; W es 25×25 y su diagonal se fija en cero. Los cuatro patrones se almacenan juntos.</a:t>
            </a:r>
          </a:p>
          <a:p>
            <a:r>
              <a:t>• Un patrón está almacenado por construcción de W; estar estable y recuperar desde ruido se comprueba después.</a:t>
            </a:r>
          </a:p>
          <a:p>
            <a:r>
              <a:t>• Ejemplo introductorio antes del caso QR; fuente de patrones: datos/letras_5x5.json.</a:t>
            </a:r>
          </a:p>
          <a:p>
            <a:r>
              <a:t>• Fuente: clase Hopfield, pp. 15, 20, 33-38; runs/hopfield_letters. Figura original de esta corrida: runs/hopfield_letters/storage.png.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Productos internos normalizados: (ξᵘ·ξᵛ)/(5×5), antes de agregar ruido. Norma de cada letra: 5.</a:t>
            </a:r>
          </a:p>
          <a:p>
            <a:r>
              <a:t>• N=25 es impar: el producto interno de dos vectores bipolares no puede ser cero; mínimo absoluto posible: 1.</a:t>
            </a:r>
          </a:p>
          <a:p>
            <a:r>
              <a:t>• Elegimos G, R, T, V minimizando máximo |producto|, luego promedio; producto bruto absoluto 1, normalizado 0,04.</a:t>
            </a:r>
          </a:p>
          <a:p>
            <a:r>
              <a:t>• H, M, N, W tienen máximo absoluto 21/25=0,84 y solo una letra estable, almacenando la misma cantidad.</a:t>
            </a:r>
          </a:p>
          <a:p>
            <a:r>
              <a:t>• La diagonal normalizada 1 se excluye del resumen entre patrones distintos; la figura conserva el signo.</a:t>
            </a:r>
          </a:p>
          <a:p>
            <a:r>
              <a:t>• Fuente: clase Hopfield, pp. 15, 20, 33-38; runs/hopfield_letters. Datos: dot_products.csv, orthogonality.csv, stored.csv.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Cada semilla contiene 50 consultas por letra y nivel. Se invierten posiciones distintas dentro de cada consulta.</a:t>
            </a:r>
          </a:p>
          <a:p>
            <a:r>
              <a:t>• G, R, T, V asincrónica: 3 bits, 99,833% ± 0,240 pp; 5 bits, 93,417% ± 2,060 pp; 9 bits, 31,917% ± 2,910 pp.</a:t>
            </a:r>
          </a:p>
          <a:p>
            <a:r>
              <a:t>• Media y DE muestral entre 30 tasas por semilla. Las consultas de una corrida se agregan antes de calcular dispersión.</a:t>
            </a:r>
          </a:p>
          <a:p>
            <a:r>
              <a:t>• 192.000 consultas de la grilla estándar; 24.000 adicionales para nivel 0,4: 216.000 consultas totales.</a:t>
            </a:r>
          </a:p>
          <a:p>
            <a:r>
              <a:t>• Actualización sincrónica puede formar ciclos; asincrónica tiene energía no creciente. No prometer recuperación para toda consulta.</a:t>
            </a:r>
          </a:p>
          <a:p>
            <a:r>
              <a:t>• Fuente: clase Hopfield, pp. 15, 20, 33-38; runs/hopfield_letters. Datos: recall_by_seed.csv y recall_repetitions.csv.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Ejemplo de la semilla 42: consulta de G con 10/25 bits invertidos.</a:t>
            </a:r>
          </a:p>
          <a:p>
            <a:r>
              <a:t>• El estado final es un punto fijo ajeno a las cuatro letras y sus inversas.</a:t>
            </a:r>
          </a:p>
          <a:p>
            <a:r>
              <a:t>• Energía final -7,68; distancia mínima a una letra: 6 bits. Los recuerdos guardados tienen energía -10,56.</a:t>
            </a:r>
          </a:p>
          <a:p>
            <a:r>
              <a:t>• La curva registra visitas individuales a neuronas, incluida la comprobación final. Un espurio puede tener energía estable.</a:t>
            </a:r>
          </a:p>
          <a:p>
            <a:r>
              <a:t>• Distinguir convergencia a un punto fijo de recuperación del patrón objetivo.</a:t>
            </a:r>
          </a:p>
          <a:p>
            <a:r>
              <a:t>• Fuente: clase Hopfield, pp. 15, 20, 33-38; runs/hopfield_letters. Datos: summary.json y energy_trace.csv, ejemplo spurious.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Se prueban 200 subconjuntos aleatorios del alfabeto por cantidad, en 30 semillas.</a:t>
            </a:r>
          </a:p>
          <a:p>
            <a:r>
              <a:t>• La curva muestra proporción de subconjuntos enteramente estables, con media ± DE entre semillas.</a:t>
            </a:r>
          </a:p>
          <a:p>
            <a:r>
              <a:t>• Para 4 letras al azar: 48,35% ± 3,57 pp de conjuntos enteramente estables; la fracción de letras estables es 75,575%.</a:t>
            </a:r>
          </a:p>
          <a:p>
            <a:r>
              <a:t>• 0,15N=3,75 es una aproximación para patrones poco correlacionados, sin garantía para cada conjunto de 25 neuronas.</a:t>
            </a:r>
          </a:p>
          <a:p>
            <a:r>
              <a:t>• Las cuatro letras elegidas son estables pese a superar 3,75; compatible con una capacidad aproximada.</a:t>
            </a:r>
          </a:p>
          <a:p>
            <a:r>
              <a:t>• Fuente: clase Hopfield, pp. 15, 20, 33-38; runs/hopfield_letters. Datos: capacity_by_seed.csv y capacity_repetitions.csv.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Las cinco imágenes coinciden byte a byte con el ZIP suministrado; inputs.csv registra SHA256, dimensiones y norma.</a:t>
            </a:r>
          </a:p>
          <a:p>
            <a:r>
              <a:t>• Cada imagen 37×37 se recorre por filas. Negro=+1, blanco=-1; se conservan todos sus módulos.</a:t>
            </a:r>
          </a:p>
          <a:p>
            <a:r>
              <a:t>• Cada vector tiene 1369 estados y norma √1369=37. P es 5×1369 y W es 1369×1369, con diagonal cero.</a:t>
            </a:r>
          </a:p>
          <a:p>
            <a:r>
              <a:t>• La comparación usa coseno normalizado; la red utiliza estados bipolares ±1.</a:t>
            </a:r>
          </a:p>
          <a:p>
            <a:r>
              <a:t>• El render de esta diapositiva solo amplía píxeles por vecino más próximo; no altera los archivos originales.</a:t>
            </a:r>
          </a:p>
          <a:p>
            <a:r>
              <a:t>• Fuente: enunciado 2.1; datos/hopfield/*.png; runs/hopfield_qr/inputs.csv.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Coseno medio entre los 10 pares distintos: 0.670124; rango 0.576333 a 0.859752.</a:t>
            </a:r>
          </a:p>
          <a:p>
            <a:r>
              <a:t>• Para ±1 y N=1369, cada norma es 37: el denominador es 37×37=1369.</a:t>
            </a:r>
          </a:p>
          <a:p>
            <a:r>
              <a:t>• 1−coseno medio=0.329876; 0,3299 es disimilitud complementaria, una cantidad diferente del producto normalizado.</a:t>
            </a:r>
          </a:p>
          <a:p>
            <a:r>
              <a:t>• La fracción de bits distintos es (1−coseno)/2: aproximadamente 16,49% en promedio.</a:t>
            </a:r>
          </a:p>
          <a:p>
            <a:r>
              <a:t>• 955/1369 módulos son iguales en los cinco QR simultáneamente; esa proporción, 69,76%, es otra cantidad.</a:t>
            </a:r>
          </a:p>
          <a:p>
            <a:r>
              <a:t>• Fuente: runs/hopfield_qr/{pairwise_similarity,overlaps,inputs}.csv; clase Hopfield p.33.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 los cinco juntos, ningún original es punto fijo: 71, 91, 225, 225 y 103 módulos inestables.</a:t>
            </a:r>
          </a:p>
          <a:p>
            <a:r>
              <a:t>• 33.000 consultas conjuntas: 5 QR × 11 niveles × 20 consultas × 30 semillas. Recuperación exacta: 0% en todos los niveles.</a:t>
            </a:r>
          </a:p>
          <a:p>
            <a:r>
              <a:t>• Ejemplo de la semilla 42: original principal sin ruido y estado final espurio. La curva de barridos usa 30 semillas.</a:t>
            </a:r>
          </a:p>
          <a:p>
            <a:r>
              <a:t>• Máximo 2 barridos que cambian el estado; la comprobación final no cuenta como otro cambio.</a:t>
            </a:r>
          </a:p>
          <a:p>
            <a:r>
              <a:t>• Energía asincrónica no creciente no garantiza recuerdo correcto. El fracaso aparece ya en estabilidad, antes del ruido.</a:t>
            </a:r>
          </a:p>
          <a:p>
            <a:r>
              <a:t>• Fuente: clase Hopfield pp.34-38; runs/hopfield_qr/{stored,recall_repetitions,queries}.csv.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Controles de estabilidad exhaustivos: 5 redes con un QR y 10 parejas; todos sus patrones son estables.</a:t>
            </a:r>
          </a:p>
          <a:p>
            <a:r>
              <a:t>• Los 10 tríos, 5 cuartetos y la red de cinco tienen cero patrones originales estables.</a:t>
            </a:r>
          </a:p>
          <a:p>
            <a:r>
              <a:t>• Un QR por red: 33.000 consultas adicionales; recuperación 100% hasta 684/1369 bits invertidos (49,963%), con DE 0 entre semillas.</a:t>
            </a:r>
          </a:p>
          <a:p>
            <a:r>
              <a:t>• El fallo no es universal para QR ni atribuible solo a su tamaño. Estos patrones correlacionados interfieren cuando se almacenan juntos.</a:t>
            </a:r>
          </a:p>
          <a:p>
            <a:r>
              <a:t>• El control cambia la matriz de pesos. No comparar energías absolutas entre redes como si fueran una misma función.</a:t>
            </a:r>
          </a:p>
          <a:p>
            <a:r>
              <a:t>• Fuente: runs/hopfield_qr/{storage_control,single_pattern_control,recall_repetitions}.csv.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• El lector opcional decodifica 5/5 originales. Se compara la URL con la del patrón objetivo.</a:t>
            </a:r>
          </a:p>
          <a:p>
            <a:r>
              <a:t>• En esta prueba el lector directo logra 100% sin ruido y 0% desde 5%; la salida conjunta de Hopfield obtiene 0%.</a:t>
            </a:r>
          </a:p>
          <a:p>
            <a:r>
              <a:t>• Los porcentajes son medias sobre 30 semillas; las barras DE 0 reflejan estos resultados observados, no una garantía.</a:t>
            </a:r>
          </a:p>
          <a:p>
            <a:r>
              <a:t>• Las entradas ya son matrices alineadas 37×37. Fotografías reales agregarían localización, perspectiva y binarización.</a:t>
            </a:r>
          </a:p>
          <a:p>
            <a:r>
              <a:t>• Una carta o QR nuevos requieren actualizar memorias y volver a comprobar estabilidad e interferencia.</a:t>
            </a:r>
          </a:p>
          <a:p>
            <a:r>
              <a:t>• Fuente: enunciado 2.1; runs/hopfield_qr/recall_repetitions.csv y summary.json; lector zxing-cpp.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6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20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22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3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Relationship Id="rId3" Type="http://schemas.openxmlformats.org/officeDocument/2006/relationships/image" Target="../media/image24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Relationship Id="rId3" Type="http://schemas.openxmlformats.org/officeDocument/2006/relationships/image" Target="../media/image2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828800"/>
            <a:ext cx="1261872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rPr sz="5800" b="1">
                <a:solidFill>
                  <a:srgbClr val="18242C"/>
                </a:solidFill>
                <a:latin typeface="Arial"/>
              </a:rPr>
              <a:t>Aprendizaje</a:t>
            </a:r>
          </a:p>
          <a:p>
            <a:pPr>
              <a:spcAft>
                <a:spcPts val="500"/>
              </a:spcAft>
              <a:defRPr sz="5800" b="1">
                <a:solidFill>
                  <a:srgbClr val="18242C"/>
                </a:solidFill>
                <a:latin typeface="Arial"/>
              </a:defRPr>
            </a:pPr>
            <a:r>
              <a:rPr sz="5800" b="1">
                <a:solidFill>
                  <a:srgbClr val="18242C"/>
                </a:solidFill>
                <a:latin typeface="Arial"/>
              </a:rPr>
              <a:t>no supervisado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123444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0">
                <a:solidFill>
                  <a:srgbClr val="176B72"/>
                </a:solidFill>
                <a:latin typeface="Arial"/>
              </a:defRPr>
            </a:pPr>
            <a:r>
              <a:rPr sz="2900" b="0">
                <a:solidFill>
                  <a:srgbClr val="176B72"/>
                </a:solidFill>
                <a:latin typeface="Arial"/>
              </a:rPr>
              <a:t>Perfiles de creadores y memoria asociativa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6217920"/>
            <a:ext cx="123444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rPr sz="2200" b="0">
                <a:solidFill>
                  <a:srgbClr val="5E6B73"/>
                </a:solidFill>
                <a:latin typeface="Arial"/>
              </a:rPr>
              <a:t>Trabajo Práctico 4 · SIA · ITBA · 2Q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6B72"/>
                </a:solidFill>
                <a:latin typeface="Arial"/>
              </a:defRPr>
            </a:pPr>
            <a:r>
              <a:rPr sz="2800" b="1">
                <a:solidFill>
                  <a:srgbClr val="176B72"/>
                </a:solidFill>
                <a:latin typeface="Arial"/>
              </a:rPr>
              <a:t>Ejercicio 1 · Creadores de contenido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8346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20240" y="28346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Representación, estandarización y PCA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88620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20240" y="388620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Mapa de Kohonen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493776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93776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Regla de Oja e índice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598932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1.4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20240" y="598932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Campañas y cambios de datos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0" y="1828800"/>
            <a:ext cx="63093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76B72"/>
                </a:solidFill>
                <a:latin typeface="Arial"/>
              </a:defRPr>
            </a:pPr>
            <a:r>
              <a:rPr sz="2800" b="1">
                <a:solidFill>
                  <a:srgbClr val="176B72"/>
                </a:solidFill>
                <a:latin typeface="Arial"/>
              </a:rPr>
              <a:t>Ejercicio 2 · Memoria asociativa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0" y="2834640"/>
            <a:ext cx="100584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A25D35"/>
                </a:solidFill>
                <a:latin typeface="Arial"/>
              </a:defRPr>
            </a:pPr>
            <a:r>
              <a:rPr sz="3000" b="1">
                <a:solidFill>
                  <a:srgbClr val="A25D35"/>
                </a:solidFill>
                <a:latin typeface="Arial"/>
              </a:rPr>
              <a:t>2.1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78240" y="2834640"/>
            <a:ext cx="521208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Hopfield: letras 5×5 y códigos QR 37×37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más seguidos publican contenidos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03</a:t>
            </a:r>
          </a:p>
        </p:txBody>
      </p:sp>
      <p:pic>
        <p:nvPicPr>
          <p:cNvPr id="6" name="Picture 5" descr="followers_topic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959125"/>
            <a:ext cx="13167360" cy="46771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Quitamos 4 variables redundantes y quedan 27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600" b="0">
                <a:solidFill>
                  <a:srgbClr val="5E6B73"/>
                </a:solidFill>
                <a:latin typeface="Arial"/>
              </a:defRPr>
            </a:pPr>
            <a:r>
              <a:rPr sz="9600" b="0">
                <a:solidFill>
                  <a:srgbClr val="5E6B73"/>
                </a:solidFill>
                <a:latin typeface="Arial"/>
              </a:rPr>
              <a:t>31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88920" y="2011680"/>
            <a:ext cx="1188720" cy="11887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000" b="0">
                <a:solidFill>
                  <a:srgbClr val="5E6B73"/>
                </a:solidFill>
                <a:latin typeface="Arial"/>
              </a:defRPr>
            </a:pPr>
            <a:r>
              <a:rPr sz="6000" b="0">
                <a:solidFill>
                  <a:srgbClr val="5E6B73"/>
                </a:solidFill>
                <a:latin typeface="Arial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931920" y="1828800"/>
            <a:ext cx="201168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9600" b="0">
                <a:solidFill>
                  <a:srgbClr val="176B72"/>
                </a:solidFill>
                <a:latin typeface="Arial"/>
              </a:defRPr>
            </a:pPr>
            <a:r>
              <a:rPr sz="9600" b="0">
                <a:solidFill>
                  <a:srgbClr val="176B72"/>
                </a:solidFill>
                <a:latin typeface="Arial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520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5E6B73"/>
                </a:solidFill>
                <a:latin typeface="Arial"/>
              </a:defRPr>
            </a:pPr>
            <a:r>
              <a:rPr sz="2200" b="0">
                <a:solidFill>
                  <a:srgbClr val="5E6B73"/>
                </a:solidFill>
                <a:latin typeface="Arial"/>
              </a:rPr>
              <a:t>numéricas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77639" y="3520440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76B72"/>
                </a:solidFill>
                <a:latin typeface="Arial"/>
              </a:defRPr>
            </a:pPr>
            <a:r>
              <a:rPr sz="2200" b="0">
                <a:solidFill>
                  <a:srgbClr val="176B72"/>
                </a:solidFill>
                <a:latin typeface="Arial"/>
              </a:rPr>
              <a:t>de entrada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19202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price_ars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0" y="19202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price_usd × 1500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28346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total_engagement_per_1000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0" y="28346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likes + comentarios + guardados + compartidos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3749039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estimated_argentina_reach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0" y="3749039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alcance × % argentino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4663440"/>
            <a:ext cx="39319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1">
                <a:solidFill>
                  <a:srgbClr val="18242C"/>
                </a:solidFill>
                <a:latin typeface="Arial"/>
              </a:defRPr>
            </a:pPr>
            <a:r>
              <a:rPr sz="1900" b="1">
                <a:solidFill>
                  <a:srgbClr val="18242C"/>
                </a:solidFill>
                <a:latin typeface="Arial"/>
              </a:rPr>
              <a:t>organic_posts_pct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0" y="4663440"/>
            <a:ext cx="393192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A25D35"/>
                </a:solidFill>
                <a:latin typeface="Arial"/>
              </a:defRPr>
            </a:pPr>
            <a:r>
              <a:rPr sz="1900" b="0">
                <a:solidFill>
                  <a:srgbClr val="A25D35"/>
                </a:solidFill>
                <a:latin typeface="Arial"/>
              </a:rPr>
              <a:t>100 − patrocinadas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612648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400" b="0">
                <a:solidFill>
                  <a:srgbClr val="176B72"/>
                </a:solidFill>
                <a:latin typeface="Arial"/>
              </a:defRPr>
            </a:pPr>
            <a:r>
              <a:rPr sz="2400" b="0">
                <a:solidFill>
                  <a:srgbClr val="176B72"/>
                </a:solidFill>
                <a:latin typeface="Arial"/>
              </a:rPr>
              <a:t>Tópicos y formatos quedan completos: suman 100% y pesan igual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Estandarizamos antes de comparar 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05</a:t>
            </a:r>
          </a:p>
        </p:txBody>
      </p:sp>
      <p:pic>
        <p:nvPicPr>
          <p:cNvPr id="6" name="Picture 5" descr="distribution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86108"/>
            <a:ext cx="13167360" cy="421730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400800"/>
            <a:ext cx="731520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176B72"/>
                </a:solidFill>
                <a:latin typeface="Arial"/>
              </a:defRPr>
            </a:pPr>
            <a:r>
              <a:rPr sz="3400" b="0">
                <a:solidFill>
                  <a:srgbClr val="176B72"/>
                </a:solidFill>
                <a:latin typeface="Arial"/>
              </a:rPr>
              <a:t>z = (x − μ) / σ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Dos componentes conservan el 58,9% de la varianza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06</a:t>
            </a:r>
          </a:p>
        </p:txBody>
      </p:sp>
      <p:pic>
        <p:nvPicPr>
          <p:cNvPr id="6" name="Picture 5" descr="pca_varia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444680"/>
            <a:ext cx="13167360" cy="52488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Kohonen y Oja reciben las 27 variables estandarizadas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1.1 Representación, estandarización y PCA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PC1 contrapone volumen y profundidad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07</a:t>
            </a:r>
          </a:p>
        </p:txBody>
      </p:sp>
      <p:pic>
        <p:nvPicPr>
          <p:cNvPr id="6" name="Picture 5" descr="pca_bipl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4246" y="1280160"/>
            <a:ext cx="12721907" cy="62179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Kohonen organiza perfiles por semejanza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08</a:t>
            </a:r>
          </a:p>
        </p:txBody>
      </p:sp>
      <p:pic>
        <p:nvPicPr>
          <p:cNvPr id="6" name="Picture 5" descr="som_neighborhoo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9011" y="1371600"/>
            <a:ext cx="6965977" cy="57607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1828800"/>
            <a:ext cx="4480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8242C"/>
                </a:solidFill>
                <a:latin typeface="Arial"/>
              </a:defRPr>
            </a:pPr>
            <a:r>
              <a:rPr sz="3200" b="0">
                <a:solidFill>
                  <a:srgbClr val="18242C"/>
                </a:solidFill>
                <a:latin typeface="Arial"/>
              </a:rPr>
              <a:t>27 variables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0" y="329184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0">
                <a:solidFill>
                  <a:srgbClr val="176B72"/>
                </a:solidFill>
                <a:latin typeface="Arial"/>
              </a:defRPr>
            </a:pPr>
            <a:r>
              <a:rPr sz="3200" b="0">
                <a:solidFill>
                  <a:srgbClr val="176B72"/>
                </a:solidFill>
                <a:latin typeface="Arial"/>
              </a:rPr>
              <a:t>w ← w + η(x − w)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0" y="4892040"/>
            <a:ext cx="47548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Ganadora y vecinas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Una tasa pequeña deja vecinas menos parecidas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09</a:t>
            </a:r>
          </a:p>
        </p:txBody>
      </p:sp>
      <p:pic>
        <p:nvPicPr>
          <p:cNvPr id="6" name="Picture 5" descr="som_et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Un radio mayor mezcla más los perfiles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10</a:t>
            </a:r>
          </a:p>
        </p:txBody>
      </p:sp>
      <p:pic>
        <p:nvPicPr>
          <p:cNvPr id="6" name="Picture 5" descr="som_radi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590" y="1554480"/>
            <a:ext cx="12791219" cy="53035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Un parámetro por vez · 30 semillas · media ± 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Elegimos 4×4: casi sin vacías y con la U más baja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11</a:t>
            </a:r>
          </a:p>
        </p:txBody>
      </p:sp>
      <p:pic>
        <p:nvPicPr>
          <p:cNvPr id="6" name="Picture 5" descr="som_siz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42081"/>
            <a:ext cx="13167360" cy="467111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675120"/>
            <a:ext cx="130759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4×4: 0,9 de 16 neuronas vacías (5,6%), U media mínima (2,108), unos 3 creadores por celda</a:t>
            </a:r>
          </a:p>
          <a:p>
            <a:pPr>
              <a:spcAft>
                <a:spcPts val="500"/>
              </a:spcAft>
              <a:defRPr sz="1900" b="0">
                <a:solidFill>
                  <a:srgbClr val="5E6B73"/>
                </a:solidFill>
                <a:latin typeface="Arial"/>
              </a:defRPr>
            </a:pPr>
            <a:r>
              <a:rPr sz="1900" b="0">
                <a:solidFill>
                  <a:srgbClr val="5E6B73"/>
                </a:solidFill>
                <a:latin typeface="Arial"/>
              </a:rPr>
              <a:t>3×3 mezcla 5,6 por celda; 5×5 y 6×6 dejan 12,9% y 23,7% vacías y la U sube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Contrastamos duración, topología e inicialización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12</a:t>
            </a:r>
          </a:p>
        </p:txBody>
      </p:sp>
      <p:pic>
        <p:nvPicPr>
          <p:cNvPr id="6" name="Picture 5" descr="som_des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75509"/>
            <a:ext cx="13167360" cy="438714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4×4 · hexagonal · muestras · η₀=0,9 · R=1 · 200 épocas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grilla reúne perfiles comerciales distintos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13</a:t>
            </a:r>
          </a:p>
        </p:txBody>
      </p:sp>
      <p:pic>
        <p:nvPicPr>
          <p:cNvPr id="6" name="Picture 5" descr="som_hi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5512" y="1371600"/>
            <a:ext cx="6315934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784080" y="18288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5 · Profundidad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242316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10 creadores · PC1 +4,83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347472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13 · Volumen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0" y="406908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9 creadores · PC1 −5,01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784080" y="512064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1">
                <a:solidFill>
                  <a:srgbClr val="18242C"/>
                </a:solidFill>
                <a:latin typeface="Arial"/>
              </a:defRPr>
            </a:pPr>
            <a:r>
              <a:rPr sz="2800" b="1">
                <a:solidFill>
                  <a:srgbClr val="18242C"/>
                </a:solidFill>
                <a:latin typeface="Arial"/>
              </a:rPr>
              <a:t>Celda 1 · Arte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0" y="5715000"/>
            <a:ext cx="44805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76B72"/>
                </a:solidFill>
                <a:latin typeface="Arial"/>
              </a:defRPr>
            </a:pPr>
            <a:r>
              <a:rPr sz="2300" b="0">
                <a:solidFill>
                  <a:srgbClr val="176B72"/>
                </a:solidFill>
                <a:latin typeface="Arial"/>
              </a:rPr>
              <a:t>2 creadores · PC2 +1,78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Ejemplo: semilla 42 · el color es el tópico dominante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matriz U localiza transiciones de perfil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14</a:t>
            </a:r>
          </a:p>
        </p:txBody>
      </p:sp>
      <p:pic>
        <p:nvPicPr>
          <p:cNvPr id="6" name="Picture 5" descr="som_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99347" y="1371600"/>
            <a:ext cx="6934024" cy="5852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418320" y="21945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76B72"/>
                </a:solidFill>
                <a:latin typeface="Arial"/>
              </a:defRPr>
            </a:pPr>
            <a:r>
              <a:rPr sz="2700" b="0">
                <a:solidFill>
                  <a:srgbClr val="176B72"/>
                </a:solidFill>
                <a:latin typeface="Arial"/>
              </a:rPr>
              <a:t>Uᵢ = media de ‖wᵢ − wⱼ‖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418320" y="3200400"/>
            <a:ext cx="4389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18242C"/>
                </a:solidFill>
                <a:latin typeface="Arial"/>
              </a:defRPr>
            </a:pPr>
            <a:r>
              <a:rPr sz="2200" b="0">
                <a:solidFill>
                  <a:srgbClr val="18242C"/>
                </a:solidFill>
                <a:latin typeface="Arial"/>
              </a:rPr>
              <a:t>j: vecinas de 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0" y="4206240"/>
            <a:ext cx="4572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200" b="0">
                <a:solidFill>
                  <a:srgbClr val="A25D35"/>
                </a:solidFill>
                <a:latin typeface="Arial"/>
              </a:defRPr>
            </a:pPr>
            <a:r>
              <a:rPr sz="2200" b="0">
                <a:solidFill>
                  <a:srgbClr val="A25D35"/>
                </a:solidFill>
                <a:latin typeface="Arial"/>
              </a:rPr>
              <a:t>Celdas 0 y 8: mayor U y PC1 de signo opuesto al de sus vecinas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Número grande: U, no cantidad de creadores · semilla 42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1.2 Mapa de Kohonen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 mapa de Kohonen ordena a los creadores como PCA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15</a:t>
            </a:r>
          </a:p>
        </p:txBody>
      </p:sp>
      <p:pic>
        <p:nvPicPr>
          <p:cNvPr id="6" name="Picture 5" descr="som_vs_pc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85900" y="1371600"/>
            <a:ext cx="11658599" cy="4663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22960" y="6172200"/>
            <a:ext cx="129844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PC1 por fila, de arriba abajo: +1,4  +1,9  −1,0  −2,7</a:t>
            </a:r>
          </a:p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PC2: +0,8  +0,2  −0,5  −0,9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7178040"/>
            <a:ext cx="129844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800" b="0">
                <a:solidFill>
                  <a:srgbClr val="5E6B73"/>
                </a:solidFill>
                <a:latin typeface="Arial"/>
              </a:defRPr>
            </a:pPr>
            <a:r>
              <a:rPr sz="1800" b="0">
                <a:solidFill>
                  <a:srgbClr val="5E6B73"/>
                </a:solidFill>
                <a:latin typeface="Arial"/>
              </a:rPr>
              <a:t>Entrenado con 27 variables, no con PC: confirmación independiente; otras componentes también cuentan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1.3 Regla de Oja e 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Oja aproxima la primera componente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16</a:t>
            </a:r>
          </a:p>
        </p:txBody>
      </p:sp>
      <p:pic>
        <p:nvPicPr>
          <p:cNvPr id="6" name="Picture 5" descr="oja_weigh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957027"/>
            <a:ext cx="9601200" cy="4864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515600" y="2331720"/>
            <a:ext cx="36576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300" b="1">
                <a:solidFill>
                  <a:srgbClr val="176B72"/>
                </a:solidFill>
                <a:latin typeface="Arial"/>
              </a:defRPr>
            </a:pPr>
            <a:r>
              <a:rPr sz="4300" b="1">
                <a:solidFill>
                  <a:srgbClr val="176B72"/>
                </a:solidFill>
                <a:latin typeface="Arial"/>
              </a:rPr>
              <a:t>0,999891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3291840"/>
            <a:ext cx="36576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600" b="0">
                <a:solidFill>
                  <a:srgbClr val="18242C"/>
                </a:solidFill>
                <a:latin typeface="Arial"/>
              </a:defRPr>
            </a:pPr>
            <a:r>
              <a:rPr sz="2600" b="0">
                <a:solidFill>
                  <a:srgbClr val="18242C"/>
                </a:solidFill>
                <a:latin typeface="Arial"/>
              </a:rPr>
              <a:t>± 0,000039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4389120"/>
            <a:ext cx="3657600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5E6B73"/>
                </a:solidFill>
                <a:latin typeface="Arial"/>
              </a:defRPr>
            </a:pPr>
            <a:r>
              <a:rPr sz="2300" b="0">
                <a:solidFill>
                  <a:srgbClr val="5E6B73"/>
                </a:solidFill>
                <a:latin typeface="Arial"/>
              </a:rPr>
              <a:t>Coseno con PC1</a:t>
            </a:r>
          </a:p>
          <a:p>
            <a:pPr>
              <a:spcAft>
                <a:spcPts val="500"/>
              </a:spcAft>
              <a:defRPr sz="2300" b="0">
                <a:solidFill>
                  <a:srgbClr val="5E6B73"/>
                </a:solidFill>
                <a:latin typeface="Arial"/>
              </a:defRPr>
            </a:pPr>
            <a:r>
              <a:rPr sz="2300" b="0">
                <a:solidFill>
                  <a:srgbClr val="5E6B73"/>
                </a:solidFill>
                <a:latin typeface="Arial"/>
              </a:rPr>
              <a:t>30 semillas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1.3 Regla de Oja e índice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El índice ordena un eje de variación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17</a:t>
            </a:r>
          </a:p>
        </p:txBody>
      </p:sp>
      <p:pic>
        <p:nvPicPr>
          <p:cNvPr id="6" name="Picture 5" descr="oja_scor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651946"/>
            <a:ext cx="9875520" cy="5291467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698480" y="2423160"/>
            <a:ext cx="3383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8242C"/>
                </a:solidFill>
                <a:latin typeface="Arial"/>
              </a:defRPr>
            </a:pPr>
            <a:r>
              <a:rPr sz="2900" b="1">
                <a:solidFill>
                  <a:srgbClr val="18242C"/>
                </a:solidFill>
                <a:latin typeface="Arial"/>
              </a:rPr>
              <a:t>Top 5 estable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0" y="3429000"/>
            <a:ext cx="3383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4400" b="0">
                <a:solidFill>
                  <a:srgbClr val="176B72"/>
                </a:solidFill>
                <a:latin typeface="Arial"/>
              </a:defRPr>
            </a:pPr>
            <a:r>
              <a:rPr sz="4400" b="0">
                <a:solidFill>
                  <a:srgbClr val="176B72"/>
                </a:solidFill>
                <a:latin typeface="Arial"/>
              </a:rPr>
              <a:t>30/30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98480" y="4480560"/>
            <a:ext cx="3383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300" b="0">
                <a:solidFill>
                  <a:srgbClr val="18242C"/>
                </a:solidFill>
                <a:latin typeface="Arial"/>
              </a:defRPr>
            </a:pPr>
            <a:r>
              <a:rPr sz="2300" b="0">
                <a:solidFill>
                  <a:srgbClr val="18242C"/>
                </a:solidFill>
                <a:latin typeface="Arial"/>
              </a:rPr>
              <a:t>entrenamientos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Para fútbol priorizamos profundidad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18</a:t>
            </a:r>
          </a:p>
        </p:txBody>
      </p:sp>
      <p:pic>
        <p:nvPicPr>
          <p:cNvPr id="6" name="Picture 5" descr="football_profil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3149"/>
            <a:ext cx="13167360" cy="45347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Candidatos con ≥40% de fútbol · ejemplo de la semilla 42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Cada campaña exige su propia selección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19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82880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Perros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@mundoanimal.ar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@ideasconhuella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190195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@adoptafelicidad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306324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Fútbol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918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@pasionalbirroja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9494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@futbolentrepases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07040" y="313639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@pasiondepotrero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60" y="429768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Belleza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918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@reelargentino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@cosmeticaconsciente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07040" y="437083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@brochasymates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532120"/>
            <a:ext cx="2194560" cy="5943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900" b="1">
                <a:solidFill>
                  <a:srgbClr val="176B72"/>
                </a:solidFill>
                <a:latin typeface="Arial"/>
              </a:defRPr>
            </a:pPr>
            <a:r>
              <a:rPr sz="2900" b="1">
                <a:solidFill>
                  <a:srgbClr val="176B72"/>
                </a:solidFill>
                <a:latin typeface="Arial"/>
              </a:rPr>
              <a:t>Arte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918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@colorenmovimiento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@creatividadaldia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5605272"/>
            <a:ext cx="365760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900" b="0">
                <a:solidFill>
                  <a:srgbClr val="18242C"/>
                </a:solidFill>
                <a:latin typeface="Arial"/>
              </a:defRPr>
            </a:pPr>
            <a:r>
              <a:rPr sz="1900" b="0">
                <a:solidFill>
                  <a:srgbClr val="18242C"/>
                </a:solidFill>
                <a:latin typeface="Arial"/>
              </a:rPr>
              <a:t>@arteentusmanos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1: Creadores de contenido · 1.4 Campañas y cambios de datos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cambios de datos obligan a revisar el análisis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19456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8242C"/>
                </a:solidFill>
                <a:latin typeface="Arial"/>
              </a:defRPr>
            </a:pPr>
            <a:r>
              <a:rPr sz="3000" b="1">
                <a:solidFill>
                  <a:srgbClr val="18242C"/>
                </a:solidFill>
                <a:latin typeface="Arial"/>
              </a:rPr>
              <a:t>Campaña nueva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897880" y="219456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5E6B73"/>
                </a:solidFill>
                <a:latin typeface="Arial"/>
              </a:defRPr>
            </a:pPr>
            <a:r>
              <a:rPr sz="3400" b="0">
                <a:solidFill>
                  <a:srgbClr val="5E6B73"/>
                </a:solidFill>
                <a:latin typeface="Arial"/>
              </a:rPr>
              <a:t>→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0" y="219456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76B72"/>
                </a:solidFill>
                <a:latin typeface="Arial"/>
              </a:defRPr>
            </a:pPr>
            <a:r>
              <a:rPr sz="2800" b="0">
                <a:solidFill>
                  <a:srgbClr val="176B72"/>
                </a:solidFill>
                <a:latin typeface="Arial"/>
              </a:rPr>
              <a:t>Revisar objetivo y criterios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3749039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8242C"/>
                </a:solidFill>
                <a:latin typeface="Arial"/>
              </a:defRPr>
            </a:pPr>
            <a:r>
              <a:rPr sz="3000" b="1">
                <a:solidFill>
                  <a:srgbClr val="18242C"/>
                </a:solidFill>
                <a:latin typeface="Arial"/>
              </a:rPr>
              <a:t>Datos actualizados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97880" y="3749039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5E6B73"/>
                </a:solidFill>
                <a:latin typeface="Arial"/>
              </a:defRPr>
            </a:pPr>
            <a:r>
              <a:rPr sz="3400" b="0">
                <a:solidFill>
                  <a:srgbClr val="5E6B73"/>
                </a:solidFill>
                <a:latin typeface="Arial"/>
              </a:rPr>
              <a:t>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3749039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76B72"/>
                </a:solidFill>
                <a:latin typeface="Arial"/>
              </a:defRPr>
            </a:pPr>
            <a:r>
              <a:rPr sz="2800" b="0">
                <a:solidFill>
                  <a:srgbClr val="176B72"/>
                </a:solidFill>
                <a:latin typeface="Arial"/>
              </a:rPr>
              <a:t>Revisar escalas y entrenamientos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5303520"/>
            <a:ext cx="47548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000" b="1">
                <a:solidFill>
                  <a:srgbClr val="18242C"/>
                </a:solidFill>
                <a:latin typeface="Arial"/>
              </a:defRPr>
            </a:pPr>
            <a:r>
              <a:rPr sz="3000" b="1">
                <a:solidFill>
                  <a:srgbClr val="18242C"/>
                </a:solidFill>
                <a:latin typeface="Arial"/>
              </a:rPr>
              <a:t>Variables nuevas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897880" y="5303520"/>
            <a:ext cx="91440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400" b="0">
                <a:solidFill>
                  <a:srgbClr val="5E6B73"/>
                </a:solidFill>
                <a:latin typeface="Arial"/>
              </a:defRPr>
            </a:pPr>
            <a:r>
              <a:rPr sz="3400" b="0">
                <a:solidFill>
                  <a:srgbClr val="5E6B73"/>
                </a:solidFill>
                <a:latin typeface="Arial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5303520"/>
            <a:ext cx="64008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800" b="0">
                <a:solidFill>
                  <a:srgbClr val="176B72"/>
                </a:solidFill>
                <a:latin typeface="Arial"/>
              </a:defRPr>
            </a:pPr>
            <a:r>
              <a:rPr sz="2800" b="0">
                <a:solidFill>
                  <a:srgbClr val="176B72"/>
                </a:solidFill>
                <a:latin typeface="Arial"/>
              </a:rPr>
              <a:t>Repetir representación y modelos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Primero almacenamos cuatro letras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21</a:t>
            </a:r>
          </a:p>
        </p:txBody>
      </p:sp>
      <p:pic>
        <p:nvPicPr>
          <p:cNvPr id="6" name="Picture 5" descr="hopfield_letters__stor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529053"/>
            <a:ext cx="13533120" cy="5674413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semejanza entre recuerdos cambia su estabilidad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22</a:t>
            </a:r>
          </a:p>
        </p:txBody>
      </p:sp>
      <p:pic>
        <p:nvPicPr>
          <p:cNvPr id="6" name="Picture 5" descr="letters_do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5785" y="1417320"/>
            <a:ext cx="12098828" cy="55778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G,R,T,V: 4/4 estables · H,M,N,W: 1/4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recuperación cae al aumentar el ruido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23</a:t>
            </a:r>
          </a:p>
        </p:txBody>
      </p:sp>
      <p:pic>
        <p:nvPicPr>
          <p:cNvPr id="6" name="Picture 5" descr="letters_nois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6500" y="1508760"/>
            <a:ext cx="12217400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30 semillas · media ± DE · 50 consultas por letra y nivel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energía puede bajar hacia un espurio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24</a:t>
            </a:r>
          </a:p>
        </p:txBody>
      </p:sp>
      <p:pic>
        <p:nvPicPr>
          <p:cNvPr id="6" name="Picture 5" descr="letters_spuriou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203938"/>
            <a:ext cx="13167360" cy="437036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Consulta de G con 10 bits invertidos · semilla 42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La capacidad depende también de los patrones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25</a:t>
            </a:r>
          </a:p>
        </p:txBody>
      </p:sp>
      <p:pic>
        <p:nvPicPr>
          <p:cNvPr id="6" name="Picture 5" descr="letters_capac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5028" y="1463040"/>
            <a:ext cx="12540342" cy="54864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200 subconjuntos por cantidad · 30 semillas · media ± DE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Usamos los cinco QR originales de 37×37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26</a:t>
            </a:r>
          </a:p>
        </p:txBody>
      </p:sp>
      <p:pic>
        <p:nvPicPr>
          <p:cNvPr id="6" name="Picture 5" descr="qr_origina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2320560"/>
            <a:ext cx="13167360" cy="2856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68680" y="6080760"/>
            <a:ext cx="129844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600" b="0">
                <a:solidFill>
                  <a:srgbClr val="176B72"/>
                </a:solidFill>
                <a:latin typeface="Arial"/>
              </a:defRPr>
            </a:pPr>
            <a:r>
              <a:rPr sz="3600" b="0">
                <a:solidFill>
                  <a:srgbClr val="176B72"/>
                </a:solidFill>
                <a:latin typeface="Arial"/>
              </a:rPr>
              <a:t>37×37 → 1369 estados ±1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6995160"/>
            <a:ext cx="128016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500" b="0">
                <a:solidFill>
                  <a:srgbClr val="18242C"/>
                </a:solidFill>
                <a:latin typeface="Arial"/>
              </a:defRPr>
            </a:pPr>
            <a:r>
              <a:rPr sz="2500" b="0">
                <a:solidFill>
                  <a:srgbClr val="18242C"/>
                </a:solidFill>
                <a:latin typeface="Arial"/>
              </a:rPr>
              <a:t>P: 5×1369     W: 1369×1369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Los QR comparten una similitud alta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27</a:t>
            </a:r>
          </a:p>
        </p:txBody>
      </p:sp>
      <p:pic>
        <p:nvPicPr>
          <p:cNvPr id="6" name="Picture 5" descr="qr_similarit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38896" y="1371599"/>
            <a:ext cx="6557647" cy="60350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9144000" y="2240280"/>
            <a:ext cx="457200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6200" b="1">
                <a:solidFill>
                  <a:srgbClr val="176B72"/>
                </a:solidFill>
                <a:latin typeface="Arial"/>
              </a:defRPr>
            </a:pPr>
            <a:r>
              <a:rPr sz="6200" b="1">
                <a:solidFill>
                  <a:srgbClr val="176B72"/>
                </a:solidFill>
                <a:latin typeface="Arial"/>
              </a:rPr>
              <a:t>0,6701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3566160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rPr sz="2700" b="0">
                <a:solidFill>
                  <a:srgbClr val="18242C"/>
                </a:solidFill>
                <a:latin typeface="Arial"/>
              </a:rPr>
              <a:t>Similitud media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95360" y="4983480"/>
            <a:ext cx="5486400" cy="10972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700" b="0">
                <a:solidFill>
                  <a:srgbClr val="18242C"/>
                </a:solidFill>
                <a:latin typeface="Arial"/>
              </a:defRPr>
            </a:pPr>
            <a:r>
              <a:rPr sz="2700" b="0">
                <a:solidFill>
                  <a:srgbClr val="18242C"/>
                </a:solidFill>
                <a:latin typeface="Arial"/>
              </a:rPr>
              <a:t>sᵘᵛ = (ξᵘ·ξᵛ) / (37·37)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Cinco QR juntos pierden el recuerdo consultado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28</a:t>
            </a:r>
          </a:p>
        </p:txBody>
      </p:sp>
      <p:pic>
        <p:nvPicPr>
          <p:cNvPr id="6" name="Picture 5" descr="qr_fail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86224"/>
            <a:ext cx="13167360" cy="4365711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0% de recuperación exacta · 33.000 consultas conjuntas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Al reducir la carga, estos QR sí se recuperan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29</a:t>
            </a:r>
          </a:p>
        </p:txBody>
      </p:sp>
      <p:pic>
        <p:nvPicPr>
          <p:cNvPr id="6" name="Picture 5" descr="qr_control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892043"/>
            <a:ext cx="13167360" cy="481127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Mismos originales, distinta cantidad almacenada por red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109728"/>
            <a:ext cx="132588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500" b="0">
                <a:solidFill>
                  <a:srgbClr val="5E6B73"/>
                </a:solidFill>
                <a:latin typeface="Arial"/>
              </a:defRPr>
            </a:pPr>
            <a:r>
              <a:rPr sz="1500" b="0">
                <a:solidFill>
                  <a:srgbClr val="5E6B73"/>
                </a:solidFill>
                <a:latin typeface="Arial"/>
              </a:rPr>
              <a:t>Ejercicio 2: Memoria asociativa · 2.1 Hopfield: letras 5×5 y códigos QR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411480"/>
            <a:ext cx="1325880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3200" b="1">
                <a:solidFill>
                  <a:srgbClr val="18242C"/>
                </a:solidFill>
                <a:latin typeface="Arial"/>
              </a:defRPr>
            </a:pPr>
            <a:r>
              <a:rPr sz="3200" b="1">
                <a:solidFill>
                  <a:srgbClr val="18242C"/>
                </a:solidFill>
                <a:latin typeface="Arial"/>
              </a:rPr>
              <a:t>Recuperar el patrón y leer la URL son pruebas distintas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" y="7818120"/>
            <a:ext cx="274320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1200" b="0">
                <a:solidFill>
                  <a:srgbClr val="5E6B73"/>
                </a:solidFill>
                <a:latin typeface="Arial"/>
              </a:defRPr>
            </a:pPr>
            <a:r>
              <a:rPr sz="1200" b="0">
                <a:solidFill>
                  <a:srgbClr val="5E6B73"/>
                </a:solidFill>
                <a:latin typeface="Arial"/>
              </a:rPr>
              <a:t>TP4 · Grupo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441680" y="7772400"/>
            <a:ext cx="5486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spcAft>
                <a:spcPts val="500"/>
              </a:spcAft>
              <a:defRPr sz="1300" b="0">
                <a:solidFill>
                  <a:srgbClr val="5E6B73"/>
                </a:solidFill>
                <a:latin typeface="Arial"/>
              </a:defRPr>
            </a:pPr>
            <a:r>
              <a:rPr sz="1300" b="0">
                <a:solidFill>
                  <a:srgbClr val="5E6B73"/>
                </a:solidFill>
                <a:latin typeface="Arial"/>
              </a:rPr>
              <a:t>30</a:t>
            </a:r>
          </a:p>
        </p:txBody>
      </p:sp>
      <p:pic>
        <p:nvPicPr>
          <p:cNvPr id="6" name="Picture 5" descr="qr_reade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587558"/>
            <a:ext cx="13167360" cy="5420243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7269480"/>
            <a:ext cx="1298448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500"/>
              </a:spcAft>
              <a:defRPr sz="2000" b="0">
                <a:solidFill>
                  <a:srgbClr val="5E6B73"/>
                </a:solidFill>
                <a:latin typeface="Arial"/>
              </a:defRPr>
            </a:pPr>
            <a:r>
              <a:rPr sz="2000" b="0">
                <a:solidFill>
                  <a:srgbClr val="5E6B73"/>
                </a:solidFill>
                <a:latin typeface="Arial"/>
              </a:rPr>
              <a:t>Matrices alineadas de 37×37; fotografías reales quedan fuera de esta prueba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TP4 · Aprendizaje no supervisado</dc:title>
  <dc:subject>Creadores de contenido y memoria asociativa</dc:subject>
  <dc:creator>Grupo 3 · SIA · ITBA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