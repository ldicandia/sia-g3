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98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8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FFD9D0"/>
                </a:solidFill>
                <a:latin typeface="Calibri"/>
              </a:rPr>
              <a:t>Aprendizaje No Supervisado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100584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Trabajo Práctico N°4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058400" cy="1463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F6E9E6"/>
                </a:solidFill>
                <a:latin typeface="Calibri"/>
              </a:rPr>
              <a:t>Campañas de marketing (PCA, Kohonen y Oja)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F6E9E6"/>
                </a:solidFill>
                <a:latin typeface="Calibri"/>
              </a:rPr>
              <a:t>Memoria asociativa (Hopfield)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>
                <a:solidFill>
                  <a:srgbClr val="F6E9E6"/>
                </a:solidFill>
                <a:latin typeface="Calibri"/>
              </a:rPr>
              <a:t>Integrantes: Di Candia, Lucas · [completar con el resto del grupo]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669280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B59A97"/>
                </a:solidFill>
                <a:latin typeface="Calibri"/>
              </a:rPr>
              <a:t>2Q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Tabla de Contenidos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30175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Datos, EDA y PCA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59" y="2057400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788920"/>
            <a:ext cx="30175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Red de Kohonen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0" y="2057400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30175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Regla de Oja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297679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30175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Decisión para las campañas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09159" y="4297679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59" y="5029200"/>
            <a:ext cx="30175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Memoria asociativa: Hopfield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977639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4297679"/>
            <a:ext cx="292608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8A75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5029200"/>
            <a:ext cx="30175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D9D0"/>
                </a:solidFill>
                <a:latin typeface="Calibri"/>
              </a:rPr>
              <a:t>Conclusiones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Datos, EDA y PCA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Los datos: 50 creadores, 33 columnas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468879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542032"/>
            <a:ext cx="2377440" cy="6144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creadores de contenido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1828800"/>
            <a:ext cx="2468879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42032"/>
            <a:ext cx="2377440" cy="6144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columnas, ninguna celda faltante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265176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2468879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542032"/>
            <a:ext cx="2377440" cy="6144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variables independientes seleccionadas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737360"/>
            <a:ext cx="2286000" cy="146304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81160" y="1828800"/>
            <a:ext cx="2103120" cy="7315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542032"/>
            <a:ext cx="2011680" cy="6144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clientes de la agencia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74720"/>
            <a:ext cx="10820095" cy="274320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3611879"/>
            <a:ext cx="10454335" cy="2468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Perfil comercial: </a:t>
            </a:r>
            <a:r>
              <a:rPr sz="1700" b="0">
                <a:solidFill>
                  <a:srgbClr val="F6E9E6"/>
                </a:solidFill>
                <a:latin typeface="Calibri"/>
              </a:rPr>
              <a:t>seguidores, alcance, precio, publicaciones patrocinadas.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Audiencia: </a:t>
            </a:r>
            <a:r>
              <a:rPr sz="1700" b="0">
                <a:solidFill>
                  <a:srgbClr val="F6E9E6"/>
                </a:solidFill>
                <a:latin typeface="Calibri"/>
              </a:rPr>
              <a:t>porcentaje argentino, alcance de no seguidores, interacción por mil cuentas.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Contenido: </a:t>
            </a:r>
            <a:r>
              <a:rPr sz="1700" b="0">
                <a:solidFill>
                  <a:srgbClr val="F6E9E6"/>
                </a:solidFill>
                <a:latin typeface="Calibri"/>
              </a:rPr>
              <a:t>tópico (fútbol, maquillaje, perros, arte), tipo (tutorial, reseña, entretenimiento) y formato.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Outliers: </a:t>
            </a:r>
            <a:r>
              <a:rPr sz="1700" b="0">
                <a:solidFill>
                  <a:srgbClr val="F6E9E6"/>
                </a:solidFill>
                <a:latin typeface="Calibri"/>
              </a:rPr>
              <a:t>33 celdas atípicas en 25 creadores (sobre todo especialistas en arte o maquillaje). Se reportan y se conservan: no son errores.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Qué se descarta: </a:t>
            </a:r>
            <a:r>
              <a:rPr sz="1700" b="0">
                <a:solidFill>
                  <a:srgbClr val="F6E9E6"/>
                </a:solidFill>
                <a:latin typeface="Calibri"/>
              </a:rPr>
              <a:t>6 columnas que son combinaciones exactas de otras (precio en ARS, interacción total, alcance estimado, orgánico, arte y showcase). El arte no desaparece: se reconstruye como 100 menos los otros tres tópicos.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Selección de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25 variables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De 31 columnas numéricas se descartan 6 que son combinaciones exactas de otras.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El conjunto seleccionado tiene rango 25 de 25: ninguna combinación lineal exacta sobrevive.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escalas difieren unas 148 mil veces (followers vs comments_per_1000): hay que estandarizar.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69904" y="1645920"/>
            <a:ext cx="5120966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eda__correlation_heatmap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1344" y="1737360"/>
            <a:ext cx="493808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PCA: varianza explicada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Scree plot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PC1: </a:t>
            </a:r>
            <a:r>
              <a:rPr sz="1700" b="0">
                <a:solidFill>
                  <a:srgbClr val="F6E9E6"/>
                </a:solidFill>
                <a:latin typeface="Calibri"/>
              </a:rPr>
              <a:t>53,2%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PC1 + PC2: </a:t>
            </a:r>
            <a:r>
              <a:rPr sz="1700" b="0">
                <a:solidFill>
                  <a:srgbClr val="F6E9E6"/>
                </a:solidFill>
                <a:latin typeface="Calibri"/>
              </a:rPr>
              <a:t>61,1%.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Una componente concentra más de la mitad, pero con dos no alcanza para representar a los creadores.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2021209"/>
            <a:ext cx="6293815" cy="38214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pca_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112649"/>
            <a:ext cx="6110935" cy="36385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Interpretación de PC1 y PC2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66654" y="1645920"/>
            <a:ext cx="5560707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pca_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094" y="1737360"/>
            <a:ext cx="5377827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82535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65415" y="1828800"/>
            <a:ext cx="365760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Biplot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PC1: </a:t>
            </a:r>
            <a:r>
              <a:rPr sz="1600" b="0">
                <a:solidFill>
                  <a:srgbClr val="F6E9E6"/>
                </a:solidFill>
                <a:latin typeface="Calibri"/>
              </a:rPr>
              <a:t>de audiencia grande y video corto de tendencia a audiencia chica, epígrafes largos y contenido didáctico.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PC2: </a:t>
            </a:r>
            <a:r>
              <a:rPr sz="1600" b="0">
                <a:solidFill>
                  <a:srgbClr val="F6E9E6"/>
                </a:solidFill>
                <a:latin typeface="Calibri"/>
              </a:rPr>
              <a:t>mezcla audiencia argentina y tópico.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PC1 separa tamaño y estilo, no tópicos.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¿Estandarizar? ¿Reducir dimensión?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01. Datos, EDA y PCA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Entrada de Kohonen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Sin estandarizar, la PCA solo mide la escala de cada variable.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Con dos componentes se explica apenas 61,1%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Decisión: </a:t>
            </a:r>
            <a:r>
              <a:rPr sz="1700" b="0">
                <a:solidFill>
                  <a:srgbClr val="F6E9E6"/>
                </a:solidFill>
                <a:latin typeface="Calibri"/>
              </a:rPr>
              <a:t>Kohonen se entrena con las 25 variables estandarizadas, no con componentes principales.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075654"/>
            <a:ext cx="6110935" cy="37125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pca_scaling_sweep__standardize-false_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167094"/>
            <a:ext cx="5928055" cy="352965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Red de Kohonen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Configuración elegida por regla, no a mano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77081"/>
            <a:ext cx="5577840" cy="450967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m_sweep__sweep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68521"/>
            <a:ext cx="5394959" cy="43267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0" y="1691640"/>
            <a:ext cx="2468880" cy="137160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78308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2,1214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446020"/>
            <a:ext cx="219456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error de cuantización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691640"/>
            <a:ext cx="2286000" cy="1371600"/>
          </a:xfrm>
          <a:prstGeom prst="roundRect">
            <a:avLst>
              <a:gd name="adj" fmla="val 10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0" y="1783080"/>
            <a:ext cx="210312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8A75"/>
                </a:solidFill>
                <a:latin typeface="Calibri"/>
              </a:rPr>
              <a:t>0,0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446020"/>
            <a:ext cx="201168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6E9E6"/>
                </a:solidFill>
                <a:latin typeface="Calibri"/>
              </a:rPr>
              <a:t>error topográfico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246120"/>
            <a:ext cx="4937760" cy="297180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3383279"/>
            <a:ext cx="4572000" cy="2697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0">
                <a:solidFill>
                  <a:srgbClr val="F6E9E6"/>
                </a:solidFill>
                <a:latin typeface="Calibri"/>
              </a:rPr>
              <a:t>Mapa hexagonal de 64 neuronas con vecindad escalón; una regla fija se aplica sobre dos barridos de hiperparámetros.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0">
                <a:solidFill>
                  <a:srgbClr val="F6E9E6"/>
                </a:solidFill>
                <a:latin typeface="Calibri"/>
              </a:rPr>
              <a:t>Cuidado: queda en el borde del umbral de neuronas vacías; con otro umbral la regla podría elegir otro mapa.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Entrenamiento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384048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47472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Curvas de entrenamiento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QE: </a:t>
            </a:r>
            <a:r>
              <a:rPr sz="1700" b="0">
                <a:solidFill>
                  <a:srgbClr val="F6E9E6"/>
                </a:solidFill>
                <a:latin typeface="Calibri"/>
              </a:rPr>
              <a:t>baja de 3,90 en la época 1 a 2,12 y se estabiliza en las últimas 100 épocas.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Error topográfico: </a:t>
            </a:r>
            <a:r>
              <a:rPr sz="1700" b="0">
                <a:solidFill>
                  <a:srgbClr val="F6E9E6"/>
                </a:solidFill>
                <a:latin typeface="Calibri"/>
              </a:rPr>
              <a:t>llega a 0 y se queda ahí.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4920" y="1645919"/>
            <a:ext cx="5128054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om_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6360" y="1737359"/>
            <a:ext cx="4945174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Regiones del mapa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3 regiones contiguas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Región 1 (21): </a:t>
            </a:r>
            <a:r>
              <a:rPr sz="1600" b="0">
                <a:solidFill>
                  <a:srgbClr val="F6E9E6"/>
                </a:solidFill>
                <a:latin typeface="Calibri"/>
              </a:rPr>
              <a:t>engagement profundo, audiencia chica.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Región 2 (18): </a:t>
            </a:r>
            <a:r>
              <a:rPr sz="1600" b="0">
                <a:solidFill>
                  <a:srgbClr val="F6E9E6"/>
                </a:solidFill>
                <a:latin typeface="Calibri"/>
              </a:rPr>
              <a:t>intermedio y mezclado.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Región 3 (11): </a:t>
            </a:r>
            <a:r>
              <a:rPr sz="1600" b="0">
                <a:solidFill>
                  <a:srgbClr val="F6E9E6"/>
                </a:solidFill>
                <a:latin typeface="Calibri"/>
              </a:rPr>
              <a:t>alcance masivo, video y entretenimiento.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La separación es real pero moderada: 32 de las 64 neuronas están vacías.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173" y="1645920"/>
            <a:ext cx="602842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om__reg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613" y="1737360"/>
            <a:ext cx="58455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Matriz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Lectura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Distancia alta entre vecinas: </a:t>
            </a:r>
            <a:r>
              <a:rPr sz="1700" b="0">
                <a:solidFill>
                  <a:srgbClr val="F6E9E6"/>
                </a:solidFill>
                <a:latin typeface="Calibri"/>
              </a:rPr>
              <a:t>frontera entre grupos.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Distancia baja: </a:t>
            </a:r>
            <a:r>
              <a:rPr sz="1700" b="0">
                <a:solidFill>
                  <a:srgbClr val="F6E9E6"/>
                </a:solidFill>
                <a:latin typeface="Calibri"/>
              </a:rPr>
              <a:t>zona homogénea de creadores parecidos.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fronteras de las regiones siguen las paredes más altas, pero no todas: la distancia a través de ellas es 1,57 veces la media interna.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01256" y="1645920"/>
            <a:ext cx="6058262" cy="45719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om__u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696" y="1737360"/>
            <a:ext cx="5875382" cy="438911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Perfil de cada región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915037"/>
            <a:ext cx="10820095" cy="29364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m__regio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2006477"/>
            <a:ext cx="10637215" cy="275360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Media estandarizada de cada variable por región: la región 3 concentra alcance y video; la región 1, engagement profundo y audiencia chica.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Planos de componentes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8334" y="1645920"/>
            <a:ext cx="486022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m__component_pl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9774" y="1737360"/>
            <a:ext cx="4677345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65415" y="1691640"/>
            <a:ext cx="384048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48295" y="1828800"/>
            <a:ext cx="347472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Una variable por plano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variables de un bloque casi colineal dibujan el mismo plano.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Lo que ordena el mapa es el eje alcance y video contra engagement profundo: el mismo PC1 de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¿Coinciden las regiones con PC1 y PC2?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Sí, con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PC1: </a:t>
            </a:r>
            <a:r>
              <a:rPr sz="1700" b="0">
                <a:solidFill>
                  <a:srgbClr val="F6E9E6"/>
                </a:solidFill>
                <a:latin typeface="Calibri"/>
              </a:rPr>
              <a:t>explica 0,8314 de la diferencia entre regiones.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PC2: </a:t>
            </a:r>
            <a:r>
              <a:rPr sz="1700" b="0">
                <a:solidFill>
                  <a:srgbClr val="F6E9E6"/>
                </a:solidFill>
                <a:latin typeface="Calibri"/>
              </a:rPr>
              <a:t>solo 0,2066.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Las regiones siguen el eje de tamaño y estilo, y casi nada el de tópico.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72828" y="1645920"/>
            <a:ext cx="591511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om__biplot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68" y="1737360"/>
            <a:ext cx="573223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Mapa de control sobre componentes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02. Red de Kohonen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1547" y="1600200"/>
            <a:ext cx="7488599" cy="3840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m_pca_control__control_region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987" y="1691640"/>
            <a:ext cx="7305719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550408"/>
            <a:ext cx="10820095" cy="71323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54335" cy="71323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Entrenando con 6 componentes principales (83,0% de la varianza) en vez de las variables se obtienen casi las mismas regiones (ARI = 0,748; 44 de 50 creadores quedan en la misma región): la conclusión de 1.1 no cambia.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Regla de Oja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Oja converge al mismo eje que PC1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03. Regla de Oja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Pesos de Oja vs carga de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Coseno con PC1: </a:t>
            </a:r>
            <a:r>
              <a:rPr sz="1600" b="0">
                <a:solidFill>
                  <a:srgbClr val="F6E9E6"/>
                </a:solidFill>
                <a:latin typeface="Calibri"/>
              </a:rPr>
              <a:t>0,999993.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Correlación del índice con PC1: </a:t>
            </a:r>
            <a:r>
              <a:rPr sz="1600" b="0">
                <a:solidFill>
                  <a:srgbClr val="F6E9E6"/>
                </a:solidFill>
                <a:latin typeface="Calibri"/>
              </a:rPr>
              <a:t>0,999999.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La tasa η0 = 0,0005 salió de una regla registrada que no mira PC1.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6170" y="1645920"/>
            <a:ext cx="413131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oja__weights_vs_p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610" y="1737360"/>
            <a:ext cx="3948433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¿Qué mide el índice?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03. Regla de Oja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3992" y="1645920"/>
            <a:ext cx="5463149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oja__scores_vs_p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432" y="1737360"/>
            <a:ext cx="5280269" cy="4389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99655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82535" y="1828800"/>
            <a:ext cx="3840479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Índice vs puntaje de PC1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Mide tamaño y estilo (el eje de PC1), no calidad ni encaje con un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El primero del ranking, @mundoanimal.ar, </a:t>
            </a:r>
            <a:r>
              <a:rPr sz="1600" b="0">
                <a:solidFill>
                  <a:srgbClr val="F6E9E6"/>
                </a:solidFill>
                <a:latin typeface="Calibri"/>
              </a:rPr>
              <a:t>no lo eligió ningún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Elegir al de mayor índice para cualquier campaña no es correcto.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Decisión para las campañas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Cada cliente, su regla transparente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04. Decisión para las campañas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737360"/>
          <a:ext cx="108173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4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Cliente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Creador 1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Creador 2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8A75"/>
                          </a:solidFill>
                          <a:latin typeface="Calibri"/>
                        </a:rPr>
                        <a:t>Creador 3</a:t>
                      </a:r>
                    </a:p>
                  </a:txBody>
                  <a:tcPr anchor="ctr">
                    <a:solidFill>
                      <a:srgbClr val="4A33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Refugios de perros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@ideasconhuella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@huellasyconsejos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@consejoscaninos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Ropa de fútbol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@futbolcononda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@golconmate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@lookdecancha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Maquillaje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@reelargentino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@brochasymates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@maquillajereal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6E9E6"/>
                          </a:solidFill>
                          <a:latin typeface="Calibri"/>
                        </a:rPr>
                        <a:t>Materiales de arte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@colorenmovimiento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@galeriacotidiana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F6E9E6"/>
                          </a:solidFill>
                          <a:latin typeface="Calibri"/>
                        </a:rPr>
                        <a:t>@rinconcreativo</a:t>
                      </a:r>
                    </a:p>
                  </a:txBody>
                  <a:tcPr anchor="ctr">
                    <a:solidFill>
                      <a:srgbClr val="3D2B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" y="4754880"/>
            <a:ext cx="10820095" cy="146304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4892040"/>
            <a:ext cx="10454335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Filtro por tópico y puntaje ponderado propio de cada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Fútbol: los elegidos encarnan descubrimiento con alcance masivo, no profundidad educativa.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Regla vs. elegir solo por seguidores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04. Decisión para las campañas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57200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420624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FF8A75"/>
                </a:solidFill>
                <a:latin typeface="Calibri"/>
              </a:rPr>
              <a:t>La regla gana en los 4 clientes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Audiencia argentina: </a:t>
            </a:r>
            <a:r>
              <a:rPr sz="1500" b="0">
                <a:solidFill>
                  <a:srgbClr val="F6E9E6"/>
                </a:solidFill>
                <a:latin typeface="Calibri"/>
              </a:rPr>
              <a:t>88,06% perros, 81,53% fútbol, 78,98% maquillaje y 68,94% arte, contra 63,48% de los más seguidos.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USD por mil de alcance argentino: </a:t>
            </a:r>
            <a:r>
              <a:rPr sz="1500" b="0">
                <a:solidFill>
                  <a:srgbClr val="F6E9E6"/>
                </a:solidFill>
                <a:latin typeface="Calibri"/>
              </a:rPr>
              <a:t>19,91 fútbol, 19,96 maquillaje y 27,01 arte, contra 32,94.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0">
                <a:solidFill>
                  <a:srgbClr val="F6E9E6"/>
                </a:solidFill>
                <a:latin typeface="Calibri"/>
              </a:rPr>
              <a:t>Límites: llega a menos gente en total y son proxies (no hay datos de ventas).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10379" y="1645920"/>
            <a:ext cx="498865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ampaigns_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1819" y="1737360"/>
            <a:ext cx="480577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Memoria asociativa: Hopfield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Red de Hopfield escrita a mano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Numpy, sin librerías de redes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Pesos de Hebb con diagonal cero, energía y actualización asincrónica o sincrónica.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La energía no sube en ninguna actualización.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Es la misma red para las letras y para los códigos QR.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233299"/>
            <a:ext cx="6110935" cy="339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hopfield_letters_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24739"/>
            <a:ext cx="5928055" cy="32143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Ortogonalidad: qué 4 letras guardar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Las más ortogonales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G, R, T y V: </a:t>
            </a:r>
            <a:r>
              <a:rPr sz="1600" b="0">
                <a:solidFill>
                  <a:srgbClr val="F6E9E6"/>
                </a:solidFill>
                <a:latin typeface="Calibri"/>
              </a:rPr>
              <a:t>producto interno máximo 1 en valor absoluto.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Peor conjunto: </a:t>
            </a:r>
            <a:r>
              <a:rPr sz="1600" b="0">
                <a:solidFill>
                  <a:srgbClr val="F6E9E6"/>
                </a:solidFill>
                <a:latin typeface="Calibri"/>
              </a:rPr>
              <a:t>21.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En el peor conjunto la red ya cambia píxeles de letras guardadas exactas.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1923208"/>
            <a:ext cx="6293815" cy="401742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hopfield_letters__alphab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014648"/>
            <a:ext cx="6110935" cy="383454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Capacidad de almacenamiento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Más allá de la cota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1">
                <a:solidFill>
                  <a:srgbClr val="F6E9E6"/>
                </a:solidFill>
                <a:latin typeface="Calibri"/>
              </a:rPr>
              <a:t>Cota teórica de Hebb: </a:t>
            </a:r>
            <a:r>
              <a:rPr sz="1600" b="0">
                <a:solidFill>
                  <a:srgbClr val="F6E9E6"/>
                </a:solidFill>
                <a:latin typeface="Calibri"/>
              </a:rPr>
              <a:t>3,45 patrones.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Guardamos cuatro, por encima de la cota: funciona solo porque son casi ortogonales.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Cuántas letras caben depende de cuán correlacionadas estén, no solo de cuántas sean.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2045596"/>
            <a:ext cx="6110935" cy="377264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hopfield_letters__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137036"/>
            <a:ext cx="5928055" cy="358976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Recuperación con ruido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365760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29184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Letras elegidas vs peor conjunto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Sin errores hasta ruido 0,12 </a:t>
            </a:r>
            <a:r>
              <a:rPr sz="1700" b="0">
                <a:solidFill>
                  <a:srgbClr val="F6E9E6"/>
                </a:solidFill>
                <a:latin typeface="Calibri"/>
              </a:rPr>
              <a:t>con el modo asincrónico, que siempre converge.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El conjunto peor queda muy por debajo.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2510320"/>
            <a:ext cx="6659575" cy="28431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hopfield_letters__recovery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601760"/>
            <a:ext cx="6476695" cy="266031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Un patrón muy ruidoso y un estado espúreo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letras 5×5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702958"/>
            <a:ext cx="10820095" cy="253768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hopfield_letters__spuri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94398"/>
            <a:ext cx="10637215" cy="235480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4453128"/>
            <a:ext cx="10820095" cy="181051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453128"/>
            <a:ext cx="10454335" cy="181051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Con ruido alto, 39,5% de las consultas termina en un estado espúreo: una mezcla de letras con signo. Las 16 mezclas de tres letras con signo son puntos fijos.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Los cinco QR se parecen demasiado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2062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840479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Matriz de superposiciones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Superposición media: </a:t>
            </a:r>
            <a:r>
              <a:rPr sz="1700" b="0">
                <a:solidFill>
                  <a:srgbClr val="F6E9E6"/>
                </a:solidFill>
                <a:latin typeface="Calibri"/>
              </a:rPr>
              <a:t>0,6701.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1">
                <a:solidFill>
                  <a:srgbClr val="F6E9E6"/>
                </a:solidFill>
                <a:latin typeface="Calibri"/>
              </a:rPr>
              <a:t>Módulos compartidos: </a:t>
            </a:r>
            <a:r>
              <a:rPr sz="1700" b="0">
                <a:solidFill>
                  <a:srgbClr val="F6E9E6"/>
                </a:solidFill>
                <a:latin typeface="Calibri"/>
              </a:rPr>
              <a:t>0,6976.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700" b="0">
                <a:solidFill>
                  <a:srgbClr val="FF8A75"/>
                </a:solidFill>
                <a:latin typeface="Calibri"/>
              </a:rPr>
              <a:t>•  </a:t>
            </a:r>
            <a:r>
              <a:rPr sz="1700" b="0">
                <a:solidFill>
                  <a:srgbClr val="F6E9E6"/>
                </a:solidFill>
                <a:latin typeface="Calibri"/>
              </a:rPr>
              <a:t>Son todo menos ortogonales: las letras elegidas estaban en el otro extremo.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09185" y="1645920"/>
            <a:ext cx="5425285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hopfield_qr__overl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25" y="1737360"/>
            <a:ext cx="524240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Cómo deterioramos un código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4754879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800" b="1">
                <a:solidFill>
                  <a:srgbClr val="FF8A75"/>
                </a:solidFill>
                <a:latin typeface="Calibri"/>
              </a:rPr>
              <a:t>Funciones de ruido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Ruido aleatorio: </a:t>
            </a:r>
            <a:r>
              <a:rPr sz="1500" b="0">
                <a:solidFill>
                  <a:srgbClr val="F6E9E6"/>
                </a:solidFill>
                <a:latin typeface="Calibri"/>
              </a:rPr>
              <a:t>nivel p entre 0 y 0,5 → se invierten k = round(p · 1369) módulos distintos, elegidos al azar (±1 → ∓1). Ej.: p = 0,05 → 68; p = 0,35 → 479.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Esquina rota: </a:t>
            </a:r>
            <a:r>
              <a:rPr sz="1500" b="0">
                <a:solidFill>
                  <a:srgbClr val="F6E9E6"/>
                </a:solidFill>
                <a:latin typeface="Calibri"/>
              </a:rPr>
              <a:t>triángulo blanco de tamaño 8 a 32 en una de las 4 esquinas.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Mancha: </a:t>
            </a:r>
            <a:r>
              <a:rPr sz="1500" b="0">
                <a:solidFill>
                  <a:srgbClr val="F6E9E6"/>
                </a:solidFill>
                <a:latin typeface="Calibri"/>
              </a:rPr>
              <a:t>bloque negro cuadrado de lado 8 a 24 en una posición al azar.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FF8A75"/>
                </a:solidFill>
                <a:latin typeface="Calibri"/>
              </a:rPr>
              <a:t>•  </a:t>
            </a:r>
            <a:r>
              <a:rPr sz="1500" b="1">
                <a:solidFill>
                  <a:srgbClr val="F6E9E6"/>
                </a:solidFill>
                <a:latin typeface="Calibri"/>
              </a:rPr>
              <a:t>Recuperada </a:t>
            </a:r>
            <a:r>
              <a:rPr sz="1500" b="0">
                <a:solidFill>
                  <a:srgbClr val="F6E9E6"/>
                </a:solidFill>
                <a:latin typeface="Calibri"/>
              </a:rPr>
              <a:t>si el estado final es exactamente el código de origen. Semilla fija.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67290" y="1645920"/>
            <a:ext cx="3223473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hopfield_qr__damag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730" y="1737360"/>
            <a:ext cx="3040593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Hebb no recupera ningún código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51654" y="1600200"/>
            <a:ext cx="9688386" cy="3840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hopfield_qr__hebb_attr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094" y="1691640"/>
            <a:ext cx="9505506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550408"/>
            <a:ext cx="10820095" cy="71323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54335" cy="71323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Ninguno de los 5 códigos es un punto fijo, y 97,47% de las consultas termina en el mismo "QR promedio". Es la interferencia que las letras ortogonales evitaban.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Con pseudoinversa: la misma red, sin interferencia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9" y="1668382"/>
            <a:ext cx="10820095" cy="342979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hopfield_qr__recovery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59822"/>
            <a:ext cx="10637215" cy="324691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Los 5 códigos pasan a ser puntos fijos y se recupera todo hasta 0,35 de ruido. No es la regla del curso: prueba que lo que rompe a Hebb es la correlación, no la cantidad de patrones.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Iteraciones y energía en cada paso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4023360" cy="448056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3657600" cy="4206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1">
                <a:solidFill>
                  <a:srgbClr val="FF8A75"/>
                </a:solidFill>
                <a:latin typeface="Calibri"/>
              </a:rPr>
              <a:t>Convergencia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La energía no sube en ningún paso.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Casi todas las consultas convergen en pocos barridos.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600" b="0">
                <a:solidFill>
                  <a:srgbClr val="FF8A75"/>
                </a:solidFill>
                <a:latin typeface="Calibri"/>
              </a:rPr>
              <a:t>•  </a:t>
            </a:r>
            <a:r>
              <a:rPr sz="1600" b="0">
                <a:solidFill>
                  <a:srgbClr val="F6E9E6"/>
                </a:solidFill>
                <a:latin typeface="Calibri"/>
              </a:rPr>
              <a:t>Pero la red baja al mínimo más cercano, que con Hebb es el equivocado.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83480" y="2702663"/>
            <a:ext cx="6293815" cy="24585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hopfield_qr__energy_per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794103"/>
            <a:ext cx="6110935" cy="227563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Lectura con un decodificador QR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596" y="1600199"/>
            <a:ext cx="10554503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hopfield_qr__decode_vs_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36" y="1691639"/>
            <a:ext cx="10371623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85800" y="5276088"/>
            <a:ext cx="10820095" cy="987551"/>
          </a:xfrm>
          <a:prstGeom prst="roundRect">
            <a:avLst>
              <a:gd name="adj" fmla="val 12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276088"/>
            <a:ext cx="10454335" cy="98755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6E9E6"/>
                </a:solidFill>
                <a:latin typeface="Calibri"/>
              </a:rPr>
              <a:t>El lector decodifica los 5 originales. Tras la pseudoinversa un código se lee igual de bien que se recupera; tras Hebb no lee ninguno: el "QR promedio" falla de manera visible.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Limitaciones del caso de uso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05. Hopfield · códigos QR 37×37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37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49377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Correlación entre códigos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937760" cy="1280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Hebb no guarda ninguno aunque la cota (188,922 patrones) esté muy por encima de cinco.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Estados espúreos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14600"/>
            <a:ext cx="4937760" cy="1280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Con mucho ruido la red termina en mezclas que no son ningún menú.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23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206240"/>
            <a:ext cx="49377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Capacidad efectiva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4937760" cy="1280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Mucho menor que la cota teórica cuando los patrones se parecen.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23360"/>
            <a:ext cx="5349240" cy="2103120"/>
          </a:xfrm>
          <a:prstGeom prst="roundRect">
            <a:avLst>
              <a:gd name="adj" fmla="val 7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8A75"/>
                </a:solidFill>
                <a:latin typeface="Calibri"/>
              </a:rPr>
              <a:t>Umbral de ruido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800600"/>
            <a:ext cx="4937760" cy="1280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F6E9E6"/>
                </a:solidFill>
                <a:latin typeface="Calibri"/>
              </a:rPr>
              <a:t>El umbral de 0,35 es el de la pseudoinversa; una foto real no es una matriz limpia y alineada.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91440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FFD9D0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Conclusiones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Ejercicio 1: un eje domina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06. Conclusiones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820095" cy="452628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454335" cy="4251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PC1 ordena a los creadores por tamaño y estilo </a:t>
            </a:r>
            <a:r>
              <a:rPr sz="1900" b="0">
                <a:solidFill>
                  <a:srgbClr val="F6E9E6"/>
                </a:solidFill>
                <a:latin typeface="Calibri"/>
              </a:rPr>
              <a:t>y concentra 53,2% de la varianza.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Kohonen y Oja encuentran lo mismo: </a:t>
            </a:r>
            <a:r>
              <a:rPr sz="1900" b="0">
                <a:solidFill>
                  <a:srgbClr val="F6E9E6"/>
                </a:solidFill>
                <a:latin typeface="Calibri"/>
              </a:rPr>
              <a:t>las regiones siguen PC1 (0,8314 contra 0,2066) y Oja converge a PC1 (coseno 0,999993).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Por eso ningún índice único decide una campaña: </a:t>
            </a:r>
            <a:r>
              <a:rPr sz="1900" b="0">
                <a:solidFill>
                  <a:srgbClr val="F6E9E6"/>
                </a:solidFill>
                <a:latin typeface="Calibri"/>
              </a:rPr>
              <a:t>el primero del ranking no lo eligió ningún cliente.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Reglas por cliente: </a:t>
            </a:r>
            <a:r>
              <a:rPr sz="1900" b="0">
                <a:solidFill>
                  <a:srgbClr val="F6E9E6"/>
                </a:solidFill>
                <a:latin typeface="Calibri"/>
              </a:rPr>
              <a:t>mejor audiencia argentina que elegir por seguidores en los 4 clientes, y menor costo por mil en fútbol, maquillaje y arte.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Límite: </a:t>
            </a:r>
            <a:r>
              <a:rPr sz="1900" b="0">
                <a:solidFill>
                  <a:srgbClr val="F6E9E6"/>
                </a:solidFill>
                <a:latin typeface="Calibri"/>
              </a:rPr>
              <a:t>todo se argumenta con proxies, sin datos de ventas ni conversión; reglas y umbrales son criterios del grupo.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Ejercicio 2: la ortogonalidad es el hilo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8A75"/>
                </a:solidFill>
                <a:latin typeface="Calibri"/>
              </a:rPr>
              <a:t>06. Conclusiones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820095" cy="4526280"/>
          </a:xfrm>
          <a:prstGeom prst="roundRect">
            <a:avLst>
              <a:gd name="adj" fmla="val 5000"/>
            </a:avLst>
          </a:prstGeom>
          <a:solidFill>
            <a:srgbClr val="3D2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454335" cy="4251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Letras: </a:t>
            </a:r>
            <a:r>
              <a:rPr sz="1900" b="0">
                <a:solidFill>
                  <a:srgbClr val="F6E9E6"/>
                </a:solidFill>
                <a:latin typeface="Calibri"/>
              </a:rPr>
              <a:t>G, R, T y V (producto interno máximo 1) se recuperan sin errores hasta ruido 0,12; con mucho ruido aparecen estados espúreos.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QR: </a:t>
            </a:r>
            <a:r>
              <a:rPr sz="1900" b="0">
                <a:solidFill>
                  <a:srgbClr val="F6E9E6"/>
                </a:solidFill>
                <a:latin typeface="Calibri"/>
              </a:rPr>
              <a:t>comparten ~70% de sus módulos; con Hebb ninguno es punto fijo y 97,47% de las consultas cae en el mismo "QR promedio".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Pseudoinversa: </a:t>
            </a:r>
            <a:r>
              <a:rPr sz="1900" b="0">
                <a:solidFill>
                  <a:srgbClr val="F6E9E6"/>
                </a:solidFill>
                <a:latin typeface="Calibri"/>
              </a:rPr>
              <a:t>recupera todo hasta 0,35 de ruido, lo que confirma que la causa es la correlación y no la cantidad.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900" b="0">
                <a:solidFill>
                  <a:srgbClr val="FF8A75"/>
                </a:solidFill>
                <a:latin typeface="Calibri"/>
              </a:rPr>
              <a:t>•  </a:t>
            </a:r>
            <a:r>
              <a:rPr sz="1900" b="1">
                <a:solidFill>
                  <a:srgbClr val="F6E9E6"/>
                </a:solidFill>
                <a:latin typeface="Calibri"/>
              </a:rPr>
              <a:t>Caso de uso: </a:t>
            </a:r>
            <a:r>
              <a:rPr sz="1900" b="0">
                <a:solidFill>
                  <a:srgbClr val="F6E9E6"/>
                </a:solidFill>
                <a:latin typeface="Calibri"/>
              </a:rPr>
              <a:t>limitado por correlación, estados espúreos, capacidad efectiva y umbral de ruido.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F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7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6400800"/>
            <a:ext cx="11094415" cy="13716"/>
          </a:xfrm>
          <a:prstGeom prst="rect">
            <a:avLst/>
          </a:prstGeom>
          <a:solidFill>
            <a:srgbClr val="B59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27432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28600"/>
            <a:ext cx="18288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B59A97"/>
                </a:solidFill>
                <a:latin typeface="Calibri"/>
              </a:rPr>
              <a:t>ITBA · SIA · TP4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"/>
            <a:ext cx="94183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D9D0"/>
                </a:solidFill>
                <a:latin typeface="Calibri"/>
              </a:rPr>
              <a:t>¿Preguntas?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0" b="1">
                <a:solidFill>
                  <a:srgbClr val="FF8A75"/>
                </a:solidFill>
                <a:latin typeface="Calibri"/>
              </a:rPr>
              <a:t>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2445</Words>
  <Application>Microsoft Office PowerPoint</Application>
  <PresentationFormat>Panorámica</PresentationFormat>
  <Paragraphs>354</Paragraphs>
  <Slides>40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lucasdicandi@gmail.com</cp:lastModifiedBy>
  <cp:revision>2</cp:revision>
  <dcterms:created xsi:type="dcterms:W3CDTF">2013-01-27T09:14:16Z</dcterms:created>
  <dcterms:modified xsi:type="dcterms:W3CDTF">2026-10-16T22:17:25Z</dcterms:modified>
  <cp:category/>
</cp:coreProperties>
</file>