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Playfair Display"/>
      <p:regular r:id="rId44"/>
      <p:bold r:id="rId45"/>
      <p:italic r:id="rId46"/>
      <p:boldItalic r:id="rId47"/>
    </p:embeddedFont>
    <p:embeddedFont>
      <p:font typeface="Lat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PlayfairDisplay-regular.fntdata"/><Relationship Id="rId43" Type="http://schemas.openxmlformats.org/officeDocument/2006/relationships/slide" Target="slides/slide37.xml"/><Relationship Id="rId46" Type="http://schemas.openxmlformats.org/officeDocument/2006/relationships/font" Target="fonts/PlayfairDisplay-italic.fntdata"/><Relationship Id="rId45" Type="http://schemas.openxmlformats.org/officeDocument/2006/relationships/font" Target="fonts/PlayfairDisplay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ato-regular.fntdata"/><Relationship Id="rId47" Type="http://schemas.openxmlformats.org/officeDocument/2006/relationships/font" Target="fonts/PlayfairDisplay-boldItalic.fntdata"/><Relationship Id="rId49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boldItalic.fntdata"/><Relationship Id="rId5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43920553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a43920553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43920553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a43920553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43920553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a43920553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43920553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a43920553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No hay flag de activo/inactivo como en el Ejercicio 2: toda celda tiene siempre un carácter, y la celda vacía es simplemente el espacio en blanco.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43920553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fa43920553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a43920553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fa43920553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43920553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a43920553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43920553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a43920553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El GIF se anima en modo presentación; en modo edición se ve el primer cuadro, que es la población aleatoria.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43920553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fa43920553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a43920553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fa43920553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a43920553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a43920553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a43920553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fa43920553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a4392055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fa4392055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a43920553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fa43920553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a43920553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3fa43920553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a43920553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fa43920553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a43920553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g3fa43920553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43920553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fa43920553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a43920553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g3fa43920553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a43920553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a43920553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a43920553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a43920553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a43920553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fa43920553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a43920553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g3fa43920553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a43920553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a43920553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43920553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fa43920553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La cátedra pregunta por qué la ruleta llevaría a convergencia prematura ante un superindividuo. Nuestro motor muestra el problema opuesto, y por la misma causa de fondo: la ruleta depende de la escala absoluta del fitness. Ranking y Boltzmann la desacoplan, y por eso ranking sí funciona.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a43920553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g3fa43920553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a43920553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g3fa43920553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a43920553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fa43920553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Respuesta honesta a la pregunta previa del enunciado sobre si la cruza genera descendientes con buenas probabilidades de mejorar: sobre esta representación, medido, no aporta nada distinguible del ruido.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a43920553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fa43920553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a43920553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fa43920553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Se entiende con la lámina de presión de selección: con la presión real que mide la matriz, el AG está haciendo poco más que búsqueda aleatoria en paralelo, mientras que el (1+1) tiene presión de selección perfecta por construcción.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a43920553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4" name="Google Shape;594;g3fa43920553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a43920553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9" name="Google Shape;609;g3fa43920553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a43920553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fa43920553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a43920553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g3fa43920553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a43920553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9" name="Google Shape;659;g3fa43920553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a43920553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g3fa43920553_0_1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a43920553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fa43920553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2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4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gif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gif"/><Relationship Id="rId4" Type="http://schemas.openxmlformats.org/officeDocument/2006/relationships/image" Target="../media/image21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gif"/><Relationship Id="rId4" Type="http://schemas.openxmlformats.org/officeDocument/2006/relationships/image" Target="../media/image18.gif"/><Relationship Id="rId5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ctrTitle"/>
          </p:nvPr>
        </p:nvSpPr>
        <p:spPr>
          <a:xfrm>
            <a:off x="3096300" y="1391875"/>
            <a:ext cx="29514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Algoritmos Genéticos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Trabajo Práctico N°2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479400" y="2790250"/>
            <a:ext cx="818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Alicia Cobo Iglesias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Lucas Di Candia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Axel Farina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Emilio Mitchell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GB"/>
              <a:t>Tomas Pietravallo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Trabajo Práctico N°2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310896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457200" y="1380744"/>
            <a:ext cx="2426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Ejercicio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Arte ASCII: individuo, fitness, y qué operadores se trasladan y cuáles hay que redefinir.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3212592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3358896" y="1380744"/>
            <a:ext cx="2426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motor: modelado del individuo, función de aptitud, los 20 operadores y los cinco criterios de corte.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6"/>
          <p:cNvSpPr/>
          <p:nvPr/>
        </p:nvSpPr>
        <p:spPr>
          <a:xfrm>
            <a:off x="6114288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6"/>
          <p:cNvSpPr txBox="1"/>
          <p:nvPr/>
        </p:nvSpPr>
        <p:spPr>
          <a:xfrm>
            <a:off x="6260592" y="1380744"/>
            <a:ext cx="2426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150 corridas de la matriz, el brazo de mutación y la comparación contra un hill climber (1+1).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310896" y="2651760"/>
            <a:ext cx="85221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457200" y="2798064"/>
            <a:ext cx="8229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Qué operador conviene en cada caso, y el hallazgo que no esperábamos: un canvas en blanco ya puntúa 0,695.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6"/>
          <p:cNvSpPr txBox="1"/>
          <p:nvPr/>
        </p:nvSpPr>
        <p:spPr>
          <a:xfrm>
            <a:off x="310896" y="3749039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Cierre con las limitaciones que quedan abiertas.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ctrTitle"/>
          </p:nvPr>
        </p:nvSpPr>
        <p:spPr>
          <a:xfrm>
            <a:off x="3056600" y="1779600"/>
            <a:ext cx="29514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Ejercicio 1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Arte ASCII mediante Algoritmos Genéticos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Individuo y 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310896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457200" y="1380744"/>
            <a:ext cx="24261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Individuo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Grilla de N×N caracteres ASCII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3212592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3358896" y="1380744"/>
            <a:ext cx="2426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Cromosoma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Arreglo plano de N² genes, de longitud fija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6114288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6260592" y="1380744"/>
            <a:ext cx="2426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carácter por celda, del alfabeto fijo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310896" y="2651760"/>
            <a:ext cx="85221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457200" y="2798064"/>
            <a:ext cx="8229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Alelos: una rampa de densidad 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alfabeto va de disperso a denso:     espacio  .  :  -  =  +  *  #  %  @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310896" y="3749039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orden no es cosmético: es lo que le da sentido a mutar un escalón de densidad en vez de saltar a un carácter arbitrario.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9"/>
          <p:cNvSpPr/>
          <p:nvPr/>
        </p:nvSpPr>
        <p:spPr>
          <a:xfrm>
            <a:off x="310896" y="1234440"/>
            <a:ext cx="41697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457200" y="1380744"/>
            <a:ext cx="38772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Cómo se evalúa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Cada carácter se renderiza a un bitmap fijo con una fuente monoespaciada. Ensamblando los N² glifos se reconstruye una imagen y se compara contra el objetivo.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4663440" y="1234440"/>
            <a:ext cx="41697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4809744" y="1380744"/>
            <a:ext cx="38772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Uno menos la raíz del error cuadrático normalizado: la misma forma que en el Ejercicio 2. Continua, acotada y estrictamente positiva.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310896" y="2834640"/>
            <a:ext cx="85221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457200" y="2980944"/>
            <a:ext cx="8229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Por qué tiene que ser estrictamente positiva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Los selectores de la familia ruleta necesitan un peso positivo por individuo para construir una acumulada válida. Un individuo de error máximo con fitness exactamente cero rompe esa cuenta.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Qué se traslada y qué se redefine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310896" y="1234440"/>
            <a:ext cx="4169700" cy="10974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457200" y="1380744"/>
            <a:ext cx="3877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Se trasladan sin cambios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Selección y supervivencia: solo consumen un escalar de fitness por individuo.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4663440" y="1234440"/>
            <a:ext cx="4169700" cy="10974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4809744" y="1380744"/>
            <a:ext cx="38772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Hay que redefinirlos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Cruza y mutación: dependen de la forma del genoma.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310896" y="2514600"/>
            <a:ext cx="4169700" cy="1371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457200" y="2660904"/>
            <a:ext cx="38772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Cruza sobre una grilla 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punto y dos puntos pasan a cortar por fila, preservando la lectura de mitad superior y mitad inferior. Uniforme no necesita redefinición.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4663440" y="2514600"/>
            <a:ext cx="4169700" cy="1371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809744" y="2660904"/>
            <a:ext cx="38772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Mutación sobre un alfabeto discreto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Resortear el carácter de una celda, o dar un paso a un escalón adyacente de la rampa: el equivalente discreto del paso gaussiano continuo.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ctrTitle"/>
          </p:nvPr>
        </p:nvSpPr>
        <p:spPr>
          <a:xfrm>
            <a:off x="3056600" y="1779600"/>
            <a:ext cx="29514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Ejercicio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Algoritmos Genéticos</a:t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 rotWithShape="1">
          <a:blip r:embed="rId3">
            <a:alphaModFix/>
          </a:blip>
          <a:srcRect b="0" l="6337" r="13452" t="0"/>
          <a:stretch/>
        </p:blipFill>
        <p:spPr>
          <a:xfrm>
            <a:off x="582050" y="1779600"/>
            <a:ext cx="1799750" cy="17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2800" y="1671875"/>
            <a:ext cx="1799750" cy="17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¿En qué consiste?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1790871" y="1223058"/>
            <a:ext cx="27189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1937175" y="1369362"/>
            <a:ext cx="2426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Una imagen y una cantidad de triángulos. Los hiperparámetros van aparte.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4927038" y="1223058"/>
            <a:ext cx="27189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5073342" y="1369362"/>
            <a:ext cx="2426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Salida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Imagen generada, enumeración de triángulos y colores.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g_ar_elite.gif" id="199" name="Google Shape;1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1720" y="2487168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/>
          <p:nvPr/>
        </p:nvSpPr>
        <p:spPr>
          <a:xfrm>
            <a:off x="2331720" y="2487168"/>
            <a:ext cx="1783200" cy="1783200"/>
          </a:xfrm>
          <a:prstGeom prst="rect">
            <a:avLst/>
          </a:prstGeom>
          <a:noFill/>
          <a:ln cap="flat" cmpd="sng" w="9525">
            <a:solidFill>
              <a:srgbClr val="BFC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g_ar.png" id="201" name="Google Shape;20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3360" y="250673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/>
          <p:nvPr/>
        </p:nvSpPr>
        <p:spPr>
          <a:xfrm>
            <a:off x="5073360" y="2506731"/>
            <a:ext cx="1783200" cy="1783200"/>
          </a:xfrm>
          <a:prstGeom prst="rect">
            <a:avLst/>
          </a:prstGeom>
          <a:noFill/>
          <a:ln cap="flat" cmpd="sng" w="9525">
            <a:solidFill>
              <a:srgbClr val="BFC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2331720" y="4334256"/>
            <a:ext cx="178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20 triángulos, 3000 generaciones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5073360" y="4353819"/>
            <a:ext cx="178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Fenotipo y genotipo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3"/>
          <p:cNvSpPr/>
          <p:nvPr/>
        </p:nvSpPr>
        <p:spPr>
          <a:xfrm>
            <a:off x="310896" y="1207008"/>
            <a:ext cx="19935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457200" y="1353312"/>
            <a:ext cx="17007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Individuo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Imagen por superposición de triángulos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2487168" y="1207008"/>
            <a:ext cx="19935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2633472" y="1353312"/>
            <a:ext cx="1700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Cromosoma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Vector 11x float32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3"/>
          <p:cNvSpPr/>
          <p:nvPr/>
        </p:nvSpPr>
        <p:spPr>
          <a:xfrm>
            <a:off x="4663440" y="1207008"/>
            <a:ext cx="19935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4809744" y="1353312"/>
            <a:ext cx="17007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valor real normalizado a [0,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6839712" y="1207008"/>
            <a:ext cx="1993500" cy="1051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6986016" y="1353312"/>
            <a:ext cx="17007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Locus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Su posición fija el orden de dibujado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3"/>
          <p:cNvSpPr/>
          <p:nvPr/>
        </p:nvSpPr>
        <p:spPr>
          <a:xfrm>
            <a:off x="310896" y="2450592"/>
            <a:ext cx="8522100" cy="1417200"/>
          </a:xfrm>
          <a:prstGeom prst="roundRect">
            <a:avLst>
              <a:gd fmla="val 6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493776" y="2606040"/>
            <a:ext cx="815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Los 11 genes de cada triángulo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493776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493776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X1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1234440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1234440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Y1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1975104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1975104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2715768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2715768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Y2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3456432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3456432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X3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4197096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4197096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Y3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4937760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4937760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5678424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5678424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6419088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6419088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7159752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7159752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E09B2D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7900416" y="2926080"/>
            <a:ext cx="676800" cy="347400"/>
          </a:xfrm>
          <a:prstGeom prst="roundRect">
            <a:avLst>
              <a:gd fmla="val 18000" name="adj"/>
            </a:avLst>
          </a:prstGeom>
          <a:solidFill>
            <a:srgbClr val="E6EA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7900416" y="3008376"/>
            <a:ext cx="67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GB" sz="8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493776" y="3401568"/>
            <a:ext cx="815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tres vértices  ·  color RGB  ·  alfa  ·  flag de actividad          la longitud es fija, así los cuatro cruces quedan definidos como en clase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Cotas y reparación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310896" y="1234440"/>
            <a:ext cx="27189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457200" y="1380744"/>
            <a:ext cx="2426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Vértices en [−0,1 ; 1,1]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Una banda de sobrepaso, para que un triángulo pueda cubrir una esquina del canvas.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3212592" y="1234440"/>
            <a:ext cx="27189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3358896" y="1380744"/>
            <a:ext cx="2426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Alfa en [0,1 ; 0,9]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Alfa 0 desperdicia presupuesto; alfa 1 mata la translucidez que pide el enunciado.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6114288" y="1234440"/>
            <a:ext cx="27189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6260592" y="1380744"/>
            <a:ext cx="2426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Un único punto de reparación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reflect(): si una mutación se pasa de la banda, el valor se refleja.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310896" y="2743200"/>
            <a:ext cx="8522100" cy="1143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457200" y="2889504"/>
            <a:ext cx="8229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Por qué reflejar y no recortar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Recortar amontona probabilidad sobre el límite exacto de la banda, y termina clavando triángulos planos contra el borde del canvas: un artefacto visual y estadístico. Reflejar preserva la magnitud del sobrepaso y evita ese apilamiento.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Población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310896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57200" y="1380744"/>
            <a:ext cx="2426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Cómo se siembra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N individuos, cada gen sorteado uniformemente dentro de su propia cota. Nada más.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3212592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3358896" y="1380744"/>
            <a:ext cx="2426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Sin precálculo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No sembramos individuos informados por el objetivo: la matriz mide operadores, no calidad de arranque.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6114288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6260592" y="1380744"/>
            <a:ext cx="2426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De dónde sale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random_population() en engine/genome.py, con el generador sembrado por la semilla de la corrida.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310896" y="2651760"/>
            <a:ext cx="85221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457200" y="2798064"/>
            <a:ext cx="8229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Por qué uniforme y no informada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sembrado informado sube el fitness inicial, pero mete una variable más entre el operador y el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310896" y="3749039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Con arranque uniforme, la diferencia entre dos celdas de la matriz es el operador y nada más.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flag active: cota de cromosomas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310896" y="1234440"/>
            <a:ext cx="4169700" cy="12801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457200" y="1380744"/>
            <a:ext cx="3877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enunciado pide que la cantidad de triángulos sea una cota máxima, pero los cuatro cruces de la cátedra están definidos sobre cromosomas de longitud fija.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4663440" y="1234440"/>
            <a:ext cx="4169700" cy="12801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4809744" y="1380744"/>
            <a:ext cx="38772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gen ACTIVE por triángulo, con umbral en 0,5. La longitud del vector nunca cambia; un triángulo inactivo no se dibuja ni consume presupuesto.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310896" y="2697480"/>
            <a:ext cx="8522100" cy="1188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493776" y="2834640"/>
            <a:ext cx="815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Verificado sobre 200 individuos con presupuesto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6"/>
          <p:cNvSpPr txBox="1"/>
          <p:nvPr/>
        </p:nvSpPr>
        <p:spPr>
          <a:xfrm>
            <a:off x="493776" y="3127248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273C4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493776" y="3520440"/>
            <a:ext cx="192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mínimo de 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2532888" y="3127248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273C4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15,1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6"/>
          <p:cNvSpPr txBox="1"/>
          <p:nvPr/>
        </p:nvSpPr>
        <p:spPr>
          <a:xfrm>
            <a:off x="2532888" y="3520440"/>
            <a:ext cx="192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4572000" y="3127248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273C4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4572000" y="3520440"/>
            <a:ext cx="192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máximo de 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6611112" y="3127248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6"/>
          <p:cNvSpPr txBox="1"/>
          <p:nvPr/>
        </p:nvSpPr>
        <p:spPr>
          <a:xfrm>
            <a:off x="6611112" y="3520440"/>
            <a:ext cx="192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presupuesto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7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Función de fitness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7"/>
          <p:cNvSpPr txBox="1"/>
          <p:nvPr/>
        </p:nvSpPr>
        <p:spPr>
          <a:xfrm>
            <a:off x="1506487" y="1245650"/>
            <a:ext cx="491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fitness  =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7"/>
          <p:cNvSpPr/>
          <p:nvPr/>
        </p:nvSpPr>
        <p:spPr>
          <a:xfrm>
            <a:off x="310896" y="2057400"/>
            <a:ext cx="2718900" cy="8688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7"/>
          <p:cNvSpPr txBox="1"/>
          <p:nvPr/>
        </p:nvSpPr>
        <p:spPr>
          <a:xfrm>
            <a:off x="457200" y="2203704"/>
            <a:ext cx="2426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Qué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RMSE normalizado e invertido sobre los tres canales.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7"/>
          <p:cNvSpPr/>
          <p:nvPr/>
        </p:nvSpPr>
        <p:spPr>
          <a:xfrm>
            <a:off x="3212592" y="2057400"/>
            <a:ext cx="2718900" cy="8688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7"/>
          <p:cNvSpPr txBox="1"/>
          <p:nvPr/>
        </p:nvSpPr>
        <p:spPr>
          <a:xfrm>
            <a:off x="3358896" y="2203704"/>
            <a:ext cx="2426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Por qué normalizado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Comparable entre imágenes y tamaños de canvas distintos.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/>
          <p:nvPr/>
        </p:nvSpPr>
        <p:spPr>
          <a:xfrm>
            <a:off x="6114288" y="2057400"/>
            <a:ext cx="2718900" cy="8688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6260592" y="2203704"/>
            <a:ext cx="2426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Por qué el piso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Para que la ruleta tenga una acumulada bien definida.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310896" y="3063240"/>
            <a:ext cx="8522100" cy="8688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7"/>
          <p:cNvSpPr txBox="1"/>
          <p:nvPr/>
        </p:nvSpPr>
        <p:spPr>
          <a:xfrm>
            <a:off x="457200" y="3209544"/>
            <a:ext cx="8229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Decisión: no penalizamos la cantidad de triángulos 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enunciado define el fitness como error por píxel, sin término de tamaño. Agregarlo mezclaría qué tan bien selecciona el operador con qué tan barato en triángulos salió el resultado, y es justo eso lo que la matriz quiere aislar.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7"/>
          <p:cNvPicPr preferRelativeResize="0"/>
          <p:nvPr/>
        </p:nvPicPr>
        <p:blipFill rotWithShape="1">
          <a:blip r:embed="rId3">
            <a:alphaModFix/>
          </a:blip>
          <a:srcRect b="0" l="6829" r="0" t="0"/>
          <a:stretch/>
        </p:blipFill>
        <p:spPr>
          <a:xfrm>
            <a:off x="4652875" y="883650"/>
            <a:ext cx="2718900" cy="10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Métodos de selección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310896" y="120700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457200" y="135331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n(i) = ⌈(K−i)/N⌉ por rango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212592" y="120700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3358896" y="135331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Ruleta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Proporcional al fitness crudo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114288" y="120700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 txBox="1"/>
          <p:nvPr/>
        </p:nvSpPr>
        <p:spPr>
          <a:xfrm>
            <a:off x="6260592" y="135331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Universal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SUS: K muestras estratificadas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310896" y="216712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 txBox="1"/>
          <p:nvPr/>
        </p:nvSpPr>
        <p:spPr>
          <a:xfrm>
            <a:off x="457200" y="231343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Pseudo-fitness (N−rank)/N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3212592" y="216712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 txBox="1"/>
          <p:nvPr/>
        </p:nvSpPr>
        <p:spPr>
          <a:xfrm>
            <a:off x="3358896" y="231343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Boltzmann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T(t) = Tc + (T0−Tc)·e^(−kt)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6114288" y="216712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8"/>
          <p:cNvSpPr txBox="1"/>
          <p:nvPr/>
        </p:nvSpPr>
        <p:spPr>
          <a:xfrm>
            <a:off x="6260592" y="231343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Torneo determinístico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mejor de M al azar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8"/>
          <p:cNvSpPr/>
          <p:nvPr/>
        </p:nvSpPr>
        <p:spPr>
          <a:xfrm>
            <a:off x="310896" y="312724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457200" y="327355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Torneo probabilístico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M=2, gana el mejor con prob. Threshold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3212592" y="312724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8"/>
          <p:cNvSpPr txBox="1"/>
          <p:nvPr/>
        </p:nvSpPr>
        <p:spPr>
          <a:xfrm>
            <a:off x="3358896" y="327355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Muestreo aleatorio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Ignora el fitness por completo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6114288" y="3127248"/>
            <a:ext cx="2718900" cy="8229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"/>
          <p:cNvSpPr txBox="1"/>
          <p:nvPr/>
        </p:nvSpPr>
        <p:spPr>
          <a:xfrm>
            <a:off x="6260592" y="3273552"/>
            <a:ext cx="2426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Blend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Combina dos métodos por un coeficiente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9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9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Métodos de cruza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9"/>
          <p:cNvSpPr/>
          <p:nvPr/>
        </p:nvSpPr>
        <p:spPr>
          <a:xfrm>
            <a:off x="310896" y="1207008"/>
            <a:ext cx="41697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"/>
          <p:cNvSpPr txBox="1"/>
          <p:nvPr/>
        </p:nvSpPr>
        <p:spPr>
          <a:xfrm>
            <a:off x="457200" y="1353312"/>
            <a:ext cx="38772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Un punto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corte; se intercambia todo desde ahí en adelante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9"/>
          <p:cNvSpPr/>
          <p:nvPr/>
        </p:nvSpPr>
        <p:spPr>
          <a:xfrm>
            <a:off x="4663440" y="1207008"/>
            <a:ext cx="41697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4809744" y="1353312"/>
            <a:ext cx="38772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Dos puntos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 intercambia el segmento entre los dos cortes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9"/>
          <p:cNvSpPr/>
          <p:nvPr/>
        </p:nvSpPr>
        <p:spPr>
          <a:xfrm>
            <a:off x="310896" y="2304288"/>
            <a:ext cx="41697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9"/>
          <p:cNvSpPr txBox="1"/>
          <p:nvPr/>
        </p:nvSpPr>
        <p:spPr>
          <a:xfrm>
            <a:off x="457200" y="2450592"/>
            <a:ext cx="38772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Anular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Segmento circular: posición y longitud al azar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9"/>
          <p:cNvSpPr/>
          <p:nvPr/>
        </p:nvSpPr>
        <p:spPr>
          <a:xfrm>
            <a:off x="4663440" y="2304288"/>
            <a:ext cx="41697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9"/>
          <p:cNvSpPr txBox="1"/>
          <p:nvPr/>
        </p:nvSpPr>
        <p:spPr>
          <a:xfrm>
            <a:off x="4809744" y="2450592"/>
            <a:ext cx="38772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Uniforme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Cada locus se intercambia con probabilidad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9"/>
          <p:cNvSpPr/>
          <p:nvPr/>
        </p:nvSpPr>
        <p:spPr>
          <a:xfrm>
            <a:off x="310896" y="3474720"/>
            <a:ext cx="8522100" cy="7773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9"/>
          <p:cNvSpPr txBox="1"/>
          <p:nvPr/>
        </p:nvSpPr>
        <p:spPr>
          <a:xfrm>
            <a:off x="457200" y="3621024"/>
            <a:ext cx="8229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boundary: dónde puede caer el corte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gene corta en cualquier locus  ·  triangle corta solo en múltiplos de 11, manteniendo cada triángulo entero.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0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0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Métodos de mutación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0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0"/>
          <p:cNvSpPr/>
          <p:nvPr/>
        </p:nvSpPr>
        <p:spPr>
          <a:xfrm>
            <a:off x="310896" y="1207008"/>
            <a:ext cx="1993500" cy="10974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0"/>
          <p:cNvSpPr txBox="1"/>
          <p:nvPr/>
        </p:nvSpPr>
        <p:spPr>
          <a:xfrm>
            <a:off x="457200" y="1353312"/>
            <a:ext cx="1700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solo gen, con probabilidad 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2487168" y="1207008"/>
            <a:ext cx="1993500" cy="10974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2633472" y="1353312"/>
            <a:ext cx="17007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Multigen limitada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Una cantidad al azar en [1, M]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4663440" y="1207008"/>
            <a:ext cx="1993500" cy="10974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0"/>
          <p:cNvSpPr txBox="1"/>
          <p:nvPr/>
        </p:nvSpPr>
        <p:spPr>
          <a:xfrm>
            <a:off x="4809744" y="1353312"/>
            <a:ext cx="1700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Multigen uniforme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Cada gen, independiente, con 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0"/>
          <p:cNvSpPr/>
          <p:nvPr/>
        </p:nvSpPr>
        <p:spPr>
          <a:xfrm>
            <a:off x="6839712" y="1207008"/>
            <a:ext cx="1993500" cy="10974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0"/>
          <p:cNvSpPr txBox="1"/>
          <p:nvPr/>
        </p:nvSpPr>
        <p:spPr>
          <a:xfrm>
            <a:off x="6986016" y="1353312"/>
            <a:ext cx="1700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Completa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Con probabilidad Pm mutan todos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310896" y="2450592"/>
            <a:ext cx="4169700" cy="7773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457200" y="2596896"/>
            <a:ext cx="3877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Calendario uniforme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paso de mutación no cambia con la generación.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0"/>
          <p:cNvSpPr/>
          <p:nvPr/>
        </p:nvSpPr>
        <p:spPr>
          <a:xfrm>
            <a:off x="4663440" y="2450592"/>
            <a:ext cx="4169700" cy="7773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0"/>
          <p:cNvSpPr txBox="1"/>
          <p:nvPr/>
        </p:nvSpPr>
        <p:spPr>
          <a:xfrm>
            <a:off x="4809744" y="2596896"/>
            <a:ext cx="38772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Calendario no uniforme (Michalewicz)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paso decae: exploración amplia al principio, ajuste fino al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0"/>
          <p:cNvSpPr/>
          <p:nvPr/>
        </p:nvSpPr>
        <p:spPr>
          <a:xfrm>
            <a:off x="310896" y="3364992"/>
            <a:ext cx="8522100" cy="7773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457200" y="3511296"/>
            <a:ext cx="82296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4 alcances × 2 calendarios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enunciado lista Gen / MultiGen / Uniforme / No Uniforme en una sola lista. Desdoblarlo en alcance y calendario cubre las dos lecturas posibles.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1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Supervivencia y criterios de corte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1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1"/>
          <p:cNvSpPr/>
          <p:nvPr/>
        </p:nvSpPr>
        <p:spPr>
          <a:xfrm>
            <a:off x="310896" y="1207008"/>
            <a:ext cx="2718900" cy="1188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1"/>
          <p:cNvSpPr txBox="1"/>
          <p:nvPr/>
        </p:nvSpPr>
        <p:spPr>
          <a:xfrm>
            <a:off x="457200" y="1353312"/>
            <a:ext cx="2426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Aditiva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 eligen N de la unión de los N padres y los K hijos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1"/>
          <p:cNvSpPr/>
          <p:nvPr/>
        </p:nvSpPr>
        <p:spPr>
          <a:xfrm>
            <a:off x="3212592" y="1207008"/>
            <a:ext cx="2718900" cy="1188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1"/>
          <p:cNvSpPr txBox="1"/>
          <p:nvPr/>
        </p:nvSpPr>
        <p:spPr>
          <a:xfrm>
            <a:off x="3358896" y="1353312"/>
            <a:ext cx="2426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Exclusiva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Si K &gt; N, N de los hijos. Si K ≤ N, todos los hijos más N−K padres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1"/>
          <p:cNvSpPr/>
          <p:nvPr/>
        </p:nvSpPr>
        <p:spPr>
          <a:xfrm>
            <a:off x="6114288" y="1207008"/>
            <a:ext cx="2718900" cy="1188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1"/>
          <p:cNvSpPr txBox="1"/>
          <p:nvPr/>
        </p:nvSpPr>
        <p:spPr>
          <a:xfrm>
            <a:off x="6260592" y="1353312"/>
            <a:ext cx="2426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Brecha generacional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(1−G)·N de la anterior más G·N de los hijos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1"/>
          <p:cNvSpPr/>
          <p:nvPr/>
        </p:nvSpPr>
        <p:spPr>
          <a:xfrm>
            <a:off x="310896" y="2606040"/>
            <a:ext cx="8522100" cy="12801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1"/>
          <p:cNvSpPr txBox="1"/>
          <p:nvPr/>
        </p:nvSpPr>
        <p:spPr>
          <a:xfrm>
            <a:off x="493776" y="2743200"/>
            <a:ext cx="815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Cinco criterios de corte, con orden de prioridad fijo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1"/>
          <p:cNvSpPr txBox="1"/>
          <p:nvPr/>
        </p:nvSpPr>
        <p:spPr>
          <a:xfrm>
            <a:off x="493776" y="3063240"/>
            <a:ext cx="157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1. Generaciones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493776" y="3291840"/>
            <a:ext cx="1572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tope de horizonte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1"/>
          <p:cNvSpPr txBox="1"/>
          <p:nvPr/>
        </p:nvSpPr>
        <p:spPr>
          <a:xfrm>
            <a:off x="2130552" y="3063240"/>
            <a:ext cx="157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2. Reloj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2130552" y="3291840"/>
            <a:ext cx="1572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segundos transcurridos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3767328" y="3063240"/>
            <a:ext cx="157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3. Fitness mínimo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3767328" y="3291840"/>
            <a:ext cx="1572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solución aceptable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 txBox="1"/>
          <p:nvPr/>
        </p:nvSpPr>
        <p:spPr>
          <a:xfrm>
            <a:off x="5404104" y="3063240"/>
            <a:ext cx="157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4.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1"/>
          <p:cNvSpPr txBox="1"/>
          <p:nvPr/>
        </p:nvSpPr>
        <p:spPr>
          <a:xfrm>
            <a:off x="5404104" y="3291840"/>
            <a:ext cx="1572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el fitness dejó de moverse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"/>
          <p:cNvSpPr txBox="1"/>
          <p:nvPr/>
        </p:nvSpPr>
        <p:spPr>
          <a:xfrm>
            <a:off x="7040880" y="3063240"/>
            <a:ext cx="157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5. 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7040880" y="3291840"/>
            <a:ext cx="1572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la población dejó de cambiar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1"/>
          <p:cNvSpPr txBox="1"/>
          <p:nvPr/>
        </p:nvSpPr>
        <p:spPr>
          <a:xfrm>
            <a:off x="493776" y="3675887"/>
            <a:ext cx="8156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 validación rechaza un config sin ningún criterio activo: una corrida que nunca termina no arranca.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2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2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2"/>
          <p:cNvSpPr/>
          <p:nvPr/>
        </p:nvSpPr>
        <p:spPr>
          <a:xfrm>
            <a:off x="310896" y="1207008"/>
            <a:ext cx="1993500" cy="960000"/>
          </a:xfrm>
          <a:prstGeom prst="roundRect">
            <a:avLst>
              <a:gd fmla="val 9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2"/>
          <p:cNvSpPr txBox="1"/>
          <p:nvPr/>
        </p:nvSpPr>
        <p:spPr>
          <a:xfrm>
            <a:off x="310896" y="1389888"/>
            <a:ext cx="19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310896" y="1847088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celdas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2"/>
          <p:cNvSpPr/>
          <p:nvPr/>
        </p:nvSpPr>
        <p:spPr>
          <a:xfrm>
            <a:off x="2487168" y="1207008"/>
            <a:ext cx="1993500" cy="960000"/>
          </a:xfrm>
          <a:prstGeom prst="roundRect">
            <a:avLst>
              <a:gd fmla="val 9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2"/>
          <p:cNvSpPr txBox="1"/>
          <p:nvPr/>
        </p:nvSpPr>
        <p:spPr>
          <a:xfrm>
            <a:off x="2487168" y="1389888"/>
            <a:ext cx="19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2"/>
          <p:cNvSpPr txBox="1"/>
          <p:nvPr/>
        </p:nvSpPr>
        <p:spPr>
          <a:xfrm>
            <a:off x="2487168" y="1847088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semillas por celda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2"/>
          <p:cNvSpPr/>
          <p:nvPr/>
        </p:nvSpPr>
        <p:spPr>
          <a:xfrm>
            <a:off x="4663440" y="1207008"/>
            <a:ext cx="1993500" cy="960000"/>
          </a:xfrm>
          <a:prstGeom prst="roundRect">
            <a:avLst>
              <a:gd fmla="val 9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2"/>
          <p:cNvSpPr txBox="1"/>
          <p:nvPr/>
        </p:nvSpPr>
        <p:spPr>
          <a:xfrm>
            <a:off x="4663440" y="1389888"/>
            <a:ext cx="19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2"/>
          <p:cNvSpPr txBox="1"/>
          <p:nvPr/>
        </p:nvSpPr>
        <p:spPr>
          <a:xfrm>
            <a:off x="4663440" y="1847088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corridas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/>
          <p:nvPr/>
        </p:nvSpPr>
        <p:spPr>
          <a:xfrm>
            <a:off x="6839712" y="1207008"/>
            <a:ext cx="1993500" cy="960000"/>
          </a:xfrm>
          <a:prstGeom prst="roundRect">
            <a:avLst>
              <a:gd fmla="val 9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2"/>
          <p:cNvSpPr txBox="1"/>
          <p:nvPr/>
        </p:nvSpPr>
        <p:spPr>
          <a:xfrm>
            <a:off x="6839712" y="1389888"/>
            <a:ext cx="19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6839712" y="1847088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generaciones c/u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2"/>
          <p:cNvSpPr/>
          <p:nvPr/>
        </p:nvSpPr>
        <p:spPr>
          <a:xfrm>
            <a:off x="310896" y="2331720"/>
            <a:ext cx="4169700" cy="8688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457200" y="2478024"/>
            <a:ext cx="3877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Cinco brazos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Selección (7 métodos, en padres y reemplazo) · selección solo en padres, reemplazo elite (7) · supervivencia K/N (6) · control de cruza (2) · mutación (8: cuatro alcances a igual Pm y tres con la tasa igualada)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2"/>
          <p:cNvSpPr/>
          <p:nvPr/>
        </p:nvSpPr>
        <p:spPr>
          <a:xfrm>
            <a:off x="4663440" y="2331720"/>
            <a:ext cx="4169700" cy="8688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4809744" y="2478024"/>
            <a:ext cx="38772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Configuración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flag_ar.png · canvas 128×128 · 30 triángulos · N = 30, K = 40 · Pc = 0,8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2"/>
          <p:cNvSpPr/>
          <p:nvPr/>
        </p:nvSpPr>
        <p:spPr>
          <a:xfrm>
            <a:off x="310896" y="3337560"/>
            <a:ext cx="8522100" cy="7773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2"/>
          <p:cNvSpPr txBox="1"/>
          <p:nvPr/>
        </p:nvSpPr>
        <p:spPr>
          <a:xfrm>
            <a:off x="457200" y="3483864"/>
            <a:ext cx="82296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Un factor por vez, no el cruce completo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cruce de todos contra todos habría requerido unas 720 corridas. Barrer de a un factor aísla el efecto de cada operador a una fracción del costo.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3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3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Métodos de selección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3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seleccion.png" id="446" name="Google Shape;44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207008"/>
            <a:ext cx="5532121" cy="2946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3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3"/>
          <p:cNvSpPr txBox="1"/>
          <p:nvPr/>
        </p:nvSpPr>
        <p:spPr>
          <a:xfrm>
            <a:off x="6199632" y="1353312"/>
            <a:ext cx="2487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Dos grupos, no un gradiente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Elite, ranking y los dos torneos llegan a 0,98. Ruleta, universal y Boltzmann se quedan planos.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3"/>
          <p:cNvSpPr txBox="1"/>
          <p:nvPr/>
        </p:nvSpPr>
        <p:spPr>
          <a:xfrm>
            <a:off x="6199632" y="2889504"/>
            <a:ext cx="2487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fondo del gráfico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0,695 es lo que puntúa un canvas en blanco, sin un solo triángulo. Los tres de abajo terminan apenas por encima de eso.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4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4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4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Selección: el ranking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selection_final_bars.png" id="459" name="Google Shape;45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51" y="1207008"/>
            <a:ext cx="5397810" cy="2946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4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4"/>
          <p:cNvSpPr txBox="1"/>
          <p:nvPr/>
        </p:nvSpPr>
        <p:spPr>
          <a:xfrm>
            <a:off x="6199632" y="1353312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Cuatro arriba, tres 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Ranking 0,9821, torneo probabilístico 0,9802, elite y torneo determinístico 0,9784. Universal 0,7448, Boltzmann 0,7330, ruleta 0,7163.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4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4"/>
          <p:cNvSpPr txBox="1"/>
          <p:nvPr/>
        </p:nvSpPr>
        <p:spPr>
          <a:xfrm>
            <a:off x="6199632" y="2889504"/>
            <a:ext cx="2487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Las barras arrancan en 0,6950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No en cero: es lo que puntúa un canvas en blanco. Los tres proporcionales apenas se despegan de ese piso.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5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5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Selección: padres contra reemplazo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5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seleccion.png" id="472" name="Google Shape;472;p45"/>
          <p:cNvPicPr preferRelativeResize="0"/>
          <p:nvPr/>
        </p:nvPicPr>
        <p:blipFill rotWithShape="1">
          <a:blip r:embed="rId3">
            <a:alphaModFix/>
          </a:blip>
          <a:srcRect b="0" l="0" r="0" t="20102"/>
          <a:stretch/>
        </p:blipFill>
        <p:spPr>
          <a:xfrm>
            <a:off x="310900" y="1207001"/>
            <a:ext cx="5639208" cy="29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5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5"/>
          <p:cNvSpPr txBox="1"/>
          <p:nvPr/>
        </p:nvSpPr>
        <p:spPr>
          <a:xfrm>
            <a:off x="6199632" y="1353312"/>
            <a:ext cx="24873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reemplazo es el que decide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Los mismos 7 métodos. Si el método gobierna padres y reemplazo, ruleta, universal y Boltzmann se quedan planos. Restringidos a la selección de padres, con reemplazo elite, los siete terminan entre 0,973 y 0,986.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5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5"/>
          <p:cNvSpPr txBox="1"/>
          <p:nvPr/>
        </p:nvSpPr>
        <p:spPr>
          <a:xfrm>
            <a:off x="6199632" y="2889504"/>
            <a:ext cx="24873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Por qué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Un padre débil sólo cuesta velocidad: los buenos siguen en la población y se los puede volver a elegir. Un reemplazo débil los descarta. Con ruleta, el mejor individuo sobrevive 0,46 veces por generación.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6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6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6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Corregida la escala, funcionan los siete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6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seleccion.png" id="485" name="Google Shape;4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392033"/>
            <a:ext cx="5532123" cy="2576407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6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6"/>
          <p:cNvSpPr txBox="1"/>
          <p:nvPr/>
        </p:nvSpPr>
        <p:spPr>
          <a:xfrm>
            <a:off x="6199632" y="1353312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Reescalado y temperatura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Restarle a cada individuo el piso de la población: ruleta 0,72 → 0,96 y universal 0,74 → 0,97. Boltzmann con Tc = 0,002 en vez de 0,5: 0,72 → 0,97.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6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6"/>
          <p:cNvSpPr txBox="1"/>
          <p:nvPr/>
        </p:nvSpPr>
        <p:spPr>
          <a:xfrm>
            <a:off x="6199632" y="2889504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Sin elitismo en ninguno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Los tres métodos que la lámina anterior da por perdidos convergen igual que los otros cuatro. No fallaban por su definición, sino por la escala de la función de fitness.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7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Velocidad de convergencia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convergencia.png" id="498" name="Google Shape;49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298448"/>
            <a:ext cx="5532122" cy="290099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/>
          <p:nvPr/>
        </p:nvSpPr>
        <p:spPr>
          <a:xfrm>
            <a:off x="6053328" y="1298448"/>
            <a:ext cx="27798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7"/>
          <p:cNvSpPr txBox="1"/>
          <p:nvPr/>
        </p:nvSpPr>
        <p:spPr>
          <a:xfrm>
            <a:off x="6199632" y="1444751"/>
            <a:ext cx="2487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Elite es el más rápido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519 generaciones hasta 0,95, contra 1472 del torneo probabilístico.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/>
          <p:nvPr/>
        </p:nvSpPr>
        <p:spPr>
          <a:xfrm>
            <a:off x="6053328" y="2761488"/>
            <a:ext cx="27798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7"/>
          <p:cNvSpPr txBox="1"/>
          <p:nvPr/>
        </p:nvSpPr>
        <p:spPr>
          <a:xfrm>
            <a:off x="6199632" y="2907792"/>
            <a:ext cx="2487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Pero ranking termina mejor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0,98285 contra 0,98153 de elite. Converger rápido no es converger mejor.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8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8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Qué cuesta cada 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8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cost.png" id="511" name="Google Shape;51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7575"/>
            <a:ext cx="6053323" cy="293651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8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8"/>
          <p:cNvSpPr txBox="1"/>
          <p:nvPr/>
        </p:nvSpPr>
        <p:spPr>
          <a:xfrm>
            <a:off x="6199632" y="1353312"/>
            <a:ext cx="24873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En tiempo, todos cuestan igual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Entre 18 y 21 segundos por corrida. A igual presupuesto de renders, el método de selección casi no mueve el reloj.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8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8"/>
          <p:cNvSpPr txBox="1"/>
          <p:nvPr/>
        </p:nvSpPr>
        <p:spPr>
          <a:xfrm>
            <a:off x="6199632" y="2889504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En generaciones,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Elite llega a 0,95 en 635 generaciones y el torneo probabilístico necesita 1473. Ruleta, universal y Boltzmann no llegan nunca.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9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9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9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Por qué la ruleta no arranca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9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presion.png" id="524" name="Google Shape;5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207008"/>
            <a:ext cx="4617718" cy="28704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9"/>
          <p:cNvSpPr/>
          <p:nvPr/>
        </p:nvSpPr>
        <p:spPr>
          <a:xfrm>
            <a:off x="5138928" y="1207008"/>
            <a:ext cx="36942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9"/>
          <p:cNvSpPr txBox="1"/>
          <p:nvPr/>
        </p:nvSpPr>
        <p:spPr>
          <a:xfrm>
            <a:off x="5285232" y="1353312"/>
            <a:ext cx="3401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fitness vive comprimido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En la población inicial va de 0,5627 a 0,7041. Con ese rango, la probabilidad proporcional casi no distingue entre individuos.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9"/>
          <p:cNvSpPr/>
          <p:nvPr/>
        </p:nvSpPr>
        <p:spPr>
          <a:xfrm>
            <a:off x="5138928" y="2743200"/>
            <a:ext cx="36942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9"/>
          <p:cNvSpPr txBox="1"/>
          <p:nvPr/>
        </p:nvSpPr>
        <p:spPr>
          <a:xfrm>
            <a:off x="5285232" y="2889504"/>
            <a:ext cx="3401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La ruleta es azar con pasos extra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Le da al mejor individuo un 9 % más de chances que tirar una moneda. No es convergencia prematura: es falta de presión.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0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50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0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Diversidad genética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0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diversidad.png" id="537" name="Google Shape;53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207008"/>
            <a:ext cx="5532121" cy="2946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0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0"/>
          <p:cNvSpPr txBox="1"/>
          <p:nvPr/>
        </p:nvSpPr>
        <p:spPr>
          <a:xfrm>
            <a:off x="6199632" y="1353312"/>
            <a:ext cx="2487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Escala logarítmica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En escala lineal las siete curvas se aplastan contra el cero y no se distingue 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0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0"/>
          <p:cNvSpPr txBox="1"/>
          <p:nvPr/>
        </p:nvSpPr>
        <p:spPr>
          <a:xfrm>
            <a:off x="6199632" y="2889504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27× de diferencia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Elite queda en 0,0008 y universal en 0,0229. La alta presión colapsa la diversidad; la baja presión la conserva y no la usa.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1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1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Supervivencia: aditiva vs exclusiva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1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supervivencia.png" id="550" name="Google Shape;55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188720"/>
            <a:ext cx="6309362" cy="2545882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1"/>
          <p:cNvSpPr txBox="1"/>
          <p:nvPr/>
        </p:nvSpPr>
        <p:spPr>
          <a:xfrm>
            <a:off x="310896" y="3785615"/>
            <a:ext cx="852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caso patológico es K = N, no K &gt;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1"/>
          <p:cNvSpPr txBox="1"/>
          <p:nvPr/>
        </p:nvSpPr>
        <p:spPr>
          <a:xfrm>
            <a:off x="310896" y="4041648"/>
            <a:ext cx="852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Con K = N el código devuelve todos los hijos sin ninguna selección: 1329 caídas del mejor fitness sobre 3000 generaciones. Con K = 2N se eligen los mejores N de K y quedan 35.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2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2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¿La cruza aporta algo?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2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cruza.png" id="561" name="Google Shape;56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298448"/>
            <a:ext cx="5166360" cy="2763402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2"/>
          <p:cNvSpPr/>
          <p:nvPr/>
        </p:nvSpPr>
        <p:spPr>
          <a:xfrm>
            <a:off x="5687568" y="1298448"/>
            <a:ext cx="31455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2"/>
          <p:cNvSpPr txBox="1"/>
          <p:nvPr/>
        </p:nvSpPr>
        <p:spPr>
          <a:xfrm>
            <a:off x="5833872" y="1444751"/>
            <a:ext cx="2853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 misma configuración con y sin cruza, al mismo presupuesto de renders y sobre las mismas 5 semillas.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5687568" y="2761488"/>
            <a:ext cx="31455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2"/>
          <p:cNvSpPr txBox="1"/>
          <p:nvPr/>
        </p:nvSpPr>
        <p:spPr>
          <a:xfrm>
            <a:off x="5833872" y="2907792"/>
            <a:ext cx="2853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No es destructiva ni salvadora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0,98204 contra 0,98249. La diferencia es menor que el ruido entre semillas, que va de 0,970 a 0,993.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3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3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3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Métodos de mutación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3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mutation_fitness.png" id="574" name="Google Shape;57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546833"/>
            <a:ext cx="5532122" cy="226680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3"/>
          <p:cNvSpPr/>
          <p:nvPr/>
        </p:nvSpPr>
        <p:spPr>
          <a:xfrm>
            <a:off x="6053328" y="1207008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3"/>
          <p:cNvSpPr txBox="1"/>
          <p:nvPr/>
        </p:nvSpPr>
        <p:spPr>
          <a:xfrm>
            <a:off x="6199632" y="1353312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El mismo Pm no es la misma tasa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Con Pm = 0,9, gen muta 0,9 genes por hijo y multigen uniforme muta 297. Comparar los cuatro alcances a igual Pm compara radios de búsqueda, no operadores.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3"/>
          <p:cNvSpPr/>
          <p:nvPr/>
        </p:nvSpPr>
        <p:spPr>
          <a:xfrm>
            <a:off x="6053328" y="2743200"/>
            <a:ext cx="2779800" cy="14172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3"/>
          <p:cNvSpPr txBox="1"/>
          <p:nvPr/>
        </p:nvSpPr>
        <p:spPr>
          <a:xfrm>
            <a:off x="6199632" y="2889504"/>
            <a:ext cx="248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Igualada la tasa, tres de cuatro empatan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 0,9 genes por hijo esperados llegan a 0,98. Completa cae a 0,7280: reparte esa media en reescrituras totales y raras, así que casi ningún hijo muta.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4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4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4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Comparación contra un hill climber (1+1)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4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hillclimber.png" id="587" name="Google Shape;58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298448"/>
            <a:ext cx="5166360" cy="2763402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54"/>
          <p:cNvSpPr/>
          <p:nvPr/>
        </p:nvSpPr>
        <p:spPr>
          <a:xfrm>
            <a:off x="5687568" y="1298448"/>
            <a:ext cx="31455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4"/>
          <p:cNvSpPr txBox="1"/>
          <p:nvPr/>
        </p:nvSpPr>
        <p:spPr>
          <a:xfrm>
            <a:off x="5833872" y="1444751"/>
            <a:ext cx="2853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Qué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Población de uno, sin cruza y sin selección: muta y acepta solo si mejora. No es un AG, y no lo llamamos así.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5687568" y="2761488"/>
            <a:ext cx="3145500" cy="1326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4"/>
          <p:cNvSpPr txBox="1"/>
          <p:nvPr/>
        </p:nvSpPr>
        <p:spPr>
          <a:xfrm>
            <a:off x="5833872" y="2907792"/>
            <a:ext cx="2853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Y nos gana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0,98803 contra 0,98285, y va adelante casi todo el presupuesto. Lo reportamos como salió.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5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5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5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Evolución visual: la presión se 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5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g_ar_elite.gif" id="600" name="Google Shape;6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20" y="1298448"/>
            <a:ext cx="214884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5"/>
          <p:cNvSpPr/>
          <p:nvPr/>
        </p:nvSpPr>
        <p:spPr>
          <a:xfrm>
            <a:off x="2103120" y="1298448"/>
            <a:ext cx="2148900" cy="2148900"/>
          </a:xfrm>
          <a:prstGeom prst="rect">
            <a:avLst/>
          </a:prstGeom>
          <a:noFill/>
          <a:ln cap="flat" cmpd="sng" w="9525">
            <a:solidFill>
              <a:srgbClr val="BFC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g_ar_roulette.gif" id="602" name="Google Shape;60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298448"/>
            <a:ext cx="214884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5"/>
          <p:cNvSpPr/>
          <p:nvPr/>
        </p:nvSpPr>
        <p:spPr>
          <a:xfrm>
            <a:off x="4937760" y="1298448"/>
            <a:ext cx="2148900" cy="2148900"/>
          </a:xfrm>
          <a:prstGeom prst="rect">
            <a:avLst/>
          </a:prstGeom>
          <a:noFill/>
          <a:ln cap="flat" cmpd="sng" w="9525">
            <a:solidFill>
              <a:srgbClr val="BFC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5"/>
          <p:cNvSpPr txBox="1"/>
          <p:nvPr/>
        </p:nvSpPr>
        <p:spPr>
          <a:xfrm>
            <a:off x="2103120" y="3529584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Elite — fitness 0,98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5"/>
          <p:cNvSpPr txBox="1"/>
          <p:nvPr/>
        </p:nvSpPr>
        <p:spPr>
          <a:xfrm>
            <a:off x="4937760" y="3529584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Ruleta — fitness 0,72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5"/>
          <p:cNvSpPr txBox="1"/>
          <p:nvPr/>
        </p:nvSpPr>
        <p:spPr>
          <a:xfrm>
            <a:off x="310896" y="3977639"/>
            <a:ext cx="85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 misma imagen objetivo, el mismo presupuesto y la misma cantidad de generaciones. Lo único que cambia es el método de selección.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6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6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6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Evolución visual: objetivos más difíciles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6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ogram_elite.gif" id="615" name="Google Shape;61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604" y="1298448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56"/>
          <p:cNvSpPr/>
          <p:nvPr/>
        </p:nvSpPr>
        <p:spPr>
          <a:xfrm>
            <a:off x="641604" y="1298448"/>
            <a:ext cx="2057400" cy="2057400"/>
          </a:xfrm>
          <a:prstGeom prst="rect">
            <a:avLst/>
          </a:prstGeom>
          <a:noFill/>
          <a:ln cap="flat" cmpd="sng" w="9525">
            <a:solidFill>
              <a:srgbClr val="BFC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6"/>
          <p:cNvSpPr txBox="1"/>
          <p:nvPr/>
        </p:nvSpPr>
        <p:spPr>
          <a:xfrm>
            <a:off x="310896" y="3438144"/>
            <a:ext cx="271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Pictograma — 20 triángulos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6"/>
          <p:cNvSpPr txBox="1"/>
          <p:nvPr/>
        </p:nvSpPr>
        <p:spPr>
          <a:xfrm>
            <a:off x="6400442" y="3438144"/>
            <a:ext cx="271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Mona Lisa — </a:t>
            </a:r>
            <a:r>
              <a:rPr lang="en-GB" sz="1000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100 </a:t>
            </a:r>
            <a:r>
              <a:rPr b="0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 triángulos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rl_pearl_earring_elite.gif" id="619" name="Google Shape;61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6421" y="1298448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6"/>
          <p:cNvSpPr/>
          <p:nvPr/>
        </p:nvSpPr>
        <p:spPr>
          <a:xfrm>
            <a:off x="3686421" y="1298448"/>
            <a:ext cx="2057400" cy="2057400"/>
          </a:xfrm>
          <a:prstGeom prst="rect">
            <a:avLst/>
          </a:prstGeom>
          <a:noFill/>
          <a:ln cap="flat" cmpd="sng" w="9525">
            <a:solidFill>
              <a:srgbClr val="BFC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6"/>
          <p:cNvSpPr txBox="1"/>
          <p:nvPr/>
        </p:nvSpPr>
        <p:spPr>
          <a:xfrm>
            <a:off x="3355663" y="3438144"/>
            <a:ext cx="271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La joven de la perla — 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6"/>
          <p:cNvSpPr txBox="1"/>
          <p:nvPr/>
        </p:nvSpPr>
        <p:spPr>
          <a:xfrm>
            <a:off x="310896" y="3840480"/>
            <a:ext cx="8522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Los dos retratos quedan fuera de la matriz formal de 110 corridas: son de dominio público, vía Wikimedia Commons, y están para variar la complejidad del objetivo.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56" title="cp_100_fin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1250" y="1298450"/>
            <a:ext cx="20574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7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7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7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Más allá del enunciado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7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7"/>
          <p:cNvSpPr/>
          <p:nvPr/>
        </p:nvSpPr>
        <p:spPr>
          <a:xfrm>
            <a:off x="310896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7"/>
          <p:cNvSpPr txBox="1"/>
          <p:nvPr/>
        </p:nvSpPr>
        <p:spPr>
          <a:xfrm>
            <a:off x="457200" y="1380744"/>
            <a:ext cx="24261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Operadores extra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Blend, que combina dos selectores por un coeficiente. Boundary triangle en los cuatro cruces. Calendario Michalewicz en las cuatro mutaciones.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7"/>
          <p:cNvSpPr/>
          <p:nvPr/>
        </p:nvSpPr>
        <p:spPr>
          <a:xfrm>
            <a:off x="3212592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7"/>
          <p:cNvSpPr txBox="1"/>
          <p:nvPr/>
        </p:nvSpPr>
        <p:spPr>
          <a:xfrm>
            <a:off x="3358896" y="1380744"/>
            <a:ext cx="2426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Rescalado del fitness contra el piso de la población: rescata ruleta, universal y Boltzmann sin tocar su definición.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7"/>
          <p:cNvSpPr/>
          <p:nvPr/>
        </p:nvSpPr>
        <p:spPr>
          <a:xfrm>
            <a:off x="6114288" y="1234440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7"/>
          <p:cNvSpPr txBox="1"/>
          <p:nvPr/>
        </p:nvSpPr>
        <p:spPr>
          <a:xfrm>
            <a:off x="6260592" y="1380744"/>
            <a:ext cx="2426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Comparación honesta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Hill climber (1+1) al mismo presupuesto de renders. Nos gana, 0,98803 contra 0,98285, y lo reportamos como salió.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7"/>
          <p:cNvSpPr/>
          <p:nvPr/>
        </p:nvSpPr>
        <p:spPr>
          <a:xfrm>
            <a:off x="310896" y="2651760"/>
            <a:ext cx="8522100" cy="9600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7"/>
          <p:cNvSpPr txBox="1"/>
          <p:nvPr/>
        </p:nvSpPr>
        <p:spPr>
          <a:xfrm>
            <a:off x="457200" y="2798064"/>
            <a:ext cx="8229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Reproducibilidad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Cada corrida archiva su semilla, su configuración efectiva, las versiones de las librerías y el commit.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7"/>
          <p:cNvSpPr txBox="1"/>
          <p:nvPr/>
        </p:nvSpPr>
        <p:spPr>
          <a:xfrm>
            <a:off x="310896" y="3749039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 150 corridas se reconstruyen desde un clon limpio con dos comandos.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8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8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Qué operador conviene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8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8"/>
          <p:cNvSpPr/>
          <p:nvPr/>
        </p:nvSpPr>
        <p:spPr>
          <a:xfrm>
            <a:off x="310896" y="1207008"/>
            <a:ext cx="41697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8"/>
          <p:cNvSpPr txBox="1"/>
          <p:nvPr/>
        </p:nvSpPr>
        <p:spPr>
          <a:xfrm>
            <a:off x="457200" y="1353312"/>
            <a:ext cx="38772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Selección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Los basados en orden (ranking, elite, torneos) funcionan sobre el fitness crudo; ranking termina primero y elite llega más rápido. Los proporcionales no son peores: sirven igual una vez corregida la escala, y sin elitismo llegan a 0,96 reescalando y a 0,97 con Boltzmann a Tc = 0,002.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4663440" y="1207008"/>
            <a:ext cx="41697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8"/>
          <p:cNvSpPr txBox="1"/>
          <p:nvPr/>
        </p:nvSpPr>
        <p:spPr>
          <a:xfrm>
            <a:off x="4809744" y="1353312"/>
            <a:ext cx="38772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Supervivencia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Aditiva siempre. Es monótona por construcción y no perdimos nada usándola. La exclusiva solo es segura con K &lt; 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8"/>
          <p:cNvSpPr/>
          <p:nvPr/>
        </p:nvSpPr>
        <p:spPr>
          <a:xfrm>
            <a:off x="310896" y="2606040"/>
            <a:ext cx="41697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8"/>
          <p:cNvSpPr txBox="1"/>
          <p:nvPr/>
        </p:nvSpPr>
        <p:spPr>
          <a:xfrm>
            <a:off x="457200" y="2752344"/>
            <a:ext cx="38772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Cruza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Indistinguible del ruido sobre esta representación: no hay convención que alinee el triángulo i entre dos padres, y el orden de dibujado no es conmutativo.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8"/>
          <p:cNvSpPr/>
          <p:nvPr/>
        </p:nvSpPr>
        <p:spPr>
          <a:xfrm>
            <a:off x="4663440" y="2606040"/>
            <a:ext cx="41697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8"/>
          <p:cNvSpPr txBox="1"/>
          <p:nvPr/>
        </p:nvSpPr>
        <p:spPr>
          <a:xfrm>
            <a:off x="4809744" y="2752344"/>
            <a:ext cx="38772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Mutación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Es el operador que efectivamente mueve la búsqueda. Con gen simple y Pm alto alcanza para llegar a 0,98.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9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9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9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hallazgo que no esperábamos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9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9"/>
          <p:cNvSpPr/>
          <p:nvPr/>
        </p:nvSpPr>
        <p:spPr>
          <a:xfrm>
            <a:off x="310896" y="1207008"/>
            <a:ext cx="8522100" cy="731400"/>
          </a:xfrm>
          <a:prstGeom prst="roundRect">
            <a:avLst>
              <a:gd fmla="val 11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9"/>
          <p:cNvSpPr txBox="1"/>
          <p:nvPr/>
        </p:nvSpPr>
        <p:spPr>
          <a:xfrm>
            <a:off x="310896" y="1444752"/>
            <a:ext cx="85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 canvas en blanco, sin un solo triángulo, ya puntúa 0,695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9"/>
          <p:cNvSpPr/>
          <p:nvPr/>
        </p:nvSpPr>
        <p:spPr>
          <a:xfrm>
            <a:off x="310896" y="2084831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9"/>
          <p:cNvSpPr txBox="1"/>
          <p:nvPr/>
        </p:nvSpPr>
        <p:spPr>
          <a:xfrm>
            <a:off x="457200" y="2231136"/>
            <a:ext cx="2426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La causa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fitness está normalizado contra el peor caso posible, que es un canvas negro contra uno blanco.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9"/>
          <p:cNvSpPr/>
          <p:nvPr/>
        </p:nvSpPr>
        <p:spPr>
          <a:xfrm>
            <a:off x="3212592" y="2084831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9"/>
          <p:cNvSpPr txBox="1"/>
          <p:nvPr/>
        </p:nvSpPr>
        <p:spPr>
          <a:xfrm>
            <a:off x="3358896" y="2231136"/>
            <a:ext cx="2426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La consecuencia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Todo el rango útil vive entre 0,69 y 1,0. La selección proporcional no tiene contra qué contrastar.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9"/>
          <p:cNvSpPr/>
          <p:nvPr/>
        </p:nvSpPr>
        <p:spPr>
          <a:xfrm>
            <a:off x="6114288" y="2084831"/>
            <a:ext cx="2718900" cy="12345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9"/>
          <p:cNvSpPr txBox="1"/>
          <p:nvPr/>
        </p:nvSpPr>
        <p:spPr>
          <a:xfrm>
            <a:off x="6260592" y="2231136"/>
            <a:ext cx="2426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4E9E33"/>
                </a:solidFill>
                <a:latin typeface="Lato"/>
                <a:ea typeface="Lato"/>
                <a:cs typeface="Lato"/>
                <a:sym typeface="Lato"/>
              </a:rPr>
              <a:t>El arreglo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Escalar el fitness contra el mínimo de la población, o bajar mucho la temperatura de Boltzmann.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9"/>
          <p:cNvSpPr txBox="1"/>
          <p:nvPr/>
        </p:nvSpPr>
        <p:spPr>
          <a:xfrm>
            <a:off x="310896" y="3520440"/>
            <a:ext cx="852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273C42"/>
                </a:solidFill>
                <a:latin typeface="Lato"/>
                <a:ea typeface="Lato"/>
                <a:cs typeface="Lato"/>
                <a:sym typeface="Lato"/>
              </a:rPr>
              <a:t>Tres de los siete métodos de la matriz no fallan por su definición: fallan porque la función de fitness no les da con qué trabajar.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0"/>
          <p:cNvSpPr/>
          <p:nvPr/>
        </p:nvSpPr>
        <p:spPr>
          <a:xfrm>
            <a:off x="0" y="5047488"/>
            <a:ext cx="9144000" cy="100500"/>
          </a:xfrm>
          <a:prstGeom prst="rect">
            <a:avLst/>
          </a:prstGeom>
          <a:solidFill>
            <a:srgbClr val="F55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60"/>
          <p:cNvSpPr txBox="1"/>
          <p:nvPr/>
        </p:nvSpPr>
        <p:spPr>
          <a:xfrm>
            <a:off x="7863840" y="4700016"/>
            <a:ext cx="96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0"/>
          <p:cNvSpPr txBox="1"/>
          <p:nvPr/>
        </p:nvSpPr>
        <p:spPr>
          <a:xfrm>
            <a:off x="310896" y="310896"/>
            <a:ext cx="85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Limitaciones y trabajo futuro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0"/>
          <p:cNvSpPr txBox="1"/>
          <p:nvPr/>
        </p:nvSpPr>
        <p:spPr>
          <a:xfrm>
            <a:off x="310896" y="841248"/>
            <a:ext cx="852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Ejercicio 2 · 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0"/>
          <p:cNvSpPr/>
          <p:nvPr/>
        </p:nvSpPr>
        <p:spPr>
          <a:xfrm>
            <a:off x="310896" y="1207008"/>
            <a:ext cx="4169700" cy="1188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0"/>
          <p:cNvSpPr txBox="1"/>
          <p:nvPr/>
        </p:nvSpPr>
        <p:spPr>
          <a:xfrm>
            <a:off x="457200" y="1353312"/>
            <a:ext cx="38772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Una sola imagen en la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 110 corridas son todas sobre la bandera. Los otros objetivos quedaron fuera del diseño formal.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0"/>
          <p:cNvSpPr/>
          <p:nvPr/>
        </p:nvSpPr>
        <p:spPr>
          <a:xfrm>
            <a:off x="4572000" y="1207008"/>
            <a:ext cx="4169700" cy="1188600"/>
          </a:xfrm>
          <a:prstGeom prst="roundRect">
            <a:avLst>
              <a:gd fmla="val 7000" name="adj"/>
            </a:avLst>
          </a:prstGeom>
          <a:solidFill>
            <a:srgbClr val="F2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0"/>
          <p:cNvSpPr txBox="1"/>
          <p:nvPr/>
        </p:nvSpPr>
        <p:spPr>
          <a:xfrm>
            <a:off x="4718304" y="1353312"/>
            <a:ext cx="38772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F55E61"/>
                </a:solidFill>
                <a:latin typeface="Lato"/>
                <a:ea typeface="Lato"/>
                <a:cs typeface="Lato"/>
                <a:sym typeface="Lato"/>
              </a:rPr>
              <a:t>Otras primitivas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El enunciado habilita elipses y otros polígonos. Quedó pendiente.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60"/>
          <p:cNvSpPr txBox="1"/>
          <p:nvPr/>
        </p:nvSpPr>
        <p:spPr>
          <a:xfrm>
            <a:off x="310896" y="3950208"/>
            <a:ext cx="8522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BFC7CA"/>
                </a:solidFill>
                <a:latin typeface="Lato"/>
                <a:ea typeface="Lato"/>
                <a:cs typeface="Lato"/>
                <a:sym typeface="Lato"/>
              </a:rPr>
              <a:t>Toda la matriz es reproducible: cada corrida archiva su semilla, su configuración efectiva, las versiones de las librerías y el commit.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1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/>
              <a:t>Muchas gracias</a:t>
            </a:r>
            <a:endParaRPr/>
          </a:p>
        </p:txBody>
      </p:sp>
      <p:sp>
        <p:nvSpPr>
          <p:cNvPr id="692" name="Google Shape;692;p61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600"/>
              <a:t>¿Preguntas?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