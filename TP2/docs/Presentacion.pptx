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embeddedFontLst>
    <p:embeddedFont>
      <p:font typeface="Playfair Display"/>
      <p:regular r:id="rId36"/>
      <p:bold r:id="rId37"/>
      <p:italic r:id="rId38"/>
      <p:boldItalic r:id="rId39"/>
    </p:embeddedFont>
    <p:embeddedFont>
      <p:font typeface="Lato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TOMÁS PIETRAVALL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ato-regular.fntdata"/><Relationship Id="rId20" Type="http://schemas.openxmlformats.org/officeDocument/2006/relationships/slide" Target="slides/slide14.xml"/><Relationship Id="rId42" Type="http://schemas.openxmlformats.org/officeDocument/2006/relationships/font" Target="fonts/Lato-italic.fntdata"/><Relationship Id="rId41" Type="http://schemas.openxmlformats.org/officeDocument/2006/relationships/font" Target="fonts/Lato-bold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43" Type="http://schemas.openxmlformats.org/officeDocument/2006/relationships/font" Target="fonts/Lato-bold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PlayfairDisplay-bold.fntdata"/><Relationship Id="rId14" Type="http://schemas.openxmlformats.org/officeDocument/2006/relationships/slide" Target="slides/slide8.xml"/><Relationship Id="rId36" Type="http://schemas.openxmlformats.org/officeDocument/2006/relationships/font" Target="fonts/PlayfairDisplay-regular.fntdata"/><Relationship Id="rId17" Type="http://schemas.openxmlformats.org/officeDocument/2006/relationships/slide" Target="slides/slide11.xml"/><Relationship Id="rId39" Type="http://schemas.openxmlformats.org/officeDocument/2006/relationships/font" Target="fonts/PlayfairDisplay-boldItalic.fntdata"/><Relationship Id="rId16" Type="http://schemas.openxmlformats.org/officeDocument/2006/relationships/slide" Target="slides/slide10.xml"/><Relationship Id="rId38" Type="http://schemas.openxmlformats.org/officeDocument/2006/relationships/font" Target="fonts/PlayfairDisplay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9-07T20:05:00.552">
    <p:pos x="195" y="1699"/>
    <p:text>?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3ef25c157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3ef25c157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8c62ec8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f8c62ec8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No hay flag de activo/inactivo como en el Ejercicio 2: toda celda tiene siempre un carácter, y la celda vacía es simplemente el espacio en blanco.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8c62ec88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f8c62ec88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8c62ec88e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8c62ec88e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3e895497a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3e895497a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8c62ec88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8c62ec88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El GIF se anima en modo presentación; en modo edición se ve el primer cuadro, que es la población aleatoria.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8c62ec88e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f8c62ec88e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8c62ec88e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f8c62ec88e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8c62ec88e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f8c62ec88e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8c62ec88e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8c62ec88e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c62ec88e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f8c62ec88e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8c62ec88e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f8c62ec88e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8c62ec88e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8c62ec88e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c62ec88e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f8c62ec88e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f8c62ec88e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f8c62ec88e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8c62ec88e_0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f8c62ec88e_0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8c62ec88e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f8c62ec88e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f8c62ec88e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g3f8c62ec88e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La cátedra pregunta por qué la ruleta llevaría a convergencia prematura ante un superindividuo. Nuestro motor muestra el problema opuesto, y por la misma causa de fondo: la ruleta depende de la escala absoluta del fitness. Ranking y Boltzmann la desacoplan, y por eso ranking sí funciona.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f8c62ec88e_0_3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g3f8c62ec88e_0_3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8c62ec88e_0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f8c62ec88e_0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8c62ec88e_0_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g3f8c62ec88e_0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Respuesta honesta a la pregunta previa del enunciado sobre si la cruza genera descendientes con buenas probabilidades de mejorar: sobre esta representación, medido, no aporta nada distinguible del ruido.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f8c62ec88e_0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g3f8c62ec88e_0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Se entiende con la lámina de presión de selección: con la presión real que mide la matriz, el AG está haciendo poco más que búsqueda aleatoria en paralelo, mientras que el (1+1) tiene presión de selección perfecta por construcción.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8c62ec88e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g3f8c62ec88e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f8c62ec88e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g3f8c62ec88e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8c62ec88e_0_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f8c62ec88e_0_4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8c62ec88e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8c62ec88e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f8c62ec88e_0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3f8c62ec88e_0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f3ef25c157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f3ef25c157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gif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gif"/><Relationship Id="rId4" Type="http://schemas.openxmlformats.org/officeDocument/2006/relationships/image" Target="../media/image8.gif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gif"/><Relationship Id="rId4" Type="http://schemas.openxmlformats.org/officeDocument/2006/relationships/image" Target="../media/image11.gif"/><Relationship Id="rId5" Type="http://schemas.openxmlformats.org/officeDocument/2006/relationships/image" Target="../media/image12.gif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300" y="1391875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Trabajo Práctico N°2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479400" y="2790250"/>
            <a:ext cx="8185200" cy="126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Alicia Cobo Iglesias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Lucas Di Candia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Axel Farina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Emilio Mitchell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Tomas Pietravallo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1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Arte ASCII mediante Algoritmos Genéticos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endParaRPr/>
          </a:p>
        </p:txBody>
      </p:sp>
      <p:sp>
        <p:nvSpPr>
          <p:cNvPr id="72" name="Google Shape;72;p1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Individuo y genes</a:t>
            </a:r>
            <a:endParaRPr/>
          </a:p>
        </p:txBody>
      </p:sp>
      <p:sp>
        <p:nvSpPr>
          <p:cNvPr id="73" name="Google Shape;73;p1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310896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57200" y="1380744"/>
            <a:ext cx="24261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Grilla de N×N caracteres ASCII</a:t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3212592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358896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Arreglo plano de N² genes, de longitud fija</a:t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6114288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carácter por celda, del alfabeto fijo</a:t>
            </a:r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310896" y="2651760"/>
            <a:ext cx="85221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457200" y="2798064"/>
            <a:ext cx="8229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Alelos: una rampa de densidad visual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alfabeto va de disperso a denso:     espacio  .  :  -  =  +  *  #  %  @</a:t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310896" y="3749039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orden no es cosmético: es lo que le da sentido a mutar un escalón de densidad en vez de saltar a un carácter arbitrario.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4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</a:t>
            </a: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310896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457200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Cómo se evalúa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carácter se renderiza a un bitmap fijo con una fuente monoespaciada. Ensamblando los N² glifos se reconstruye una imagen y se compara contra el objetivo.</a:t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63440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Métrica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Uno menos la raíz del error cuadrático normalizado: la misma forma que en el Ejercicio 2. Continua, acotada y estrictamente positiva.</a:t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310896" y="2834640"/>
            <a:ext cx="85221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57200" y="298094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tiene que ser estrictamente positiva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selectores de la familia ruleta necesitan un peso positivo por individuo para construir una acumulada válida. Un individuo de error máximo con fitness exactamente cero rompe esa cuenta.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se traslada y qué se redefine</a:t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310896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457200" y="1380744"/>
            <a:ext cx="38772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 trasladan sin cambios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y supervivencia: solo consumen un escalar de fitness por individuo.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4663440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4809744" y="1380744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Hay que redefinirlos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Cruza y mutación: dependen de la forma del genoma.</a:t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310896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457200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 sobre una grilla 2D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punto y dos puntos pasan a cortar por fila, preservando la lectura de mitad superior y mitad inferior. Uniforme no necesita redefinición.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4663440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4809744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 sobre un alfabeto discreto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Resortear el carácter de una celda, o dar un paso a un escalón adyacente de la rampa: el equivalente discreto del paso gaussiano continuo.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 rotWithShape="1">
          <a:blip r:embed="rId3">
            <a:alphaModFix/>
          </a:blip>
          <a:srcRect b="0" l="6337" r="13452" t="0"/>
          <a:stretch/>
        </p:blipFill>
        <p:spPr>
          <a:xfrm>
            <a:off x="582050" y="1779600"/>
            <a:ext cx="1799750" cy="179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82800" y="1671875"/>
            <a:ext cx="1799750" cy="179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7</a:t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¿En qué consiste?</a:t>
            </a:r>
            <a:endParaRPr/>
          </a:p>
        </p:txBody>
      </p:sp>
      <p:sp>
        <p:nvSpPr>
          <p:cNvPr id="127" name="Google Shape;127;p1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28" name="Google Shape;128;p19"/>
          <p:cNvSpPr/>
          <p:nvPr/>
        </p:nvSpPr>
        <p:spPr>
          <a:xfrm>
            <a:off x="1790871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9"/>
          <p:cNvSpPr txBox="1"/>
          <p:nvPr/>
        </p:nvSpPr>
        <p:spPr>
          <a:xfrm>
            <a:off x="1937175" y="1369362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Entrada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imagen y una cantidad de triángulos. Los hiperparámetros van aparte.</a:t>
            </a:r>
            <a:endParaRPr/>
          </a:p>
        </p:txBody>
      </p:sp>
      <p:sp>
        <p:nvSpPr>
          <p:cNvPr id="130" name="Google Shape;130;p19"/>
          <p:cNvSpPr/>
          <p:nvPr/>
        </p:nvSpPr>
        <p:spPr>
          <a:xfrm>
            <a:off x="4927038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073342" y="1369362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Salida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generada, enumeración de triángulos y </a:t>
            </a:r>
            <a:r>
              <a:rPr lang="en-GB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colores</a:t>
            </a: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descr="flag_ar_elite.gif" id="132" name="Google Shape;1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1720" y="2487168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2331720" y="2487168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.png" id="134" name="Google Shape;13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3360" y="2506730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/>
          <p:nvPr/>
        </p:nvSpPr>
        <p:spPr>
          <a:xfrm>
            <a:off x="5073360" y="2506731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2331720" y="4334256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 triángulos, 3000 generaciones</a:t>
            </a:r>
            <a:endParaRPr/>
          </a:p>
        </p:txBody>
      </p:sp>
      <p:sp>
        <p:nvSpPr>
          <p:cNvPr id="137" name="Google Shape;137;p19"/>
          <p:cNvSpPr txBox="1"/>
          <p:nvPr/>
        </p:nvSpPr>
        <p:spPr>
          <a:xfrm>
            <a:off x="5073360" y="4353819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objetivo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8</a:t>
            </a:r>
            <a:endParaRPr/>
          </a:p>
        </p:txBody>
      </p:sp>
      <p:sp>
        <p:nvSpPr>
          <p:cNvPr id="144" name="Google Shape;144;p2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Fenotipo y genotipo</a:t>
            </a:r>
            <a:endParaRPr/>
          </a:p>
        </p:txBody>
      </p:sp>
      <p:sp>
        <p:nvSpPr>
          <p:cNvPr id="145" name="Google Shape;145;p2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310896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0"/>
          <p:cNvSpPr txBox="1"/>
          <p:nvPr/>
        </p:nvSpPr>
        <p:spPr>
          <a:xfrm>
            <a:off x="457200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por superposición de triángulos</a:t>
            </a:r>
            <a:endParaRPr/>
          </a:p>
        </p:txBody>
      </p:sp>
      <p:sp>
        <p:nvSpPr>
          <p:cNvPr id="148" name="Google Shape;148;p20"/>
          <p:cNvSpPr/>
          <p:nvPr/>
        </p:nvSpPr>
        <p:spPr>
          <a:xfrm>
            <a:off x="2487168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2633472" y="1353312"/>
            <a:ext cx="17007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Vector 11</a:t>
            </a:r>
            <a:r>
              <a:rPr lang="en-GB" sz="11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x </a:t>
            </a: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float32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4663440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4809744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valor real normalizado a [0, 1]</a:t>
            </a:r>
            <a:endParaRPr/>
          </a:p>
        </p:txBody>
      </p:sp>
      <p:sp>
        <p:nvSpPr>
          <p:cNvPr id="152" name="Google Shape;152;p20"/>
          <p:cNvSpPr/>
          <p:nvPr/>
        </p:nvSpPr>
        <p:spPr>
          <a:xfrm>
            <a:off x="6839712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0"/>
          <p:cNvSpPr txBox="1"/>
          <p:nvPr/>
        </p:nvSpPr>
        <p:spPr>
          <a:xfrm>
            <a:off x="6986016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Locus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 posición fija el orden de dibujado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310896" y="2450592"/>
            <a:ext cx="8522100" cy="1417200"/>
          </a:xfrm>
          <a:prstGeom prst="roundRect">
            <a:avLst>
              <a:gd fmla="val 6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0"/>
          <p:cNvSpPr txBox="1"/>
          <p:nvPr/>
        </p:nvSpPr>
        <p:spPr>
          <a:xfrm>
            <a:off x="493776" y="26060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Los 11 genes de cada triángulo</a:t>
            </a:r>
            <a:endParaRPr/>
          </a:p>
        </p:txBody>
      </p:sp>
      <p:sp>
        <p:nvSpPr>
          <p:cNvPr id="156" name="Google Shape;156;p20"/>
          <p:cNvSpPr/>
          <p:nvPr/>
        </p:nvSpPr>
        <p:spPr>
          <a:xfrm>
            <a:off x="49377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0"/>
          <p:cNvSpPr txBox="1"/>
          <p:nvPr/>
        </p:nvSpPr>
        <p:spPr>
          <a:xfrm>
            <a:off x="49377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X1</a:t>
            </a:r>
            <a:endParaRPr/>
          </a:p>
        </p:txBody>
      </p:sp>
      <p:sp>
        <p:nvSpPr>
          <p:cNvPr id="158" name="Google Shape;158;p20"/>
          <p:cNvSpPr/>
          <p:nvPr/>
        </p:nvSpPr>
        <p:spPr>
          <a:xfrm>
            <a:off x="123444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123444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Y1</a:t>
            </a:r>
            <a:endParaRPr/>
          </a:p>
        </p:txBody>
      </p:sp>
      <p:sp>
        <p:nvSpPr>
          <p:cNvPr id="160" name="Google Shape;160;p20"/>
          <p:cNvSpPr/>
          <p:nvPr/>
        </p:nvSpPr>
        <p:spPr>
          <a:xfrm>
            <a:off x="197510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0"/>
          <p:cNvSpPr txBox="1"/>
          <p:nvPr/>
        </p:nvSpPr>
        <p:spPr>
          <a:xfrm>
            <a:off x="197510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X2</a:t>
            </a: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271576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271576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Y2</a:t>
            </a:r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345643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345643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X3</a:t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419709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419709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Y3</a:t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493776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493776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endParaRPr/>
          </a:p>
        </p:txBody>
      </p:sp>
      <p:sp>
        <p:nvSpPr>
          <p:cNvPr id="170" name="Google Shape;170;p20"/>
          <p:cNvSpPr/>
          <p:nvPr/>
        </p:nvSpPr>
        <p:spPr>
          <a:xfrm>
            <a:off x="567842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67842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G</a:t>
            </a:r>
            <a:endParaRPr/>
          </a:p>
        </p:txBody>
      </p:sp>
      <p:sp>
        <p:nvSpPr>
          <p:cNvPr id="172" name="Google Shape;172;p20"/>
          <p:cNvSpPr/>
          <p:nvPr/>
        </p:nvSpPr>
        <p:spPr>
          <a:xfrm>
            <a:off x="641908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641908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B</a:t>
            </a:r>
            <a:endParaRPr/>
          </a:p>
        </p:txBody>
      </p:sp>
      <p:sp>
        <p:nvSpPr>
          <p:cNvPr id="174" name="Google Shape;174;p20"/>
          <p:cNvSpPr/>
          <p:nvPr/>
        </p:nvSpPr>
        <p:spPr>
          <a:xfrm>
            <a:off x="715975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715975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E09B2D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790041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790041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ACTIVE</a:t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493776" y="3401568"/>
            <a:ext cx="815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tres vértices  ·  color RGB  ·  alfa  ·  flag de actividad          la longitud es fija, así los cuatro cruces quedan definidos como en clase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9</a:t>
            </a:r>
            <a:endParaRPr/>
          </a:p>
        </p:txBody>
      </p:sp>
      <p:sp>
        <p:nvSpPr>
          <p:cNvPr id="185" name="Google Shape;185;p2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Cotas y reparación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87" name="Google Shape;187;p21"/>
          <p:cNvSpPr/>
          <p:nvPr/>
        </p:nvSpPr>
        <p:spPr>
          <a:xfrm>
            <a:off x="310896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457200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Vértices en [−0,1 ; 1,1]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banda de sobrepaso, para que un triángulo pueda cubrir una esquina del canvas.</a:t>
            </a:r>
            <a:endParaRPr/>
          </a:p>
        </p:txBody>
      </p:sp>
      <p:sp>
        <p:nvSpPr>
          <p:cNvPr id="189" name="Google Shape;189;p21"/>
          <p:cNvSpPr/>
          <p:nvPr/>
        </p:nvSpPr>
        <p:spPr>
          <a:xfrm>
            <a:off x="3212592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3358896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Alfa en [0,1 ; 0,9]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Alfa 0 desperdicia presupuesto; alfa 1 mata la translucidez que pide el enunciado.</a:t>
            </a: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6114288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1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único punto de reparación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reflect(): si una mutación se pasa de la banda, el valor se refleja.</a:t>
            </a: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310896" y="2743200"/>
            <a:ext cx="8522100" cy="1143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457200" y="288950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reflejar y no recortar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Recortar amontona probabilidad sobre el límite exacto de la banda, y termina clavando triángulos planos contra el borde del canvas: un artefacto visual y estadístico. Reflejar preserva la magnitud del sobrepaso y evita ese apilamiento.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10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flag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active</a:t>
            </a: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: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 de cromosomas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03" name="Google Shape;203;p22"/>
          <p:cNvSpPr/>
          <p:nvPr/>
        </p:nvSpPr>
        <p:spPr>
          <a:xfrm>
            <a:off x="310896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 txBox="1"/>
          <p:nvPr/>
        </p:nvSpPr>
        <p:spPr>
          <a:xfrm>
            <a:off x="457200" y="1380744"/>
            <a:ext cx="3877200" cy="7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problema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pide que la cantidad de triángulos sea una cota máxima, pero los cuatro cruces de la cátedra están definidos sobre cromosomas de longitud fija.</a:t>
            </a:r>
            <a:endParaRPr/>
          </a:p>
        </p:txBody>
      </p:sp>
      <p:sp>
        <p:nvSpPr>
          <p:cNvPr id="205" name="Google Shape;205;p22"/>
          <p:cNvSpPr/>
          <p:nvPr/>
        </p:nvSpPr>
        <p:spPr>
          <a:xfrm>
            <a:off x="4663440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La solución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gen ACTIVE por triángulo, con umbral en 0,5. La longitud del vector nunca cambia; un triángulo inactivo no se dibuja ni consume presupuesto.</a:t>
            </a: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310896" y="2697480"/>
            <a:ext cx="85221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2"/>
          <p:cNvSpPr txBox="1"/>
          <p:nvPr/>
        </p:nvSpPr>
        <p:spPr>
          <a:xfrm>
            <a:off x="493776" y="28346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Verificado sobre 200 individuos con presupuesto 30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93776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93776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mínimo de activos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2532888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15,1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2532888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media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4572000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22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4572000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máximo de activos</a:t>
            </a:r>
            <a:endParaRPr/>
          </a:p>
        </p:txBody>
      </p:sp>
      <p:sp>
        <p:nvSpPr>
          <p:cNvPr id="215" name="Google Shape;215;p22"/>
          <p:cNvSpPr txBox="1"/>
          <p:nvPr/>
        </p:nvSpPr>
        <p:spPr>
          <a:xfrm>
            <a:off x="6611112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</a:t>
            </a:r>
            <a:endParaRPr/>
          </a:p>
        </p:txBody>
      </p:sp>
      <p:sp>
        <p:nvSpPr>
          <p:cNvPr id="216" name="Google Shape;216;p22"/>
          <p:cNvSpPr txBox="1"/>
          <p:nvPr/>
        </p:nvSpPr>
        <p:spPr>
          <a:xfrm>
            <a:off x="6611112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presupuesto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11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Función de fitness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1506487" y="1245650"/>
            <a:ext cx="491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  =  </a:t>
            </a:r>
            <a:endParaRPr/>
          </a:p>
        </p:txBody>
      </p:sp>
      <p:sp>
        <p:nvSpPr>
          <p:cNvPr id="226" name="Google Shape;226;p23"/>
          <p:cNvSpPr/>
          <p:nvPr/>
        </p:nvSpPr>
        <p:spPr>
          <a:xfrm>
            <a:off x="310896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3"/>
          <p:cNvSpPr txBox="1"/>
          <p:nvPr/>
        </p:nvSpPr>
        <p:spPr>
          <a:xfrm>
            <a:off x="457200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RMSE normalizado e invertido sobre los tres canales.</a:t>
            </a:r>
            <a:endParaRPr/>
          </a:p>
        </p:txBody>
      </p:sp>
      <p:sp>
        <p:nvSpPr>
          <p:cNvPr id="228" name="Google Shape;228;p23"/>
          <p:cNvSpPr/>
          <p:nvPr/>
        </p:nvSpPr>
        <p:spPr>
          <a:xfrm>
            <a:off x="3212592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3358896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normalizado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Comparable entre imágenes y tamaños de canvas distintos.</a:t>
            </a:r>
            <a:endParaRPr/>
          </a:p>
        </p:txBody>
      </p:sp>
      <p:sp>
        <p:nvSpPr>
          <p:cNvPr id="230" name="Google Shape;230;p23"/>
          <p:cNvSpPr/>
          <p:nvPr/>
        </p:nvSpPr>
        <p:spPr>
          <a:xfrm>
            <a:off x="6114288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3"/>
          <p:cNvSpPr txBox="1"/>
          <p:nvPr/>
        </p:nvSpPr>
        <p:spPr>
          <a:xfrm>
            <a:off x="6260592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el piso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Para que la ruleta tenga una acumulada bien definida.</a:t>
            </a:r>
            <a:endParaRPr/>
          </a:p>
        </p:txBody>
      </p:sp>
      <p:sp>
        <p:nvSpPr>
          <p:cNvPr id="232" name="Google Shape;232;p23"/>
          <p:cNvSpPr/>
          <p:nvPr/>
        </p:nvSpPr>
        <p:spPr>
          <a:xfrm>
            <a:off x="310896" y="3063240"/>
            <a:ext cx="85221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3"/>
          <p:cNvSpPr txBox="1"/>
          <p:nvPr/>
        </p:nvSpPr>
        <p:spPr>
          <a:xfrm>
            <a:off x="457200" y="3209544"/>
            <a:ext cx="82296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Decisión: no penalizamos la cantidad de triángulos activos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define el fitness como error por píxel, sin término de tamaño. Agregarlo mezclaría qué tan bien selecciona el operador con qué tan barato en triángulos salió el resultado, y es justo eso lo que la matriz quiere aislar.</a:t>
            </a:r>
            <a:endParaRPr/>
          </a:p>
        </p:txBody>
      </p:sp>
      <p:pic>
        <p:nvPicPr>
          <p:cNvPr id="234" name="Google Shape;234;p23"/>
          <p:cNvPicPr preferRelativeResize="0"/>
          <p:nvPr/>
        </p:nvPicPr>
        <p:blipFill rotWithShape="1">
          <a:blip r:embed="rId3">
            <a:alphaModFix/>
          </a:blip>
          <a:srcRect b="0" l="6829" r="0" t="0"/>
          <a:stretch/>
        </p:blipFill>
        <p:spPr>
          <a:xfrm>
            <a:off x="4652875" y="883650"/>
            <a:ext cx="2718900" cy="100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12</a:t>
            </a:r>
            <a:endParaRPr/>
          </a:p>
        </p:txBody>
      </p:sp>
      <p:sp>
        <p:nvSpPr>
          <p:cNvPr id="241" name="Google Shape;241;p2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242" name="Google Shape;242;p2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43" name="Google Shape;243;p24"/>
          <p:cNvSpPr/>
          <p:nvPr/>
        </p:nvSpPr>
        <p:spPr>
          <a:xfrm>
            <a:off x="310896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4"/>
          <p:cNvSpPr txBox="1"/>
          <p:nvPr/>
        </p:nvSpPr>
        <p:spPr>
          <a:xfrm>
            <a:off x="457200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n(i) = ⌈(K−i)/N⌉ por rango</a:t>
            </a:r>
            <a:endParaRPr/>
          </a:p>
        </p:txBody>
      </p:sp>
      <p:sp>
        <p:nvSpPr>
          <p:cNvPr id="245" name="Google Shape;245;p24"/>
          <p:cNvSpPr/>
          <p:nvPr/>
        </p:nvSpPr>
        <p:spPr>
          <a:xfrm>
            <a:off x="3212592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4"/>
          <p:cNvSpPr txBox="1"/>
          <p:nvPr/>
        </p:nvSpPr>
        <p:spPr>
          <a:xfrm>
            <a:off x="3358896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Proporcional al fitness crudo</a:t>
            </a:r>
            <a:endParaRPr/>
          </a:p>
        </p:txBody>
      </p:sp>
      <p:sp>
        <p:nvSpPr>
          <p:cNvPr id="247" name="Google Shape;247;p24"/>
          <p:cNvSpPr/>
          <p:nvPr/>
        </p:nvSpPr>
        <p:spPr>
          <a:xfrm>
            <a:off x="6114288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4"/>
          <p:cNvSpPr txBox="1"/>
          <p:nvPr/>
        </p:nvSpPr>
        <p:spPr>
          <a:xfrm>
            <a:off x="6260592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Universal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SUS: K muestras estratificadas</a:t>
            </a:r>
            <a:endParaRPr/>
          </a:p>
        </p:txBody>
      </p:sp>
      <p:sp>
        <p:nvSpPr>
          <p:cNvPr id="249" name="Google Shape;249;p24"/>
          <p:cNvSpPr/>
          <p:nvPr/>
        </p:nvSpPr>
        <p:spPr>
          <a:xfrm>
            <a:off x="310896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4"/>
          <p:cNvSpPr txBox="1"/>
          <p:nvPr/>
        </p:nvSpPr>
        <p:spPr>
          <a:xfrm>
            <a:off x="457200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Ranking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Pseudo-fitness (N−rank)/N</a:t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3212592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3358896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T(t) = Tc + (T0−Tc)·e^(−kt)</a:t>
            </a: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6114288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260592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determinístico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mejor de M al azar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310896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457200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probabilístico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M=2, gana el mejor con prob. Threshold</a:t>
            </a:r>
            <a:endParaRPr/>
          </a:p>
        </p:txBody>
      </p:sp>
      <p:sp>
        <p:nvSpPr>
          <p:cNvPr id="257" name="Google Shape;257;p24"/>
          <p:cNvSpPr/>
          <p:nvPr/>
        </p:nvSpPr>
        <p:spPr>
          <a:xfrm>
            <a:off x="3212592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4"/>
          <p:cNvSpPr txBox="1"/>
          <p:nvPr/>
        </p:nvSpPr>
        <p:spPr>
          <a:xfrm>
            <a:off x="3358896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Muestreo aleatorio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Ignora el fitness por completo</a:t>
            </a:r>
            <a:endParaRPr/>
          </a:p>
        </p:txBody>
      </p:sp>
      <p:sp>
        <p:nvSpPr>
          <p:cNvPr id="259" name="Google Shape;259;p24"/>
          <p:cNvSpPr/>
          <p:nvPr/>
        </p:nvSpPr>
        <p:spPr>
          <a:xfrm>
            <a:off x="6114288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4"/>
          <p:cNvSpPr txBox="1"/>
          <p:nvPr/>
        </p:nvSpPr>
        <p:spPr>
          <a:xfrm>
            <a:off x="6260592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Blend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Combina dos métodos por un coeficiente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13</a:t>
            </a:r>
            <a:endParaRPr/>
          </a:p>
        </p:txBody>
      </p:sp>
      <p:sp>
        <p:nvSpPr>
          <p:cNvPr id="267" name="Google Shape;267;p2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cruza</a:t>
            </a:r>
            <a:endParaRPr/>
          </a:p>
        </p:txBody>
      </p:sp>
      <p:sp>
        <p:nvSpPr>
          <p:cNvPr id="268" name="Google Shape;268;p2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69" name="Google Shape;269;p25"/>
          <p:cNvSpPr/>
          <p:nvPr/>
        </p:nvSpPr>
        <p:spPr>
          <a:xfrm>
            <a:off x="310896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5"/>
          <p:cNvSpPr txBox="1"/>
          <p:nvPr/>
        </p:nvSpPr>
        <p:spPr>
          <a:xfrm>
            <a:off x="457200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punto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corte; se intercambia todo desde ahí en adelante</a:t>
            </a:r>
            <a:endParaRPr/>
          </a:p>
        </p:txBody>
      </p:sp>
      <p:sp>
        <p:nvSpPr>
          <p:cNvPr id="271" name="Google Shape;271;p25"/>
          <p:cNvSpPr/>
          <p:nvPr/>
        </p:nvSpPr>
        <p:spPr>
          <a:xfrm>
            <a:off x="4663440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5"/>
          <p:cNvSpPr txBox="1"/>
          <p:nvPr/>
        </p:nvSpPr>
        <p:spPr>
          <a:xfrm>
            <a:off x="4809744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puntos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intercambia el segmento entre los dos cortes</a:t>
            </a:r>
            <a:endParaRPr/>
          </a:p>
        </p:txBody>
      </p:sp>
      <p:sp>
        <p:nvSpPr>
          <p:cNvPr id="273" name="Google Shape;273;p25"/>
          <p:cNvSpPr/>
          <p:nvPr/>
        </p:nvSpPr>
        <p:spPr>
          <a:xfrm>
            <a:off x="310896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5"/>
          <p:cNvSpPr txBox="1"/>
          <p:nvPr/>
        </p:nvSpPr>
        <p:spPr>
          <a:xfrm>
            <a:off x="457200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Anular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Segmento circular: posición y longitud al azar</a:t>
            </a:r>
            <a:endParaRPr/>
          </a:p>
        </p:txBody>
      </p:sp>
      <p:sp>
        <p:nvSpPr>
          <p:cNvPr id="275" name="Google Shape;275;p25"/>
          <p:cNvSpPr/>
          <p:nvPr/>
        </p:nvSpPr>
        <p:spPr>
          <a:xfrm>
            <a:off x="4663440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5"/>
          <p:cNvSpPr txBox="1"/>
          <p:nvPr/>
        </p:nvSpPr>
        <p:spPr>
          <a:xfrm>
            <a:off x="4809744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locus se intercambia con probabilidad p</a:t>
            </a:r>
            <a:endParaRPr/>
          </a:p>
        </p:txBody>
      </p:sp>
      <p:sp>
        <p:nvSpPr>
          <p:cNvPr id="277" name="Google Shape;277;p25"/>
          <p:cNvSpPr/>
          <p:nvPr/>
        </p:nvSpPr>
        <p:spPr>
          <a:xfrm>
            <a:off x="310896" y="347472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5"/>
          <p:cNvSpPr txBox="1"/>
          <p:nvPr/>
        </p:nvSpPr>
        <p:spPr>
          <a:xfrm>
            <a:off x="457200" y="3621024"/>
            <a:ext cx="82296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boundary: dónde puede caer el corte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gene corta en cualquier locus  ·  triangle corta solo en múltiplos de 11, manteniendo cada triángulo entero.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14</a:t>
            </a:r>
            <a:endParaRPr/>
          </a:p>
        </p:txBody>
      </p:sp>
      <p:sp>
        <p:nvSpPr>
          <p:cNvPr id="285" name="Google Shape;285;p2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mutación</a:t>
            </a:r>
            <a:endParaRPr/>
          </a:p>
        </p:txBody>
      </p:sp>
      <p:sp>
        <p:nvSpPr>
          <p:cNvPr id="286" name="Google Shape;286;p2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310896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6"/>
          <p:cNvSpPr txBox="1"/>
          <p:nvPr/>
        </p:nvSpPr>
        <p:spPr>
          <a:xfrm>
            <a:off x="457200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solo gen, con probabilidad Pm</a:t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2487168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6"/>
          <p:cNvSpPr txBox="1"/>
          <p:nvPr/>
        </p:nvSpPr>
        <p:spPr>
          <a:xfrm>
            <a:off x="2633472" y="1353312"/>
            <a:ext cx="17007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limitada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cantidad al azar en [1, M]</a:t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663440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4809744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gen, independiente, con Pm</a:t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839712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6"/>
          <p:cNvSpPr txBox="1"/>
          <p:nvPr/>
        </p:nvSpPr>
        <p:spPr>
          <a:xfrm>
            <a:off x="6986016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Completa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probabilidad Pm mutan todos</a:t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310896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6"/>
          <p:cNvSpPr txBox="1"/>
          <p:nvPr/>
        </p:nvSpPr>
        <p:spPr>
          <a:xfrm>
            <a:off x="457200" y="2596896"/>
            <a:ext cx="38772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 mutación no cambia con la generación.</a:t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4663440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6"/>
          <p:cNvSpPr txBox="1"/>
          <p:nvPr/>
        </p:nvSpPr>
        <p:spPr>
          <a:xfrm>
            <a:off x="4809744" y="2596896"/>
            <a:ext cx="38772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no uniforme (Michalewicz)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decae: exploración amplia al principio, ajuste fino al final.</a:t>
            </a:r>
            <a:endParaRPr/>
          </a:p>
        </p:txBody>
      </p:sp>
      <p:sp>
        <p:nvSpPr>
          <p:cNvPr id="299" name="Google Shape;299;p26"/>
          <p:cNvSpPr/>
          <p:nvPr/>
        </p:nvSpPr>
        <p:spPr>
          <a:xfrm>
            <a:off x="310896" y="3364992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6"/>
          <p:cNvSpPr txBox="1"/>
          <p:nvPr/>
        </p:nvSpPr>
        <p:spPr>
          <a:xfrm>
            <a:off x="457200" y="3511296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4 alcances × 2 calendarios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lista Gen / MultiGen / Uniforme / No Uniforme en una sola lista. Desdoblarlo en alcance y calendario cubre las dos lecturas posibles.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15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 y criterios de corte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309" name="Google Shape;309;p27"/>
          <p:cNvSpPr/>
          <p:nvPr/>
        </p:nvSpPr>
        <p:spPr>
          <a:xfrm>
            <a:off x="310896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7"/>
          <p:cNvSpPr txBox="1"/>
          <p:nvPr/>
        </p:nvSpPr>
        <p:spPr>
          <a:xfrm>
            <a:off x="457200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Aditiva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eligen N de la unión de los N padres y los K hijos</a:t>
            </a:r>
            <a:endParaRPr/>
          </a:p>
        </p:txBody>
      </p:sp>
      <p:sp>
        <p:nvSpPr>
          <p:cNvPr id="311" name="Google Shape;311;p27"/>
          <p:cNvSpPr/>
          <p:nvPr/>
        </p:nvSpPr>
        <p:spPr>
          <a:xfrm>
            <a:off x="3212592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7"/>
          <p:cNvSpPr txBox="1"/>
          <p:nvPr/>
        </p:nvSpPr>
        <p:spPr>
          <a:xfrm>
            <a:off x="3358896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Exclusiva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Si K &gt; N, N de los hijos. Si K ≤ N, todos los hijos más N−K padres</a:t>
            </a:r>
            <a:endParaRPr/>
          </a:p>
        </p:txBody>
      </p:sp>
      <p:sp>
        <p:nvSpPr>
          <p:cNvPr id="313" name="Google Shape;313;p27"/>
          <p:cNvSpPr/>
          <p:nvPr/>
        </p:nvSpPr>
        <p:spPr>
          <a:xfrm>
            <a:off x="6114288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7"/>
          <p:cNvSpPr txBox="1"/>
          <p:nvPr/>
        </p:nvSpPr>
        <p:spPr>
          <a:xfrm>
            <a:off x="6260592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Brecha generacional 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(1−G)·N de la anterior más G·N de los hijos</a:t>
            </a:r>
            <a:endParaRPr/>
          </a:p>
        </p:txBody>
      </p:sp>
      <p:sp>
        <p:nvSpPr>
          <p:cNvPr id="315" name="Google Shape;315;p27"/>
          <p:cNvSpPr/>
          <p:nvPr/>
        </p:nvSpPr>
        <p:spPr>
          <a:xfrm>
            <a:off x="310896" y="2606040"/>
            <a:ext cx="85221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7"/>
          <p:cNvSpPr txBox="1"/>
          <p:nvPr/>
        </p:nvSpPr>
        <p:spPr>
          <a:xfrm>
            <a:off x="493776" y="274320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Cinco criterios de corte, con orden de prioridad fijo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493776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1. Generaciones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493776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tope de horizonte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2130552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2. Reloj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2130552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segundos transcurridos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767328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3. Fitness mínimo</a:t>
            </a:r>
            <a:endParaRPr/>
          </a:p>
        </p:txBody>
      </p:sp>
      <p:sp>
        <p:nvSpPr>
          <p:cNvPr id="322" name="Google Shape;322;p27"/>
          <p:cNvSpPr txBox="1"/>
          <p:nvPr/>
        </p:nvSpPr>
        <p:spPr>
          <a:xfrm>
            <a:off x="3767328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solución aceptable</a:t>
            </a:r>
            <a:endParaRPr/>
          </a:p>
        </p:txBody>
      </p:sp>
      <p:sp>
        <p:nvSpPr>
          <p:cNvPr id="323" name="Google Shape;323;p27"/>
          <p:cNvSpPr txBox="1"/>
          <p:nvPr/>
        </p:nvSpPr>
        <p:spPr>
          <a:xfrm>
            <a:off x="5404104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4. Contenido</a:t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5404104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el fitness dejó de moverse</a:t>
            </a:r>
            <a:endParaRPr/>
          </a:p>
        </p:txBody>
      </p:sp>
      <p:sp>
        <p:nvSpPr>
          <p:cNvPr id="325" name="Google Shape;325;p27"/>
          <p:cNvSpPr txBox="1"/>
          <p:nvPr/>
        </p:nvSpPr>
        <p:spPr>
          <a:xfrm>
            <a:off x="7040880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5. Estructura</a:t>
            </a:r>
            <a:endParaRPr/>
          </a:p>
        </p:txBody>
      </p:sp>
      <p:sp>
        <p:nvSpPr>
          <p:cNvPr id="326" name="Google Shape;326;p27"/>
          <p:cNvSpPr txBox="1"/>
          <p:nvPr/>
        </p:nvSpPr>
        <p:spPr>
          <a:xfrm>
            <a:off x="7040880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la población dejó de cambiar</a:t>
            </a:r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493776" y="3675887"/>
            <a:ext cx="8156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validación rechaza un config sin ningún criterio activo: una corrida que nunca termina no arranca.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16</a:t>
            </a:r>
            <a:endParaRPr/>
          </a:p>
        </p:txBody>
      </p:sp>
      <p:sp>
        <p:nvSpPr>
          <p:cNvPr id="334" name="Google Shape;334;p2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Diseño experimental</a:t>
            </a:r>
            <a:endParaRPr/>
          </a:p>
        </p:txBody>
      </p:sp>
      <p:sp>
        <p:nvSpPr>
          <p:cNvPr id="335" name="Google Shape;335;p2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sp>
        <p:nvSpPr>
          <p:cNvPr id="336" name="Google Shape;336;p28"/>
          <p:cNvSpPr/>
          <p:nvPr/>
        </p:nvSpPr>
        <p:spPr>
          <a:xfrm>
            <a:off x="310896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8"/>
          <p:cNvSpPr txBox="1"/>
          <p:nvPr/>
        </p:nvSpPr>
        <p:spPr>
          <a:xfrm>
            <a:off x="310896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22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310896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celdas</a:t>
            </a:r>
            <a:endParaRPr/>
          </a:p>
        </p:txBody>
      </p:sp>
      <p:sp>
        <p:nvSpPr>
          <p:cNvPr id="339" name="Google Shape;339;p28"/>
          <p:cNvSpPr/>
          <p:nvPr/>
        </p:nvSpPr>
        <p:spPr>
          <a:xfrm>
            <a:off x="2487168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8"/>
          <p:cNvSpPr txBox="1"/>
          <p:nvPr/>
        </p:nvSpPr>
        <p:spPr>
          <a:xfrm>
            <a:off x="2487168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5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2487168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semillas por celda</a:t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4663440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8"/>
          <p:cNvSpPr txBox="1"/>
          <p:nvPr/>
        </p:nvSpPr>
        <p:spPr>
          <a:xfrm>
            <a:off x="4663440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110</a:t>
            </a:r>
            <a:endParaRPr/>
          </a:p>
        </p:txBody>
      </p:sp>
      <p:sp>
        <p:nvSpPr>
          <p:cNvPr id="344" name="Google Shape;344;p28"/>
          <p:cNvSpPr txBox="1"/>
          <p:nvPr/>
        </p:nvSpPr>
        <p:spPr>
          <a:xfrm>
            <a:off x="4663440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corridas</a:t>
            </a:r>
            <a:endParaRPr/>
          </a:p>
        </p:txBody>
      </p:sp>
      <p:sp>
        <p:nvSpPr>
          <p:cNvPr id="345" name="Google Shape;345;p28"/>
          <p:cNvSpPr/>
          <p:nvPr/>
        </p:nvSpPr>
        <p:spPr>
          <a:xfrm>
            <a:off x="6839712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/>
          <p:nvPr/>
        </p:nvSpPr>
        <p:spPr>
          <a:xfrm>
            <a:off x="6839712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3000</a:t>
            </a:r>
            <a:endParaRPr/>
          </a:p>
        </p:txBody>
      </p:sp>
      <p:sp>
        <p:nvSpPr>
          <p:cNvPr id="347" name="Google Shape;347;p28"/>
          <p:cNvSpPr txBox="1"/>
          <p:nvPr/>
        </p:nvSpPr>
        <p:spPr>
          <a:xfrm>
            <a:off x="6839712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generaciones c/u</a:t>
            </a:r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310896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8"/>
          <p:cNvSpPr txBox="1"/>
          <p:nvPr/>
        </p:nvSpPr>
        <p:spPr>
          <a:xfrm>
            <a:off x="457200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Cuatro brazos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(7 métodos, en padres y reemplazo) · selección solo en padres, reemplazo elite (7 métodos) · supervivencia K/N (6 combinaciones) · control de cruza (2 celdas)</a:t>
            </a:r>
            <a:endParaRPr/>
          </a:p>
        </p:txBody>
      </p:sp>
      <p:sp>
        <p:nvSpPr>
          <p:cNvPr id="350" name="Google Shape;350;p28"/>
          <p:cNvSpPr/>
          <p:nvPr/>
        </p:nvSpPr>
        <p:spPr>
          <a:xfrm>
            <a:off x="4663440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8"/>
          <p:cNvSpPr txBox="1"/>
          <p:nvPr/>
        </p:nvSpPr>
        <p:spPr>
          <a:xfrm>
            <a:off x="4809744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Configuración base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flag_ar.png · canvas 128×128 · 30 triángulos · N = 30, K = 40 · Pc = 0,8</a:t>
            </a:r>
            <a:endParaRPr/>
          </a:p>
        </p:txBody>
      </p:sp>
      <p:sp>
        <p:nvSpPr>
          <p:cNvPr id="352" name="Google Shape;352;p28"/>
          <p:cNvSpPr/>
          <p:nvPr/>
        </p:nvSpPr>
        <p:spPr>
          <a:xfrm>
            <a:off x="310896" y="333756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8"/>
          <p:cNvSpPr txBox="1"/>
          <p:nvPr/>
        </p:nvSpPr>
        <p:spPr>
          <a:xfrm>
            <a:off x="457200" y="3483864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factor por vez, no el cruce completo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cruce de todos contra todos habría requerido unas 720 corridas. Barrer de a un factor aísla el efecto de cada operador a una fracción del costo.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17</a:t>
            </a:r>
            <a:endParaRPr/>
          </a:p>
        </p:txBody>
      </p:sp>
      <p:sp>
        <p:nvSpPr>
          <p:cNvPr id="360" name="Google Shape;360;p2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361" name="Google Shape;361;p2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eleccion.png" id="362" name="Google Shape;36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 txBox="1"/>
          <p:nvPr/>
        </p:nvSpPr>
        <p:spPr>
          <a:xfrm>
            <a:off x="6199632" y="1353312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grupos, no un gradiente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Elite, ranking y los dos torneos llegan a 0,98. Ruleta, universal y Boltzmann se quedan planos.</a:t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9"/>
          <p:cNvSpPr txBox="1"/>
          <p:nvPr/>
        </p:nvSpPr>
        <p:spPr>
          <a:xfrm>
            <a:off x="6199632" y="2889504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fondo del gráfico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0,695 es lo que puntúa un canvas en blanco, sin un solo triángulo. Los tres de abajo terminan apenas por encima de eso.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3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18</a:t>
            </a:r>
            <a:endParaRPr/>
          </a:p>
        </p:txBody>
      </p:sp>
      <p:sp>
        <p:nvSpPr>
          <p:cNvPr id="373" name="Google Shape;373;p3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Velocidad de convergencia</a:t>
            </a:r>
            <a:endParaRPr/>
          </a:p>
        </p:txBody>
      </p:sp>
      <p:sp>
        <p:nvSpPr>
          <p:cNvPr id="374" name="Google Shape;374;p3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onvergencia.png" id="375" name="Google Shape;37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532122" cy="2900991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0"/>
          <p:cNvSpPr/>
          <p:nvPr/>
        </p:nvSpPr>
        <p:spPr>
          <a:xfrm>
            <a:off x="6053328" y="129844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30"/>
          <p:cNvSpPr txBox="1"/>
          <p:nvPr/>
        </p:nvSpPr>
        <p:spPr>
          <a:xfrm>
            <a:off x="6199632" y="1444751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 es el más rápido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519 generaciones hasta 0,95, contra 1472 del torneo probabilístico.</a:t>
            </a:r>
            <a:endParaRPr/>
          </a:p>
        </p:txBody>
      </p:sp>
      <p:sp>
        <p:nvSpPr>
          <p:cNvPr id="378" name="Google Shape;378;p30"/>
          <p:cNvSpPr/>
          <p:nvPr/>
        </p:nvSpPr>
        <p:spPr>
          <a:xfrm>
            <a:off x="6053328" y="276148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0"/>
          <p:cNvSpPr txBox="1"/>
          <p:nvPr/>
        </p:nvSpPr>
        <p:spPr>
          <a:xfrm>
            <a:off x="6199632" y="290779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Pero ranking termina mejor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0,98285 contra 0,98153 de elite. Converger rápido no es converger mejor.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19</a:t>
            </a:r>
            <a:endParaRPr/>
          </a:p>
        </p:txBody>
      </p:sp>
      <p:sp>
        <p:nvSpPr>
          <p:cNvPr id="386" name="Google Shape;386;p3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Por qué la ruleta no arranca</a:t>
            </a:r>
            <a:endParaRPr/>
          </a:p>
        </p:txBody>
      </p:sp>
      <p:sp>
        <p:nvSpPr>
          <p:cNvPr id="387" name="Google Shape;387;p3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presion.png" id="388" name="Google Shape;38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4617718" cy="287047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31"/>
          <p:cNvSpPr/>
          <p:nvPr/>
        </p:nvSpPr>
        <p:spPr>
          <a:xfrm>
            <a:off x="5138928" y="1207008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1"/>
          <p:cNvSpPr txBox="1"/>
          <p:nvPr/>
        </p:nvSpPr>
        <p:spPr>
          <a:xfrm>
            <a:off x="5285232" y="1353312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fitness vive comprimido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la población inicial va de 0,5627 a 0,7041. Con ese rango, la probabilidad proporcional casi no distingue entre individuos.</a:t>
            </a:r>
            <a:endParaRPr/>
          </a:p>
        </p:txBody>
      </p:sp>
      <p:sp>
        <p:nvSpPr>
          <p:cNvPr id="391" name="Google Shape;391;p31"/>
          <p:cNvSpPr/>
          <p:nvPr/>
        </p:nvSpPr>
        <p:spPr>
          <a:xfrm>
            <a:off x="5138928" y="2743200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1"/>
          <p:cNvSpPr txBox="1"/>
          <p:nvPr/>
        </p:nvSpPr>
        <p:spPr>
          <a:xfrm>
            <a:off x="5285232" y="2889504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ruleta es azar con pasos extra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Le da al mejor individuo un 9 % más de chances que tirar una moneda. No es convergencia prematura: es falta de presión.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</a:t>
            </a:r>
            <a:endParaRPr/>
          </a:p>
        </p:txBody>
      </p:sp>
      <p:sp>
        <p:nvSpPr>
          <p:cNvPr id="399" name="Google Shape;399;p3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Diversidad genética</a:t>
            </a:r>
            <a:endParaRPr/>
          </a:p>
        </p:txBody>
      </p:sp>
      <p:sp>
        <p:nvSpPr>
          <p:cNvPr id="400" name="Google Shape;400;p3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diversidad.png" id="401" name="Google Shape;40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32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6199632" y="135331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Escala logarítmica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escala lineal las siete curvas se aplastan contra el cero y no se distingue nada.</a:t>
            </a:r>
            <a:endParaRPr/>
          </a:p>
        </p:txBody>
      </p:sp>
      <p:sp>
        <p:nvSpPr>
          <p:cNvPr id="404" name="Google Shape;404;p32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2"/>
          <p:cNvSpPr txBox="1"/>
          <p:nvPr/>
        </p:nvSpPr>
        <p:spPr>
          <a:xfrm>
            <a:off x="6199632" y="2889504"/>
            <a:ext cx="2487300" cy="8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27× de diferencia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 queda en 0,0008 y universal en 0,0229. La alta presión colapsa la diversidad; la baja presión la conserva y no la usa.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21</a:t>
            </a:r>
            <a:endParaRPr/>
          </a:p>
        </p:txBody>
      </p:sp>
      <p:sp>
        <p:nvSpPr>
          <p:cNvPr id="412" name="Google Shape;412;p3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Supervivencia: aditiva vs exclusiva</a:t>
            </a:r>
            <a:endParaRPr/>
          </a:p>
        </p:txBody>
      </p:sp>
      <p:sp>
        <p:nvSpPr>
          <p:cNvPr id="413" name="Google Shape;413;p3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upervivencia.png" id="414" name="Google Shape;41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7320" y="1188720"/>
            <a:ext cx="6309362" cy="2545882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33"/>
          <p:cNvSpPr txBox="1"/>
          <p:nvPr/>
        </p:nvSpPr>
        <p:spPr>
          <a:xfrm>
            <a:off x="310896" y="3785615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caso patológico es K = N, no K &gt; N</a:t>
            </a:r>
            <a:endParaRPr/>
          </a:p>
        </p:txBody>
      </p:sp>
      <p:sp>
        <p:nvSpPr>
          <p:cNvPr id="416" name="Google Shape;416;p33"/>
          <p:cNvSpPr txBox="1"/>
          <p:nvPr/>
        </p:nvSpPr>
        <p:spPr>
          <a:xfrm>
            <a:off x="310896" y="4041648"/>
            <a:ext cx="8522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K = N el código devuelve todos los hijos sin ninguna selección: 1329 caídas del mejor fitness sobre 3000 generaciones. Con K = 2N se eligen los mejores N de K y quedan 35.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22</a:t>
            </a:r>
            <a:endParaRPr/>
          </a:p>
        </p:txBody>
      </p:sp>
      <p:sp>
        <p:nvSpPr>
          <p:cNvPr id="423" name="Google Shape;423;p3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¿La cruza aporta algo?</a:t>
            </a:r>
            <a:endParaRPr/>
          </a:p>
        </p:txBody>
      </p:sp>
      <p:sp>
        <p:nvSpPr>
          <p:cNvPr id="424" name="Google Shape;424;p3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ruza.png" id="425" name="Google Shape;42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4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4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control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configuración con y sin cruza, al mismo presupuesto de renders y sobre las mismas 5 semillas.</a:t>
            </a:r>
            <a:endParaRPr/>
          </a:p>
        </p:txBody>
      </p:sp>
      <p:sp>
        <p:nvSpPr>
          <p:cNvPr id="428" name="Google Shape;428;p34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4"/>
          <p:cNvSpPr txBox="1"/>
          <p:nvPr/>
        </p:nvSpPr>
        <p:spPr>
          <a:xfrm>
            <a:off x="5833872" y="2907792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No es destructiva ni salvadora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0,98204 contra 0,98249. La diferencia es menor que el ruido entre semillas, que va de 0,970 a 0,993.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3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23</a:t>
            </a:r>
            <a:endParaRPr/>
          </a:p>
        </p:txBody>
      </p:sp>
      <p:sp>
        <p:nvSpPr>
          <p:cNvPr id="436" name="Google Shape;436;p3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Comparación contra un hill climber (1+1)</a:t>
            </a:r>
            <a:endParaRPr/>
          </a:p>
        </p:txBody>
      </p:sp>
      <p:sp>
        <p:nvSpPr>
          <p:cNvPr id="437" name="Google Shape;437;p3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hillclimber.png" id="438" name="Google Shape;43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5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5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Población de uno, sin cruza y sin selección: muta y acepta solo si mejora. No es un AG, y no lo llamamos así.</a:t>
            </a:r>
            <a:endParaRPr/>
          </a:p>
        </p:txBody>
      </p:sp>
      <p:sp>
        <p:nvSpPr>
          <p:cNvPr id="441" name="Google Shape;441;p35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833872" y="2907792"/>
            <a:ext cx="28530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Y nos gana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0,98803 contra 0,98285, y va adelante casi todo el presupuesto. Lo reportamos como salió.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24</a:t>
            </a:r>
            <a:endParaRPr/>
          </a:p>
        </p:txBody>
      </p:sp>
      <p:sp>
        <p:nvSpPr>
          <p:cNvPr id="449" name="Google Shape;449;p3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la presión se ve</a:t>
            </a:r>
            <a:endParaRPr/>
          </a:p>
        </p:txBody>
      </p:sp>
      <p:sp>
        <p:nvSpPr>
          <p:cNvPr id="450" name="Google Shape;450;p3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lag_ar_elite.gif" id="451" name="Google Shape;45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312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6"/>
          <p:cNvSpPr/>
          <p:nvPr/>
        </p:nvSpPr>
        <p:spPr>
          <a:xfrm>
            <a:off x="210312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_roulette.gif" id="453" name="Google Shape;453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776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36"/>
          <p:cNvSpPr/>
          <p:nvPr/>
        </p:nvSpPr>
        <p:spPr>
          <a:xfrm>
            <a:off x="493776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6"/>
          <p:cNvSpPr txBox="1"/>
          <p:nvPr/>
        </p:nvSpPr>
        <p:spPr>
          <a:xfrm>
            <a:off x="210312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Elite — fitness 0,98</a:t>
            </a:r>
            <a:endParaRPr/>
          </a:p>
        </p:txBody>
      </p:sp>
      <p:sp>
        <p:nvSpPr>
          <p:cNvPr id="456" name="Google Shape;456;p36"/>
          <p:cNvSpPr txBox="1"/>
          <p:nvPr/>
        </p:nvSpPr>
        <p:spPr>
          <a:xfrm>
            <a:off x="493776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 — fitness 0,72</a:t>
            </a:r>
            <a:endParaRPr/>
          </a:p>
        </p:txBody>
      </p:sp>
      <p:sp>
        <p:nvSpPr>
          <p:cNvPr id="457" name="Google Shape;457;p36"/>
          <p:cNvSpPr txBox="1"/>
          <p:nvPr/>
        </p:nvSpPr>
        <p:spPr>
          <a:xfrm>
            <a:off x="310896" y="3977639"/>
            <a:ext cx="85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imagen objetivo, el mismo presupuesto y la misma cantidad de generaciones. Lo único que cambia es el método de selección.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25</a:t>
            </a:r>
            <a:endParaRPr/>
          </a:p>
        </p:txBody>
      </p:sp>
      <p:sp>
        <p:nvSpPr>
          <p:cNvPr id="464" name="Google Shape;464;p3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objetivos más difíciles</a:t>
            </a:r>
            <a:endParaRPr/>
          </a:p>
        </p:txBody>
      </p:sp>
      <p:sp>
        <p:nvSpPr>
          <p:cNvPr id="465" name="Google Shape;465;p3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pictogram_elite.gif" id="466" name="Google Shape;46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1604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7"/>
          <p:cNvSpPr/>
          <p:nvPr/>
        </p:nvSpPr>
        <p:spPr>
          <a:xfrm>
            <a:off x="641604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37"/>
          <p:cNvSpPr txBox="1"/>
          <p:nvPr/>
        </p:nvSpPr>
        <p:spPr>
          <a:xfrm>
            <a:off x="310896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Pictograma — 20 triángulos</a:t>
            </a:r>
            <a:endParaRPr/>
          </a:p>
        </p:txBody>
      </p:sp>
      <p:pic>
        <p:nvPicPr>
          <p:cNvPr descr="mona_lisa_elite.gif" id="469" name="Google Shape;46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43300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7"/>
          <p:cNvSpPr/>
          <p:nvPr/>
        </p:nvSpPr>
        <p:spPr>
          <a:xfrm>
            <a:off x="3543300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7"/>
          <p:cNvSpPr txBox="1"/>
          <p:nvPr/>
        </p:nvSpPr>
        <p:spPr>
          <a:xfrm>
            <a:off x="3212592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Mona Lisa — 60 triángulos</a:t>
            </a:r>
            <a:endParaRPr/>
          </a:p>
        </p:txBody>
      </p:sp>
      <p:pic>
        <p:nvPicPr>
          <p:cNvPr descr="girl_pearl_earring_elite.gif" id="472" name="Google Shape;472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4996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37"/>
          <p:cNvSpPr/>
          <p:nvPr/>
        </p:nvSpPr>
        <p:spPr>
          <a:xfrm>
            <a:off x="6444996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7"/>
          <p:cNvSpPr txBox="1"/>
          <p:nvPr/>
        </p:nvSpPr>
        <p:spPr>
          <a:xfrm>
            <a:off x="6114288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La joven de la perla — 60</a:t>
            </a:r>
            <a:endParaRPr/>
          </a:p>
        </p:txBody>
      </p:sp>
      <p:sp>
        <p:nvSpPr>
          <p:cNvPr id="475" name="Google Shape;475;p37"/>
          <p:cNvSpPr txBox="1"/>
          <p:nvPr/>
        </p:nvSpPr>
        <p:spPr>
          <a:xfrm>
            <a:off x="310896" y="3840480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Los dos retratos quedan fuera de la matriz formal de 110 corridas: son de dominio público, vía Wikimedia Commons, y están para variar la complejidad del objetivo.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26</a:t>
            </a:r>
            <a:endParaRPr/>
          </a:p>
        </p:txBody>
      </p:sp>
      <p:sp>
        <p:nvSpPr>
          <p:cNvPr id="482" name="Google Shape;482;p3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operador conviene</a:t>
            </a:r>
            <a:endParaRPr/>
          </a:p>
        </p:txBody>
      </p:sp>
      <p:sp>
        <p:nvSpPr>
          <p:cNvPr id="483" name="Google Shape;483;p3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484" name="Google Shape;484;p38"/>
          <p:cNvSpPr/>
          <p:nvPr/>
        </p:nvSpPr>
        <p:spPr>
          <a:xfrm>
            <a:off x="310896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457200" y="1353312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Selección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basados en orden (ranking, elite, torneos) funcionan sobre el fitness crudo; ranking termina primero y elite llega más rápido. Los proporcionales no son peores: sirven igual una vez corregida la escala, y sin elitismo llegan a 0,96 reescalando y a 0,97 con Boltzmann a Tc = 0,002.</a:t>
            </a:r>
            <a:endParaRPr/>
          </a:p>
        </p:txBody>
      </p:sp>
      <p:sp>
        <p:nvSpPr>
          <p:cNvPr id="486" name="Google Shape;486;p38"/>
          <p:cNvSpPr/>
          <p:nvPr/>
        </p:nvSpPr>
        <p:spPr>
          <a:xfrm>
            <a:off x="4663440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Supervivencia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Aditiva siempre. Es monótona por construcción y no perdimos nada usándola. La exclusiva solo es segura con K &lt; N.</a:t>
            </a:r>
            <a:endParaRPr/>
          </a:p>
        </p:txBody>
      </p:sp>
      <p:sp>
        <p:nvSpPr>
          <p:cNvPr id="488" name="Google Shape;488;p38"/>
          <p:cNvSpPr/>
          <p:nvPr/>
        </p:nvSpPr>
        <p:spPr>
          <a:xfrm>
            <a:off x="310896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457200" y="2752344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Indistinguible del ruido sobre esta representación: no hay convención que alinee el triángulo i entre dos padres, y el orden de dibujado no es conmutativo.</a:t>
            </a:r>
            <a:endParaRPr/>
          </a:p>
        </p:txBody>
      </p:sp>
      <p:sp>
        <p:nvSpPr>
          <p:cNvPr id="490" name="Google Shape;490;p38"/>
          <p:cNvSpPr/>
          <p:nvPr/>
        </p:nvSpPr>
        <p:spPr>
          <a:xfrm>
            <a:off x="4663440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8"/>
          <p:cNvSpPr txBox="1"/>
          <p:nvPr/>
        </p:nvSpPr>
        <p:spPr>
          <a:xfrm>
            <a:off x="4809744" y="275234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 el operador que efectivamente mueve la búsqueda. Con gen simple y Pm alto alcanza para llegar a 0,98.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3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27</a:t>
            </a:r>
            <a:endParaRPr/>
          </a:p>
        </p:txBody>
      </p:sp>
      <p:sp>
        <p:nvSpPr>
          <p:cNvPr id="498" name="Google Shape;498;p3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hallazgo que no esperábamos</a:t>
            </a:r>
            <a:endParaRPr/>
          </a:p>
        </p:txBody>
      </p:sp>
      <p:sp>
        <p:nvSpPr>
          <p:cNvPr id="499" name="Google Shape;499;p3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00" name="Google Shape;500;p39"/>
          <p:cNvSpPr/>
          <p:nvPr/>
        </p:nvSpPr>
        <p:spPr>
          <a:xfrm>
            <a:off x="310896" y="1207008"/>
            <a:ext cx="8522100" cy="731400"/>
          </a:xfrm>
          <a:prstGeom prst="roundRect">
            <a:avLst>
              <a:gd fmla="val 11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39"/>
          <p:cNvSpPr txBox="1"/>
          <p:nvPr/>
        </p:nvSpPr>
        <p:spPr>
          <a:xfrm>
            <a:off x="310896" y="1444752"/>
            <a:ext cx="852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7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Un canvas en blanco, sin un solo triángulo, ya puntúa 0,695</a:t>
            </a:r>
            <a:endParaRPr/>
          </a:p>
        </p:txBody>
      </p:sp>
      <p:sp>
        <p:nvSpPr>
          <p:cNvPr id="502" name="Google Shape;502;p39"/>
          <p:cNvSpPr/>
          <p:nvPr/>
        </p:nvSpPr>
        <p:spPr>
          <a:xfrm>
            <a:off x="310896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9"/>
          <p:cNvSpPr txBox="1"/>
          <p:nvPr/>
        </p:nvSpPr>
        <p:spPr>
          <a:xfrm>
            <a:off x="457200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causa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fitness está normalizado contra el peor caso posible, que es un canvas negro contra uno blanco.</a:t>
            </a:r>
            <a:endParaRPr/>
          </a:p>
        </p:txBody>
      </p:sp>
      <p:sp>
        <p:nvSpPr>
          <p:cNvPr id="504" name="Google Shape;504;p39"/>
          <p:cNvSpPr/>
          <p:nvPr/>
        </p:nvSpPr>
        <p:spPr>
          <a:xfrm>
            <a:off x="3212592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39"/>
          <p:cNvSpPr txBox="1"/>
          <p:nvPr/>
        </p:nvSpPr>
        <p:spPr>
          <a:xfrm>
            <a:off x="3358896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consecuencia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Todo el rango útil vive entre 0,69 y 1,0. La selección proporcional no tiene contra qué contrastar.</a:t>
            </a:r>
            <a:endParaRPr/>
          </a:p>
        </p:txBody>
      </p:sp>
      <p:sp>
        <p:nvSpPr>
          <p:cNvPr id="506" name="Google Shape;506;p39"/>
          <p:cNvSpPr/>
          <p:nvPr/>
        </p:nvSpPr>
        <p:spPr>
          <a:xfrm>
            <a:off x="6114288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39"/>
          <p:cNvSpPr txBox="1"/>
          <p:nvPr/>
        </p:nvSpPr>
        <p:spPr>
          <a:xfrm>
            <a:off x="6260592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 arreglo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Escalar el fitness contra el mínimo de la población, o bajar mucho la temperatura de Boltzmann.</a:t>
            </a:r>
            <a:endParaRPr/>
          </a:p>
        </p:txBody>
      </p:sp>
      <p:sp>
        <p:nvSpPr>
          <p:cNvPr id="508" name="Google Shape;508;p39"/>
          <p:cNvSpPr txBox="1"/>
          <p:nvPr/>
        </p:nvSpPr>
        <p:spPr>
          <a:xfrm>
            <a:off x="310896" y="3520440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Tres de los siete métodos de la matriz no fallan por su definición: fallan porque la función de fitness no les da con qué trabajar.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28</a:t>
            </a:r>
            <a:endParaRPr/>
          </a:p>
        </p:txBody>
      </p:sp>
      <p:sp>
        <p:nvSpPr>
          <p:cNvPr id="515" name="Google Shape;515;p4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Limitaciones y trabajo futuro</a:t>
            </a:r>
            <a:endParaRPr/>
          </a:p>
        </p:txBody>
      </p:sp>
      <p:sp>
        <p:nvSpPr>
          <p:cNvPr id="516" name="Google Shape;516;p4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17" name="Google Shape;517;p40"/>
          <p:cNvSpPr/>
          <p:nvPr/>
        </p:nvSpPr>
        <p:spPr>
          <a:xfrm>
            <a:off x="310896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0"/>
          <p:cNvSpPr txBox="1"/>
          <p:nvPr/>
        </p:nvSpPr>
        <p:spPr>
          <a:xfrm>
            <a:off x="457200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Una sola imagen en la matriz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Las 110 corridas son todas sobre la bandera. Los otros objetivos quedaron fuera del diseño formal.</a:t>
            </a:r>
            <a:endParaRPr/>
          </a:p>
        </p:txBody>
      </p:sp>
      <p:sp>
        <p:nvSpPr>
          <p:cNvPr id="519" name="Google Shape;519;p40"/>
          <p:cNvSpPr/>
          <p:nvPr/>
        </p:nvSpPr>
        <p:spPr>
          <a:xfrm>
            <a:off x="4663440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0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 mal escalado — barrido y corregido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T0 = 5,0 y Tc = 0,5 son enormes frente a un spread de fitness de 0,14. Barrimos T0, Tc y k sobre 110 corridas: Tc domina y las otras dos casi no pesan. Bajarla a 0,002 lleva Boltzmann de 0,72 a 0,97, sin elitismo.</a:t>
            </a:r>
            <a:endParaRPr/>
          </a:p>
        </p:txBody>
      </p:sp>
      <p:sp>
        <p:nvSpPr>
          <p:cNvPr id="521" name="Google Shape;521;p40"/>
          <p:cNvSpPr/>
          <p:nvPr/>
        </p:nvSpPr>
        <p:spPr>
          <a:xfrm>
            <a:off x="310896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0"/>
          <p:cNvSpPr txBox="1"/>
          <p:nvPr/>
        </p:nvSpPr>
        <p:spPr>
          <a:xfrm>
            <a:off x="457200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Reescalar el fitness — implementado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Confirmado: restarle el piso a la población recupera los tres. Sin elitismo, ruleta pasa de 0,72 a 0,96 y universal de 0,74 a 0,97. Queda como opción de configuración: el default sigue siendo la definición de la cátedra.</a:t>
            </a:r>
            <a:endParaRPr/>
          </a:p>
        </p:txBody>
      </p:sp>
      <p:sp>
        <p:nvSpPr>
          <p:cNvPr id="523" name="Google Shape;523;p40"/>
          <p:cNvSpPr/>
          <p:nvPr/>
        </p:nvSpPr>
        <p:spPr>
          <a:xfrm>
            <a:off x="4663440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0"/>
          <p:cNvSpPr txBox="1"/>
          <p:nvPr/>
        </p:nvSpPr>
        <p:spPr>
          <a:xfrm>
            <a:off x="4809744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Otras primitivas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habilita elipses y otros polígonos. Quedó pendiente.</a:t>
            </a:r>
            <a:endParaRPr/>
          </a:p>
        </p:txBody>
      </p:sp>
      <p:sp>
        <p:nvSpPr>
          <p:cNvPr id="525" name="Google Shape;525;p40"/>
          <p:cNvSpPr txBox="1"/>
          <p:nvPr/>
        </p:nvSpPr>
        <p:spPr>
          <a:xfrm>
            <a:off x="310896" y="3950208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Toda la matriz es reproducible: cada corrida archiva su semilla, su configuración efectiva, las versiones de las librerías y el commit.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41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Muchas gracias</a:t>
            </a:r>
            <a:endParaRPr/>
          </a:p>
        </p:txBody>
      </p:sp>
      <p:sp>
        <p:nvSpPr>
          <p:cNvPr id="531" name="Google Shape;531;p41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lnSpcReduction="20000"/>
          </a:bodyPr>
          <a:lstStyle/>
          <a:p>
            <a: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600"/>
              <a:t>¿Preguntas?</a:t>
            </a:r>
            <a:endParaRPr/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