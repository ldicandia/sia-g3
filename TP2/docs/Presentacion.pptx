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85" r:id="rId44"/>
    <p:sldId id="286" r:id="rId45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5143500" cx="9144000"/>
  <p:notesSz cx="6858000" cy="9144000"/>
  <p:embeddedFontLst>
    <p:embeddedFont>
      <p:font typeface="Playfair Display"/>
      <p:regular r:id="rId36"/>
      <p:bold r:id="rId37"/>
      <p:italic r:id="rId38"/>
      <p:boldItalic r:id="rId39"/>
    </p:embeddedFont>
    <p:embeddedFont>
      <p:font typeface="Lato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TOMÁS PIETRAVALLO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Lato-regular.fntdata"/><Relationship Id="rId20" Type="http://schemas.openxmlformats.org/officeDocument/2006/relationships/slide" Target="slides/slide14.xml"/><Relationship Id="rId42" Type="http://schemas.openxmlformats.org/officeDocument/2006/relationships/font" Target="fonts/Lato-italic.fntdata"/><Relationship Id="rId41" Type="http://schemas.openxmlformats.org/officeDocument/2006/relationships/font" Target="fonts/Lato-bold.fntdata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43" Type="http://schemas.openxmlformats.org/officeDocument/2006/relationships/font" Target="fonts/Lato-bold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PlayfairDisplay-bold.fntdata"/><Relationship Id="rId14" Type="http://schemas.openxmlformats.org/officeDocument/2006/relationships/slide" Target="slides/slide8.xml"/><Relationship Id="rId36" Type="http://schemas.openxmlformats.org/officeDocument/2006/relationships/font" Target="fonts/PlayfairDisplay-regular.fntdata"/><Relationship Id="rId17" Type="http://schemas.openxmlformats.org/officeDocument/2006/relationships/slide" Target="slides/slide11.xml"/><Relationship Id="rId39" Type="http://schemas.openxmlformats.org/officeDocument/2006/relationships/font" Target="fonts/PlayfairDisplay-boldItalic.fntdata"/><Relationship Id="rId16" Type="http://schemas.openxmlformats.org/officeDocument/2006/relationships/slide" Target="slides/slide10.xml"/><Relationship Id="rId38" Type="http://schemas.openxmlformats.org/officeDocument/2006/relationships/font" Target="fonts/PlayfairDisplay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Relationship Id="rId44" Type="http://schemas.openxmlformats.org/officeDocument/2006/relationships/slide" Target="slides/slide30.xml"/><Relationship Id="rId45" Type="http://schemas.openxmlformats.org/officeDocument/2006/relationships/slide" Target="slides/slide31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9-07T20:05:00.552">
    <p:pos x="195" y="1699"/>
    <p:text>?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3ef25c157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3ef25c157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8c62ec8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g3f8c62ec8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No hay flag de activo/inactivo como en el Ejercicio 2: toda celda tiene siempre un carácter, y la celda vacía es simplemente el espacio en blanco.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8c62ec88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f8c62ec88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8c62ec88e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f8c62ec88e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3e895497a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f3e895497a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8c62ec88e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8c62ec88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El GIF se anima en modo presentación; en modo edición se ve el primer cuadro, que es la población aleatoria.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8c62ec88e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g3f8c62ec88e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8c62ec88e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g3f8c62ec88e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f8c62ec88e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g3f8c62ec88e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8c62ec88e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f8c62ec88e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f8c62ec88e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f8c62ec88e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f8c62ec88e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g3f8c62ec88e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8c62ec88e_0_2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8c62ec88e_0_2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f8c62ec88e_0_2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g3f8c62ec88e_0_2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f8c62ec88e_0_2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f8c62ec88e_0_2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f8c62ec88e_0_3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f8c62ec88e_0_3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8c62ec88e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g3f8c62ec88e_0_3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f8c62ec88e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2" name="Google Shape;382;g3f8c62ec88e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La cátedra pregunta por qué la ruleta llevaría a convergencia prematura ante un superindividuo. Nuestro motor muestra el problema opuesto, y por la misma causa de fondo: la ruleta depende de la escala absoluta del fitness. Ranking y Boltzmann la desacoplan, y por eso ranking sí funciona.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f8c62ec88e_0_3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g3f8c62ec88e_0_3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8c62ec88e_0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3f8c62ec88e_0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f8c62ec88e_0_3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g3f8c62ec88e_0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Respuesta honesta a la pregunta previa del enunciado sobre si la cruza genera descendientes con buenas probabilidades de mejorar: sobre esta representación, medido, no aporta nada distinguible del ruido.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f8c62ec88e_0_3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g3f8c62ec88e_0_3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GB" sz="1100"/>
              <a:t>Se entiende con la lámina de presión de selección: con la presión real que mide la matriz, el AG está haciendo poco más que búsqueda aleatoria en paralelo, mientras que el (1+1) tiene presión de selección perfecta por construcción.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f8c62ec88e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g3f8c62ec88e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f8c62ec88e_0_4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g3f8c62ec88e_0_4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8c62ec88e_0_4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g3f8c62ec88e_0_4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8c62ec88e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8c62ec88e_0_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f8c62ec88e_0_4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g3f8c62ec88e_0_4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6" name="Shape 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Google Shape;527;g3f3ef25c157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8" name="Google Shape;528;g3f3ef25c157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9050" y="748800"/>
            <a:ext cx="3645900" cy="36459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2992950" y="992700"/>
            <a:ext cx="3158100" cy="31581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Lato"/>
              <a:buNone/>
              <a:defRPr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fair Display"/>
              <a:buNone/>
              <a:defRPr b="1" sz="18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509550" y="1423875"/>
            <a:ext cx="8124900" cy="179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391378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Lato"/>
              <a:buNone/>
              <a:defRPr b="0" sz="48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107950"/>
            <a:ext cx="4045200" cy="168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7" name="Google Shape;47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33100"/>
            <a:ext cx="8520600" cy="161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0000"/>
              <a:buFont typeface="Lato"/>
              <a:buNone/>
              <a:defRPr sz="10000"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291945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coral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91350"/>
            <a:ext cx="85206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gif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1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gif"/><Relationship Id="rId4" Type="http://schemas.openxmlformats.org/officeDocument/2006/relationships/image" Target="../media/image8.gif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6.gif"/><Relationship Id="rId4" Type="http://schemas.openxmlformats.org/officeDocument/2006/relationships/image" Target="../media/image11.gif"/><Relationship Id="rId5" Type="http://schemas.openxmlformats.org/officeDocument/2006/relationships/image" Target="../media/image12.gif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3" Type="http://schemas.openxmlformats.org/officeDocument/2006/relationships/image" Target="../media/image17.pn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3096300" y="1391875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Algoritmos Genéticos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Trabajo Práctico N°2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479400" y="2790250"/>
            <a:ext cx="8185200" cy="126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Alicia Cobo Iglesias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Lucas Di Candia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Axel Farina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Emilio Mitchell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Tomas Pietravallo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/>
          <p:nvPr>
            <p:ph type="ctrTitle"/>
          </p:nvPr>
        </p:nvSpPr>
        <p:spPr>
          <a:xfrm>
            <a:off x="3056600" y="17796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Ejercicio 1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Arte ASCII mediante Algoritmos Genéticos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3</a:t>
            </a:r>
            <a:endParaRPr/>
          </a:p>
        </p:txBody>
      </p:sp>
      <p:sp>
        <p:nvSpPr>
          <p:cNvPr id="72" name="Google Shape;72;p1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Individuo y genes</a:t>
            </a:r>
            <a:endParaRPr/>
          </a:p>
        </p:txBody>
      </p:sp>
      <p:sp>
        <p:nvSpPr>
          <p:cNvPr id="73" name="Google Shape;73;p1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310896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57200" y="1380744"/>
            <a:ext cx="24261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Individuo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Grilla de N×N caracteres ASCII</a:t>
            </a: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3212592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3358896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Cromosoma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Arreglo plano de N² genes, de longitud fija</a:t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6114288" y="1234440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6260592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carácter por celda, del alfabeto fijo</a:t>
            </a:r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310896" y="2651760"/>
            <a:ext cx="85221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457200" y="2798064"/>
            <a:ext cx="82296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Alelos: una rampa de densidad visual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alfabeto va de disperso a denso:     espacio  .  :  -  =  +  *  #  %  @</a:t>
            </a:r>
            <a:endParaRPr/>
          </a:p>
        </p:txBody>
      </p:sp>
      <p:sp>
        <p:nvSpPr>
          <p:cNvPr id="82" name="Google Shape;82;p15"/>
          <p:cNvSpPr txBox="1"/>
          <p:nvPr/>
        </p:nvSpPr>
        <p:spPr>
          <a:xfrm>
            <a:off x="310896" y="3749039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orden no es cosmético: es lo que le da sentido a mutar un escalón de densidad en vez de saltar a un carácter arbitrario.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4</a:t>
            </a: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Fitness</a:t>
            </a:r>
            <a:endParaRPr/>
          </a:p>
        </p:txBody>
      </p:sp>
      <p:sp>
        <p:nvSpPr>
          <p:cNvPr id="90" name="Google Shape;90;p1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91" name="Google Shape;91;p16"/>
          <p:cNvSpPr/>
          <p:nvPr/>
        </p:nvSpPr>
        <p:spPr>
          <a:xfrm>
            <a:off x="310896" y="1234440"/>
            <a:ext cx="41697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457200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Cómo se evalúa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carácter se renderiza a un bitmap fijo con una fuente monoespaciada. Ensamblando los N² glifos se reconstruye una imagen y se compara contra el objetivo.</a:t>
            </a:r>
            <a:endParaRPr/>
          </a:p>
        </p:txBody>
      </p:sp>
      <p:sp>
        <p:nvSpPr>
          <p:cNvPr id="93" name="Google Shape;93;p16"/>
          <p:cNvSpPr/>
          <p:nvPr/>
        </p:nvSpPr>
        <p:spPr>
          <a:xfrm>
            <a:off x="4663440" y="1234440"/>
            <a:ext cx="41697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4809744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Métrica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Uno menos la raíz del error cuadrático normalizado: la misma forma que en el Ejercicio 2. Continua, acotada y estrictamente positiva.</a:t>
            </a:r>
            <a:endParaRPr/>
          </a:p>
        </p:txBody>
      </p:sp>
      <p:sp>
        <p:nvSpPr>
          <p:cNvPr id="95" name="Google Shape;95;p16"/>
          <p:cNvSpPr/>
          <p:nvPr/>
        </p:nvSpPr>
        <p:spPr>
          <a:xfrm>
            <a:off x="310896" y="2834640"/>
            <a:ext cx="85221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457200" y="2980944"/>
            <a:ext cx="8229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tiene que ser estrictamente positiva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Los selectores de la familia ruleta necesitan un peso positivo por individuo para construir una acumulada válida. Un individuo de error máximo con fitness exactamente cero rompe esa cuenta.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5</a:t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Qué se traslada y qué se redefine</a:t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1</a:t>
            </a:r>
            <a:endParaRPr/>
          </a:p>
        </p:txBody>
      </p:sp>
      <p:sp>
        <p:nvSpPr>
          <p:cNvPr id="105" name="Google Shape;105;p17"/>
          <p:cNvSpPr/>
          <p:nvPr/>
        </p:nvSpPr>
        <p:spPr>
          <a:xfrm>
            <a:off x="310896" y="1234440"/>
            <a:ext cx="41697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/>
          <p:nvPr/>
        </p:nvSpPr>
        <p:spPr>
          <a:xfrm>
            <a:off x="457200" y="1380744"/>
            <a:ext cx="38772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Se trasladan sin cambios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Selección y supervivencia: solo consumen un escalar de fitness por individuo.</a:t>
            </a:r>
            <a:endParaRPr/>
          </a:p>
        </p:txBody>
      </p:sp>
      <p:sp>
        <p:nvSpPr>
          <p:cNvPr id="107" name="Google Shape;107;p17"/>
          <p:cNvSpPr/>
          <p:nvPr/>
        </p:nvSpPr>
        <p:spPr>
          <a:xfrm>
            <a:off x="4663440" y="1234440"/>
            <a:ext cx="41697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4809744" y="1380744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Hay que redefinirlos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Cruza y mutación: dependen de la forma del genoma.</a:t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310896" y="2514600"/>
            <a:ext cx="4169700" cy="1371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457200" y="266090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Cruza sobre una grilla 2D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punto y dos puntos pasan a cortar por fila, preservando la lectura de mitad superior y mitad inferior. Uniforme no necesita redefinición.</a:t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4663440" y="2514600"/>
            <a:ext cx="4169700" cy="1371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4809744" y="266090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Mutación sobre un alfabeto discreto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Resortear el carácter de una celda, o dar un paso a un escalón adyacente de la rampa: el equivalente discreto del paso gaussiano continuo.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/>
          <p:nvPr>
            <p:ph type="ctrTitle"/>
          </p:nvPr>
        </p:nvSpPr>
        <p:spPr>
          <a:xfrm>
            <a:off x="3056600" y="17796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Ejercicio 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Algoritmos Genéticos</a:t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 rotWithShape="1">
          <a:blip r:embed="rId3">
            <a:alphaModFix/>
          </a:blip>
          <a:srcRect b="0" l="6337" r="13452" t="0"/>
          <a:stretch/>
        </p:blipFill>
        <p:spPr>
          <a:xfrm>
            <a:off x="582050" y="1779600"/>
            <a:ext cx="1799750" cy="179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82800" y="1671875"/>
            <a:ext cx="1799750" cy="179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7</a:t>
            </a:r>
            <a:endParaRPr/>
          </a:p>
        </p:txBody>
      </p:sp>
      <p:sp>
        <p:nvSpPr>
          <p:cNvPr id="126" name="Google Shape;126;p1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¿En qué consiste?</a:t>
            </a:r>
            <a:endParaRPr/>
          </a:p>
        </p:txBody>
      </p:sp>
      <p:sp>
        <p:nvSpPr>
          <p:cNvPr id="127" name="Google Shape;127;p1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28" name="Google Shape;128;p19"/>
          <p:cNvSpPr/>
          <p:nvPr/>
        </p:nvSpPr>
        <p:spPr>
          <a:xfrm>
            <a:off x="1790871" y="1223058"/>
            <a:ext cx="27189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9"/>
          <p:cNvSpPr txBox="1"/>
          <p:nvPr/>
        </p:nvSpPr>
        <p:spPr>
          <a:xfrm>
            <a:off x="1937175" y="1369362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Entrada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imagen y una cantidad de triángulos. Los hiperparámetros van aparte.</a:t>
            </a:r>
            <a:endParaRPr/>
          </a:p>
        </p:txBody>
      </p:sp>
      <p:sp>
        <p:nvSpPr>
          <p:cNvPr id="130" name="Google Shape;130;p19"/>
          <p:cNvSpPr/>
          <p:nvPr/>
        </p:nvSpPr>
        <p:spPr>
          <a:xfrm>
            <a:off x="4927038" y="1223058"/>
            <a:ext cx="27189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5073342" y="1369362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Salida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Imagen generada, enumeración de triángulos y </a:t>
            </a:r>
            <a:r>
              <a:rPr lang="en-GB" sz="12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colores</a:t>
            </a: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/>
          </a:p>
        </p:txBody>
      </p:sp>
      <p:pic>
        <p:nvPicPr>
          <p:cNvPr descr="flag_ar_elite.gif" id="132" name="Google Shape;13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31720" y="2487168"/>
            <a:ext cx="1783080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9"/>
          <p:cNvSpPr/>
          <p:nvPr/>
        </p:nvSpPr>
        <p:spPr>
          <a:xfrm>
            <a:off x="2331720" y="2487168"/>
            <a:ext cx="1783200" cy="17832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lag_ar.png" id="134" name="Google Shape;13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3360" y="2506730"/>
            <a:ext cx="1783080" cy="178308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9"/>
          <p:cNvSpPr/>
          <p:nvPr/>
        </p:nvSpPr>
        <p:spPr>
          <a:xfrm>
            <a:off x="5073360" y="2506731"/>
            <a:ext cx="1783200" cy="17832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9"/>
          <p:cNvSpPr txBox="1"/>
          <p:nvPr/>
        </p:nvSpPr>
        <p:spPr>
          <a:xfrm>
            <a:off x="2331720" y="4334256"/>
            <a:ext cx="1783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20 triángulos, 3000 generaciones</a:t>
            </a:r>
            <a:endParaRPr/>
          </a:p>
        </p:txBody>
      </p:sp>
      <p:sp>
        <p:nvSpPr>
          <p:cNvPr id="137" name="Google Shape;137;p19"/>
          <p:cNvSpPr txBox="1"/>
          <p:nvPr/>
        </p:nvSpPr>
        <p:spPr>
          <a:xfrm>
            <a:off x="5073360" y="4353819"/>
            <a:ext cx="1783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objetivo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2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8</a:t>
            </a:r>
            <a:endParaRPr/>
          </a:p>
        </p:txBody>
      </p:sp>
      <p:sp>
        <p:nvSpPr>
          <p:cNvPr id="144" name="Google Shape;144;p2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Fenotipo y genotipo</a:t>
            </a:r>
            <a:endParaRPr/>
          </a:p>
        </p:txBody>
      </p:sp>
      <p:sp>
        <p:nvSpPr>
          <p:cNvPr id="145" name="Google Shape;145;p2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46" name="Google Shape;146;p20"/>
          <p:cNvSpPr/>
          <p:nvPr/>
        </p:nvSpPr>
        <p:spPr>
          <a:xfrm>
            <a:off x="310896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0"/>
          <p:cNvSpPr txBox="1"/>
          <p:nvPr/>
        </p:nvSpPr>
        <p:spPr>
          <a:xfrm>
            <a:off x="457200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Individuo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Imagen por superposición de triángulos</a:t>
            </a:r>
            <a:endParaRPr/>
          </a:p>
        </p:txBody>
      </p:sp>
      <p:sp>
        <p:nvSpPr>
          <p:cNvPr id="148" name="Google Shape;148;p20"/>
          <p:cNvSpPr/>
          <p:nvPr/>
        </p:nvSpPr>
        <p:spPr>
          <a:xfrm>
            <a:off x="2487168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2633472" y="1353312"/>
            <a:ext cx="17007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Cromosoma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Vector 11</a:t>
            </a:r>
            <a:r>
              <a:rPr lang="en-GB" sz="1100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x </a:t>
            </a: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float32</a:t>
            </a:r>
            <a:endParaRPr/>
          </a:p>
        </p:txBody>
      </p:sp>
      <p:sp>
        <p:nvSpPr>
          <p:cNvPr id="150" name="Google Shape;150;p20"/>
          <p:cNvSpPr/>
          <p:nvPr/>
        </p:nvSpPr>
        <p:spPr>
          <a:xfrm>
            <a:off x="4663440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4809744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valor real normalizado a [0, 1]</a:t>
            </a:r>
            <a:endParaRPr/>
          </a:p>
        </p:txBody>
      </p:sp>
      <p:sp>
        <p:nvSpPr>
          <p:cNvPr id="152" name="Google Shape;152;p20"/>
          <p:cNvSpPr/>
          <p:nvPr/>
        </p:nvSpPr>
        <p:spPr>
          <a:xfrm>
            <a:off x="6839712" y="1207008"/>
            <a:ext cx="1993500" cy="1051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0"/>
          <p:cNvSpPr txBox="1"/>
          <p:nvPr/>
        </p:nvSpPr>
        <p:spPr>
          <a:xfrm>
            <a:off x="6986016" y="1353312"/>
            <a:ext cx="17007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Locus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Su posición fija el orden de dibujado</a:t>
            </a:r>
            <a:endParaRPr/>
          </a:p>
        </p:txBody>
      </p:sp>
      <p:sp>
        <p:nvSpPr>
          <p:cNvPr id="154" name="Google Shape;154;p20"/>
          <p:cNvSpPr/>
          <p:nvPr/>
        </p:nvSpPr>
        <p:spPr>
          <a:xfrm>
            <a:off x="310896" y="2450592"/>
            <a:ext cx="8522100" cy="1417200"/>
          </a:xfrm>
          <a:prstGeom prst="roundRect">
            <a:avLst>
              <a:gd fmla="val 6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0"/>
          <p:cNvSpPr txBox="1"/>
          <p:nvPr/>
        </p:nvSpPr>
        <p:spPr>
          <a:xfrm>
            <a:off x="493776" y="260604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Los 11 genes de cada triángulo</a:t>
            </a:r>
            <a:endParaRPr/>
          </a:p>
        </p:txBody>
      </p:sp>
      <p:sp>
        <p:nvSpPr>
          <p:cNvPr id="156" name="Google Shape;156;p20"/>
          <p:cNvSpPr/>
          <p:nvPr/>
        </p:nvSpPr>
        <p:spPr>
          <a:xfrm>
            <a:off x="49377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0"/>
          <p:cNvSpPr txBox="1"/>
          <p:nvPr/>
        </p:nvSpPr>
        <p:spPr>
          <a:xfrm>
            <a:off x="49377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X1</a:t>
            </a:r>
            <a:endParaRPr/>
          </a:p>
        </p:txBody>
      </p:sp>
      <p:sp>
        <p:nvSpPr>
          <p:cNvPr id="158" name="Google Shape;158;p20"/>
          <p:cNvSpPr/>
          <p:nvPr/>
        </p:nvSpPr>
        <p:spPr>
          <a:xfrm>
            <a:off x="1234440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1234440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Y1</a:t>
            </a:r>
            <a:endParaRPr/>
          </a:p>
        </p:txBody>
      </p:sp>
      <p:sp>
        <p:nvSpPr>
          <p:cNvPr id="160" name="Google Shape;160;p20"/>
          <p:cNvSpPr/>
          <p:nvPr/>
        </p:nvSpPr>
        <p:spPr>
          <a:xfrm>
            <a:off x="1975104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0"/>
          <p:cNvSpPr txBox="1"/>
          <p:nvPr/>
        </p:nvSpPr>
        <p:spPr>
          <a:xfrm>
            <a:off x="1975104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X2</a:t>
            </a: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2715768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0"/>
          <p:cNvSpPr txBox="1"/>
          <p:nvPr/>
        </p:nvSpPr>
        <p:spPr>
          <a:xfrm>
            <a:off x="2715768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Y2</a:t>
            </a:r>
            <a:endParaRPr/>
          </a:p>
        </p:txBody>
      </p:sp>
      <p:sp>
        <p:nvSpPr>
          <p:cNvPr id="164" name="Google Shape;164;p20"/>
          <p:cNvSpPr/>
          <p:nvPr/>
        </p:nvSpPr>
        <p:spPr>
          <a:xfrm>
            <a:off x="3456432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 txBox="1"/>
          <p:nvPr/>
        </p:nvSpPr>
        <p:spPr>
          <a:xfrm>
            <a:off x="3456432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X3</a:t>
            </a:r>
            <a:endParaRPr/>
          </a:p>
        </p:txBody>
      </p:sp>
      <p:sp>
        <p:nvSpPr>
          <p:cNvPr id="166" name="Google Shape;166;p20"/>
          <p:cNvSpPr/>
          <p:nvPr/>
        </p:nvSpPr>
        <p:spPr>
          <a:xfrm>
            <a:off x="419709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0"/>
          <p:cNvSpPr txBox="1"/>
          <p:nvPr/>
        </p:nvSpPr>
        <p:spPr>
          <a:xfrm>
            <a:off x="419709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Y3</a:t>
            </a:r>
            <a:endParaRPr/>
          </a:p>
        </p:txBody>
      </p:sp>
      <p:sp>
        <p:nvSpPr>
          <p:cNvPr id="168" name="Google Shape;168;p20"/>
          <p:cNvSpPr/>
          <p:nvPr/>
        </p:nvSpPr>
        <p:spPr>
          <a:xfrm>
            <a:off x="4937760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0"/>
          <p:cNvSpPr txBox="1"/>
          <p:nvPr/>
        </p:nvSpPr>
        <p:spPr>
          <a:xfrm>
            <a:off x="4937760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</a:t>
            </a:r>
            <a:endParaRPr/>
          </a:p>
        </p:txBody>
      </p:sp>
      <p:sp>
        <p:nvSpPr>
          <p:cNvPr id="170" name="Google Shape;170;p20"/>
          <p:cNvSpPr/>
          <p:nvPr/>
        </p:nvSpPr>
        <p:spPr>
          <a:xfrm>
            <a:off x="5678424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678424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G</a:t>
            </a:r>
            <a:endParaRPr/>
          </a:p>
        </p:txBody>
      </p:sp>
      <p:sp>
        <p:nvSpPr>
          <p:cNvPr id="172" name="Google Shape;172;p20"/>
          <p:cNvSpPr/>
          <p:nvPr/>
        </p:nvSpPr>
        <p:spPr>
          <a:xfrm>
            <a:off x="6419088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0"/>
          <p:cNvSpPr txBox="1"/>
          <p:nvPr/>
        </p:nvSpPr>
        <p:spPr>
          <a:xfrm>
            <a:off x="6419088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B</a:t>
            </a:r>
            <a:endParaRPr/>
          </a:p>
        </p:txBody>
      </p:sp>
      <p:sp>
        <p:nvSpPr>
          <p:cNvPr id="174" name="Google Shape;174;p20"/>
          <p:cNvSpPr/>
          <p:nvPr/>
        </p:nvSpPr>
        <p:spPr>
          <a:xfrm>
            <a:off x="7159752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0"/>
          <p:cNvSpPr txBox="1"/>
          <p:nvPr/>
        </p:nvSpPr>
        <p:spPr>
          <a:xfrm>
            <a:off x="7159752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E09B2D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endParaRPr/>
          </a:p>
        </p:txBody>
      </p:sp>
      <p:sp>
        <p:nvSpPr>
          <p:cNvPr id="176" name="Google Shape;176;p20"/>
          <p:cNvSpPr/>
          <p:nvPr/>
        </p:nvSpPr>
        <p:spPr>
          <a:xfrm>
            <a:off x="7900416" y="2926080"/>
            <a:ext cx="676800" cy="347400"/>
          </a:xfrm>
          <a:prstGeom prst="roundRect">
            <a:avLst>
              <a:gd fmla="val 18000" name="adj"/>
            </a:avLst>
          </a:prstGeom>
          <a:solidFill>
            <a:srgbClr val="E6EA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0"/>
          <p:cNvSpPr txBox="1"/>
          <p:nvPr/>
        </p:nvSpPr>
        <p:spPr>
          <a:xfrm>
            <a:off x="7900416" y="3008376"/>
            <a:ext cx="6768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ACTIVE</a:t>
            </a:r>
            <a:endParaRPr/>
          </a:p>
        </p:txBody>
      </p:sp>
      <p:sp>
        <p:nvSpPr>
          <p:cNvPr id="178" name="Google Shape;178;p20"/>
          <p:cNvSpPr txBox="1"/>
          <p:nvPr/>
        </p:nvSpPr>
        <p:spPr>
          <a:xfrm>
            <a:off x="493776" y="3401568"/>
            <a:ext cx="81564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tres vértices  ·  color RGB  ·  alfa  ·  flag de actividad          la longitud es fija, así los cuatro cruces quedan definidos como en clase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1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9</a:t>
            </a:r>
            <a:endParaRPr/>
          </a:p>
        </p:txBody>
      </p:sp>
      <p:sp>
        <p:nvSpPr>
          <p:cNvPr id="185" name="Google Shape;185;p21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Cotas y reparación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187" name="Google Shape;187;p21"/>
          <p:cNvSpPr/>
          <p:nvPr/>
        </p:nvSpPr>
        <p:spPr>
          <a:xfrm>
            <a:off x="310896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1"/>
          <p:cNvSpPr txBox="1"/>
          <p:nvPr/>
        </p:nvSpPr>
        <p:spPr>
          <a:xfrm>
            <a:off x="457200" y="1380744"/>
            <a:ext cx="24261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Vértices en [−0,1 ; 1,1]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banda de sobrepaso, para que un triángulo pueda cubrir una esquina del canvas.</a:t>
            </a:r>
            <a:endParaRPr/>
          </a:p>
        </p:txBody>
      </p:sp>
      <p:sp>
        <p:nvSpPr>
          <p:cNvPr id="189" name="Google Shape;189;p21"/>
          <p:cNvSpPr/>
          <p:nvPr/>
        </p:nvSpPr>
        <p:spPr>
          <a:xfrm>
            <a:off x="3212592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1"/>
          <p:cNvSpPr txBox="1"/>
          <p:nvPr/>
        </p:nvSpPr>
        <p:spPr>
          <a:xfrm>
            <a:off x="3358896" y="1380744"/>
            <a:ext cx="24261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Alfa en [0,1 ; 0,9]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Alfa 0 desperdicia presupuesto; alfa 1 mata la translucidez que pide el enunciado.</a:t>
            </a:r>
            <a:endParaRPr/>
          </a:p>
        </p:txBody>
      </p:sp>
      <p:sp>
        <p:nvSpPr>
          <p:cNvPr id="191" name="Google Shape;191;p21"/>
          <p:cNvSpPr/>
          <p:nvPr/>
        </p:nvSpPr>
        <p:spPr>
          <a:xfrm>
            <a:off x="6114288" y="1234440"/>
            <a:ext cx="27189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1"/>
          <p:cNvSpPr txBox="1"/>
          <p:nvPr/>
        </p:nvSpPr>
        <p:spPr>
          <a:xfrm>
            <a:off x="6260592" y="1380744"/>
            <a:ext cx="24261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único punto de reparación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reflect(): si una mutación se pasa de la banda, el valor se refleja.</a:t>
            </a:r>
            <a:endParaRPr/>
          </a:p>
        </p:txBody>
      </p:sp>
      <p:sp>
        <p:nvSpPr>
          <p:cNvPr id="193" name="Google Shape;193;p21"/>
          <p:cNvSpPr/>
          <p:nvPr/>
        </p:nvSpPr>
        <p:spPr>
          <a:xfrm>
            <a:off x="310896" y="2743200"/>
            <a:ext cx="8522100" cy="1143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1"/>
          <p:cNvSpPr txBox="1"/>
          <p:nvPr/>
        </p:nvSpPr>
        <p:spPr>
          <a:xfrm>
            <a:off x="457200" y="2889504"/>
            <a:ext cx="8229600" cy="58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reflejar y no recortar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Recortar amontona probabilidad sobre el límite exacto de la banda, y termina clavando triángulos planos contra el borde del canvas: un artefacto visual y estadístico. Reflejar preserva la magnitud del sobrepaso y evita ese apilamiento.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2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10</a:t>
            </a:r>
            <a:endParaRPr/>
          </a:p>
        </p:txBody>
      </p:sp>
      <p:sp>
        <p:nvSpPr>
          <p:cNvPr id="201" name="Google Shape;201;p22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 flag </a:t>
            </a:r>
            <a:r>
              <a:rPr b="1" lang="en-GB" sz="2600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active</a:t>
            </a: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: </a:t>
            </a:r>
            <a:r>
              <a:rPr b="1" lang="en-GB" sz="2600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cota de cromosomas</a:t>
            </a:r>
            <a:endParaRPr/>
          </a:p>
        </p:txBody>
      </p:sp>
      <p:sp>
        <p:nvSpPr>
          <p:cNvPr id="202" name="Google Shape;202;p22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03" name="Google Shape;203;p22"/>
          <p:cNvSpPr/>
          <p:nvPr/>
        </p:nvSpPr>
        <p:spPr>
          <a:xfrm>
            <a:off x="310896" y="1234440"/>
            <a:ext cx="41697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 txBox="1"/>
          <p:nvPr/>
        </p:nvSpPr>
        <p:spPr>
          <a:xfrm>
            <a:off x="457200" y="1380744"/>
            <a:ext cx="3877200" cy="7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problema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pide que la cantidad de triángulos sea una cota máxima, pero los cuatro cruces de la cátedra están definidos sobre cromosomas de longitud fija.</a:t>
            </a:r>
            <a:endParaRPr/>
          </a:p>
        </p:txBody>
      </p:sp>
      <p:sp>
        <p:nvSpPr>
          <p:cNvPr id="205" name="Google Shape;205;p22"/>
          <p:cNvSpPr/>
          <p:nvPr/>
        </p:nvSpPr>
        <p:spPr>
          <a:xfrm>
            <a:off x="4663440" y="1234440"/>
            <a:ext cx="41697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2"/>
          <p:cNvSpPr txBox="1"/>
          <p:nvPr/>
        </p:nvSpPr>
        <p:spPr>
          <a:xfrm>
            <a:off x="4809744" y="1380744"/>
            <a:ext cx="3877200" cy="76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La solución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gen ACTIVE por triángulo, con umbral en 0,5. La longitud del vector nunca cambia; un triángulo inactivo no se dibuja ni consume presupuesto.</a:t>
            </a:r>
            <a:endParaRPr/>
          </a:p>
        </p:txBody>
      </p:sp>
      <p:sp>
        <p:nvSpPr>
          <p:cNvPr id="207" name="Google Shape;207;p22"/>
          <p:cNvSpPr/>
          <p:nvPr/>
        </p:nvSpPr>
        <p:spPr>
          <a:xfrm>
            <a:off x="310896" y="2697480"/>
            <a:ext cx="85221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2"/>
          <p:cNvSpPr txBox="1"/>
          <p:nvPr/>
        </p:nvSpPr>
        <p:spPr>
          <a:xfrm>
            <a:off x="493776" y="283464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Verificado sobre 200 individuos con presupuesto 30</a:t>
            </a:r>
            <a:endParaRPr/>
          </a:p>
        </p:txBody>
      </p:sp>
      <p:sp>
        <p:nvSpPr>
          <p:cNvPr id="209" name="Google Shape;209;p22"/>
          <p:cNvSpPr txBox="1"/>
          <p:nvPr/>
        </p:nvSpPr>
        <p:spPr>
          <a:xfrm>
            <a:off x="493776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8</a:t>
            </a:r>
            <a:endParaRPr/>
          </a:p>
        </p:txBody>
      </p:sp>
      <p:sp>
        <p:nvSpPr>
          <p:cNvPr id="210" name="Google Shape;210;p22"/>
          <p:cNvSpPr txBox="1"/>
          <p:nvPr/>
        </p:nvSpPr>
        <p:spPr>
          <a:xfrm>
            <a:off x="493776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mínimo de activos</a:t>
            </a:r>
            <a:endParaRPr/>
          </a:p>
        </p:txBody>
      </p:sp>
      <p:sp>
        <p:nvSpPr>
          <p:cNvPr id="211" name="Google Shape;211;p22"/>
          <p:cNvSpPr txBox="1"/>
          <p:nvPr/>
        </p:nvSpPr>
        <p:spPr>
          <a:xfrm>
            <a:off x="2532888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15,1</a:t>
            </a:r>
            <a:endParaRPr/>
          </a:p>
        </p:txBody>
      </p:sp>
      <p:sp>
        <p:nvSpPr>
          <p:cNvPr id="212" name="Google Shape;212;p22"/>
          <p:cNvSpPr txBox="1"/>
          <p:nvPr/>
        </p:nvSpPr>
        <p:spPr>
          <a:xfrm>
            <a:off x="2532888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media</a:t>
            </a:r>
            <a:endParaRPr/>
          </a:p>
        </p:txBody>
      </p:sp>
      <p:sp>
        <p:nvSpPr>
          <p:cNvPr id="213" name="Google Shape;213;p22"/>
          <p:cNvSpPr txBox="1"/>
          <p:nvPr/>
        </p:nvSpPr>
        <p:spPr>
          <a:xfrm>
            <a:off x="4572000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273C42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22</a:t>
            </a:r>
            <a:endParaRPr/>
          </a:p>
        </p:txBody>
      </p:sp>
      <p:sp>
        <p:nvSpPr>
          <p:cNvPr id="214" name="Google Shape;214;p22"/>
          <p:cNvSpPr txBox="1"/>
          <p:nvPr/>
        </p:nvSpPr>
        <p:spPr>
          <a:xfrm>
            <a:off x="4572000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máximo de activos</a:t>
            </a:r>
            <a:endParaRPr/>
          </a:p>
        </p:txBody>
      </p:sp>
      <p:sp>
        <p:nvSpPr>
          <p:cNvPr id="215" name="Google Shape;215;p22"/>
          <p:cNvSpPr txBox="1"/>
          <p:nvPr/>
        </p:nvSpPr>
        <p:spPr>
          <a:xfrm>
            <a:off x="6611112" y="3127248"/>
            <a:ext cx="1920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1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30</a:t>
            </a:r>
            <a:endParaRPr/>
          </a:p>
        </p:txBody>
      </p:sp>
      <p:sp>
        <p:nvSpPr>
          <p:cNvPr id="216" name="Google Shape;216;p22"/>
          <p:cNvSpPr txBox="1"/>
          <p:nvPr/>
        </p:nvSpPr>
        <p:spPr>
          <a:xfrm>
            <a:off x="6611112" y="3520440"/>
            <a:ext cx="1920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presupuesto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3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23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11</a:t>
            </a:r>
            <a:endParaRPr/>
          </a:p>
        </p:txBody>
      </p:sp>
      <p:sp>
        <p:nvSpPr>
          <p:cNvPr id="223" name="Google Shape;223;p23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Función de fitness</a:t>
            </a:r>
            <a:endParaRPr/>
          </a:p>
        </p:txBody>
      </p:sp>
      <p:sp>
        <p:nvSpPr>
          <p:cNvPr id="224" name="Google Shape;224;p23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25" name="Google Shape;225;p23"/>
          <p:cNvSpPr txBox="1"/>
          <p:nvPr/>
        </p:nvSpPr>
        <p:spPr>
          <a:xfrm>
            <a:off x="1506487" y="1245650"/>
            <a:ext cx="4917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8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fitness  =  </a:t>
            </a:r>
            <a:endParaRPr/>
          </a:p>
        </p:txBody>
      </p:sp>
      <p:sp>
        <p:nvSpPr>
          <p:cNvPr id="226" name="Google Shape;226;p23"/>
          <p:cNvSpPr/>
          <p:nvPr/>
        </p:nvSpPr>
        <p:spPr>
          <a:xfrm>
            <a:off x="310896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3"/>
          <p:cNvSpPr txBox="1"/>
          <p:nvPr/>
        </p:nvSpPr>
        <p:spPr>
          <a:xfrm>
            <a:off x="457200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Qué 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RMSE normalizado e invertido sobre los tres canales.</a:t>
            </a:r>
            <a:endParaRPr/>
          </a:p>
        </p:txBody>
      </p:sp>
      <p:sp>
        <p:nvSpPr>
          <p:cNvPr id="228" name="Google Shape;228;p23"/>
          <p:cNvSpPr/>
          <p:nvPr/>
        </p:nvSpPr>
        <p:spPr>
          <a:xfrm>
            <a:off x="3212592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3"/>
          <p:cNvSpPr txBox="1"/>
          <p:nvPr/>
        </p:nvSpPr>
        <p:spPr>
          <a:xfrm>
            <a:off x="3358896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normalizado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Comparable entre imágenes y tamaños de canvas distintos.</a:t>
            </a:r>
            <a:endParaRPr/>
          </a:p>
        </p:txBody>
      </p:sp>
      <p:sp>
        <p:nvSpPr>
          <p:cNvPr id="230" name="Google Shape;230;p23"/>
          <p:cNvSpPr/>
          <p:nvPr/>
        </p:nvSpPr>
        <p:spPr>
          <a:xfrm>
            <a:off x="6114288" y="2057400"/>
            <a:ext cx="27189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3"/>
          <p:cNvSpPr txBox="1"/>
          <p:nvPr/>
        </p:nvSpPr>
        <p:spPr>
          <a:xfrm>
            <a:off x="6260592" y="2203704"/>
            <a:ext cx="24261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 el piso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Para que la ruleta tenga una acumulada bien definida.</a:t>
            </a:r>
            <a:endParaRPr/>
          </a:p>
        </p:txBody>
      </p:sp>
      <p:sp>
        <p:nvSpPr>
          <p:cNvPr id="232" name="Google Shape;232;p23"/>
          <p:cNvSpPr/>
          <p:nvPr/>
        </p:nvSpPr>
        <p:spPr>
          <a:xfrm>
            <a:off x="310896" y="3063240"/>
            <a:ext cx="85221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23"/>
          <p:cNvSpPr txBox="1"/>
          <p:nvPr/>
        </p:nvSpPr>
        <p:spPr>
          <a:xfrm>
            <a:off x="457200" y="3209544"/>
            <a:ext cx="82296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Decisión: no penalizamos la cantidad de triángulos activos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define el fitness como error por píxel, sin término de tamaño. Agregarlo mezclaría qué tan bien selecciona el operador con qué tan barato en triángulos salió el resultado, y es justo eso lo que la matriz quiere aislar.</a:t>
            </a:r>
            <a:endParaRPr/>
          </a:p>
        </p:txBody>
      </p:sp>
      <p:pic>
        <p:nvPicPr>
          <p:cNvPr id="234" name="Google Shape;234;p23"/>
          <p:cNvPicPr preferRelativeResize="0"/>
          <p:nvPr/>
        </p:nvPicPr>
        <p:blipFill rotWithShape="1">
          <a:blip r:embed="rId3">
            <a:alphaModFix/>
          </a:blip>
          <a:srcRect b="0" l="6829" r="0" t="0"/>
          <a:stretch/>
        </p:blipFill>
        <p:spPr>
          <a:xfrm>
            <a:off x="4652875" y="883650"/>
            <a:ext cx="2718900" cy="1001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4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4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12</a:t>
            </a:r>
            <a:endParaRPr/>
          </a:p>
        </p:txBody>
      </p:sp>
      <p:sp>
        <p:nvSpPr>
          <p:cNvPr id="241" name="Google Shape;241;p24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selección</a:t>
            </a:r>
            <a:endParaRPr/>
          </a:p>
        </p:txBody>
      </p:sp>
      <p:sp>
        <p:nvSpPr>
          <p:cNvPr id="242" name="Google Shape;242;p24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43" name="Google Shape;243;p24"/>
          <p:cNvSpPr/>
          <p:nvPr/>
        </p:nvSpPr>
        <p:spPr>
          <a:xfrm>
            <a:off x="310896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4"/>
          <p:cNvSpPr txBox="1"/>
          <p:nvPr/>
        </p:nvSpPr>
        <p:spPr>
          <a:xfrm>
            <a:off x="457200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Elite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n(i) = ⌈(K−i)/N⌉ por rango</a:t>
            </a:r>
            <a:endParaRPr/>
          </a:p>
        </p:txBody>
      </p:sp>
      <p:sp>
        <p:nvSpPr>
          <p:cNvPr id="245" name="Google Shape;245;p24"/>
          <p:cNvSpPr/>
          <p:nvPr/>
        </p:nvSpPr>
        <p:spPr>
          <a:xfrm>
            <a:off x="3212592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4"/>
          <p:cNvSpPr txBox="1"/>
          <p:nvPr/>
        </p:nvSpPr>
        <p:spPr>
          <a:xfrm>
            <a:off x="3358896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Ruleta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Proporcional al fitness crudo</a:t>
            </a:r>
            <a:endParaRPr/>
          </a:p>
        </p:txBody>
      </p:sp>
      <p:sp>
        <p:nvSpPr>
          <p:cNvPr id="247" name="Google Shape;247;p24"/>
          <p:cNvSpPr/>
          <p:nvPr/>
        </p:nvSpPr>
        <p:spPr>
          <a:xfrm>
            <a:off x="6114288" y="120700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24"/>
          <p:cNvSpPr txBox="1"/>
          <p:nvPr/>
        </p:nvSpPr>
        <p:spPr>
          <a:xfrm>
            <a:off x="6260592" y="135331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Universal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SUS: K muestras estratificadas</a:t>
            </a:r>
            <a:endParaRPr/>
          </a:p>
        </p:txBody>
      </p:sp>
      <p:sp>
        <p:nvSpPr>
          <p:cNvPr id="249" name="Google Shape;249;p24"/>
          <p:cNvSpPr/>
          <p:nvPr/>
        </p:nvSpPr>
        <p:spPr>
          <a:xfrm>
            <a:off x="310896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4"/>
          <p:cNvSpPr txBox="1"/>
          <p:nvPr/>
        </p:nvSpPr>
        <p:spPr>
          <a:xfrm>
            <a:off x="457200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Ranking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Pseudo-fitness (N−rank)/N</a:t>
            </a:r>
            <a:endParaRPr/>
          </a:p>
        </p:txBody>
      </p:sp>
      <p:sp>
        <p:nvSpPr>
          <p:cNvPr id="251" name="Google Shape;251;p24"/>
          <p:cNvSpPr/>
          <p:nvPr/>
        </p:nvSpPr>
        <p:spPr>
          <a:xfrm>
            <a:off x="3212592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3358896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Boltzmann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T(t) = Tc + (T0−Tc)·e^(−kt)</a:t>
            </a:r>
            <a:endParaRPr/>
          </a:p>
        </p:txBody>
      </p:sp>
      <p:sp>
        <p:nvSpPr>
          <p:cNvPr id="253" name="Google Shape;253;p24"/>
          <p:cNvSpPr/>
          <p:nvPr/>
        </p:nvSpPr>
        <p:spPr>
          <a:xfrm>
            <a:off x="6114288" y="216712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6260592" y="231343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Torneo determinístico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mejor de M al azar</a:t>
            </a:r>
            <a:endParaRPr/>
          </a:p>
        </p:txBody>
      </p:sp>
      <p:sp>
        <p:nvSpPr>
          <p:cNvPr id="255" name="Google Shape;255;p24"/>
          <p:cNvSpPr/>
          <p:nvPr/>
        </p:nvSpPr>
        <p:spPr>
          <a:xfrm>
            <a:off x="310896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4"/>
          <p:cNvSpPr txBox="1"/>
          <p:nvPr/>
        </p:nvSpPr>
        <p:spPr>
          <a:xfrm>
            <a:off x="457200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Torneo probabilístico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M=2, gana el mejor con prob. Threshold</a:t>
            </a:r>
            <a:endParaRPr/>
          </a:p>
        </p:txBody>
      </p:sp>
      <p:sp>
        <p:nvSpPr>
          <p:cNvPr id="257" name="Google Shape;257;p24"/>
          <p:cNvSpPr/>
          <p:nvPr/>
        </p:nvSpPr>
        <p:spPr>
          <a:xfrm>
            <a:off x="3212592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4"/>
          <p:cNvSpPr txBox="1"/>
          <p:nvPr/>
        </p:nvSpPr>
        <p:spPr>
          <a:xfrm>
            <a:off x="3358896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Muestreo aleatorio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Ignora el fitness por completo</a:t>
            </a:r>
            <a:endParaRPr/>
          </a:p>
        </p:txBody>
      </p:sp>
      <p:sp>
        <p:nvSpPr>
          <p:cNvPr id="259" name="Google Shape;259;p24"/>
          <p:cNvSpPr/>
          <p:nvPr/>
        </p:nvSpPr>
        <p:spPr>
          <a:xfrm>
            <a:off x="6114288" y="3127248"/>
            <a:ext cx="2718900" cy="8229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24"/>
          <p:cNvSpPr txBox="1"/>
          <p:nvPr/>
        </p:nvSpPr>
        <p:spPr>
          <a:xfrm>
            <a:off x="6260592" y="3273552"/>
            <a:ext cx="2426100" cy="35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Blend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Combina dos métodos por un coeficiente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13</a:t>
            </a:r>
            <a:endParaRPr/>
          </a:p>
        </p:txBody>
      </p:sp>
      <p:sp>
        <p:nvSpPr>
          <p:cNvPr id="267" name="Google Shape;267;p2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cruza</a:t>
            </a:r>
            <a:endParaRPr/>
          </a:p>
        </p:txBody>
      </p:sp>
      <p:sp>
        <p:nvSpPr>
          <p:cNvPr id="268" name="Google Shape;268;p2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69" name="Google Shape;269;p25"/>
          <p:cNvSpPr/>
          <p:nvPr/>
        </p:nvSpPr>
        <p:spPr>
          <a:xfrm>
            <a:off x="310896" y="120700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5"/>
          <p:cNvSpPr txBox="1"/>
          <p:nvPr/>
        </p:nvSpPr>
        <p:spPr>
          <a:xfrm>
            <a:off x="457200" y="135331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punto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corte; se intercambia todo desde ahí en adelante</a:t>
            </a:r>
            <a:endParaRPr/>
          </a:p>
        </p:txBody>
      </p:sp>
      <p:sp>
        <p:nvSpPr>
          <p:cNvPr id="271" name="Google Shape;271;p25"/>
          <p:cNvSpPr/>
          <p:nvPr/>
        </p:nvSpPr>
        <p:spPr>
          <a:xfrm>
            <a:off x="4663440" y="120700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5"/>
          <p:cNvSpPr txBox="1"/>
          <p:nvPr/>
        </p:nvSpPr>
        <p:spPr>
          <a:xfrm>
            <a:off x="4809744" y="135331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Dos puntos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 intercambia el segmento entre los dos cortes</a:t>
            </a:r>
            <a:endParaRPr/>
          </a:p>
        </p:txBody>
      </p:sp>
      <p:sp>
        <p:nvSpPr>
          <p:cNvPr id="273" name="Google Shape;273;p25"/>
          <p:cNvSpPr/>
          <p:nvPr/>
        </p:nvSpPr>
        <p:spPr>
          <a:xfrm>
            <a:off x="310896" y="230428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5"/>
          <p:cNvSpPr txBox="1"/>
          <p:nvPr/>
        </p:nvSpPr>
        <p:spPr>
          <a:xfrm>
            <a:off x="457200" y="245059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Anular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Segmento circular: posición y longitud al azar</a:t>
            </a:r>
            <a:endParaRPr/>
          </a:p>
        </p:txBody>
      </p:sp>
      <p:sp>
        <p:nvSpPr>
          <p:cNvPr id="275" name="Google Shape;275;p25"/>
          <p:cNvSpPr/>
          <p:nvPr/>
        </p:nvSpPr>
        <p:spPr>
          <a:xfrm>
            <a:off x="4663440" y="2304288"/>
            <a:ext cx="4169700" cy="960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5"/>
          <p:cNvSpPr txBox="1"/>
          <p:nvPr/>
        </p:nvSpPr>
        <p:spPr>
          <a:xfrm>
            <a:off x="4809744" y="2450592"/>
            <a:ext cx="3877200" cy="3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locus se intercambia con probabilidad p</a:t>
            </a:r>
            <a:endParaRPr/>
          </a:p>
        </p:txBody>
      </p:sp>
      <p:sp>
        <p:nvSpPr>
          <p:cNvPr id="277" name="Google Shape;277;p25"/>
          <p:cNvSpPr/>
          <p:nvPr/>
        </p:nvSpPr>
        <p:spPr>
          <a:xfrm>
            <a:off x="310896" y="3474720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5"/>
          <p:cNvSpPr txBox="1"/>
          <p:nvPr/>
        </p:nvSpPr>
        <p:spPr>
          <a:xfrm>
            <a:off x="457200" y="3621024"/>
            <a:ext cx="82296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boundary: dónde puede caer el corte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gene corta en cualquier locus  ·  triangle corta solo en múltiplos de 11, manteniendo cada triángulo entero.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14</a:t>
            </a:r>
            <a:endParaRPr/>
          </a:p>
        </p:txBody>
      </p:sp>
      <p:sp>
        <p:nvSpPr>
          <p:cNvPr id="285" name="Google Shape;285;p2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mutación</a:t>
            </a:r>
            <a:endParaRPr/>
          </a:p>
        </p:txBody>
      </p:sp>
      <p:sp>
        <p:nvSpPr>
          <p:cNvPr id="286" name="Google Shape;286;p2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287" name="Google Shape;287;p26"/>
          <p:cNvSpPr/>
          <p:nvPr/>
        </p:nvSpPr>
        <p:spPr>
          <a:xfrm>
            <a:off x="310896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26"/>
          <p:cNvSpPr txBox="1"/>
          <p:nvPr/>
        </p:nvSpPr>
        <p:spPr>
          <a:xfrm>
            <a:off x="457200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Gen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solo gen, con probabilidad Pm</a:t>
            </a:r>
            <a:endParaRPr/>
          </a:p>
        </p:txBody>
      </p:sp>
      <p:sp>
        <p:nvSpPr>
          <p:cNvPr id="289" name="Google Shape;289;p26"/>
          <p:cNvSpPr/>
          <p:nvPr/>
        </p:nvSpPr>
        <p:spPr>
          <a:xfrm>
            <a:off x="2487168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6"/>
          <p:cNvSpPr txBox="1"/>
          <p:nvPr/>
        </p:nvSpPr>
        <p:spPr>
          <a:xfrm>
            <a:off x="2633472" y="1353312"/>
            <a:ext cx="1700700" cy="3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Multigen limitada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Una cantidad al azar en [1, M]</a:t>
            </a:r>
            <a:endParaRPr/>
          </a:p>
        </p:txBody>
      </p:sp>
      <p:sp>
        <p:nvSpPr>
          <p:cNvPr id="291" name="Google Shape;291;p26"/>
          <p:cNvSpPr/>
          <p:nvPr/>
        </p:nvSpPr>
        <p:spPr>
          <a:xfrm>
            <a:off x="4663440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6"/>
          <p:cNvSpPr txBox="1"/>
          <p:nvPr/>
        </p:nvSpPr>
        <p:spPr>
          <a:xfrm>
            <a:off x="4809744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Multigen 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Cada gen, independiente, con Pm</a:t>
            </a:r>
            <a:endParaRPr/>
          </a:p>
        </p:txBody>
      </p:sp>
      <p:sp>
        <p:nvSpPr>
          <p:cNvPr id="293" name="Google Shape;293;p26"/>
          <p:cNvSpPr/>
          <p:nvPr/>
        </p:nvSpPr>
        <p:spPr>
          <a:xfrm>
            <a:off x="6839712" y="1207008"/>
            <a:ext cx="1993500" cy="10974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26"/>
          <p:cNvSpPr txBox="1"/>
          <p:nvPr/>
        </p:nvSpPr>
        <p:spPr>
          <a:xfrm>
            <a:off x="6986016" y="1353312"/>
            <a:ext cx="17007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Completa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 probabilidad Pm mutan todos</a:t>
            </a:r>
            <a:endParaRPr/>
          </a:p>
        </p:txBody>
      </p:sp>
      <p:sp>
        <p:nvSpPr>
          <p:cNvPr id="295" name="Google Shape;295;p26"/>
          <p:cNvSpPr/>
          <p:nvPr/>
        </p:nvSpPr>
        <p:spPr>
          <a:xfrm>
            <a:off x="310896" y="2450592"/>
            <a:ext cx="41697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6"/>
          <p:cNvSpPr txBox="1"/>
          <p:nvPr/>
        </p:nvSpPr>
        <p:spPr>
          <a:xfrm>
            <a:off x="457200" y="2596896"/>
            <a:ext cx="3877200" cy="3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Calendario uniforme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paso de mutación no cambia con la generación.</a:t>
            </a:r>
            <a:endParaRPr/>
          </a:p>
        </p:txBody>
      </p:sp>
      <p:sp>
        <p:nvSpPr>
          <p:cNvPr id="297" name="Google Shape;297;p26"/>
          <p:cNvSpPr/>
          <p:nvPr/>
        </p:nvSpPr>
        <p:spPr>
          <a:xfrm>
            <a:off x="4663440" y="2450592"/>
            <a:ext cx="41697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6"/>
          <p:cNvSpPr txBox="1"/>
          <p:nvPr/>
        </p:nvSpPr>
        <p:spPr>
          <a:xfrm>
            <a:off x="4809744" y="2596896"/>
            <a:ext cx="38772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Calendario no uniforme (Michalewicz)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paso decae: exploración amplia al principio, ajuste fino al final.</a:t>
            </a:r>
            <a:endParaRPr/>
          </a:p>
        </p:txBody>
      </p:sp>
      <p:sp>
        <p:nvSpPr>
          <p:cNvPr id="299" name="Google Shape;299;p26"/>
          <p:cNvSpPr/>
          <p:nvPr/>
        </p:nvSpPr>
        <p:spPr>
          <a:xfrm>
            <a:off x="310896" y="3364992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26"/>
          <p:cNvSpPr txBox="1"/>
          <p:nvPr/>
        </p:nvSpPr>
        <p:spPr>
          <a:xfrm>
            <a:off x="457200" y="3511296"/>
            <a:ext cx="8229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4 alcances × 2 calendarios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lista Gen / MultiGen / Uniforme / No Uniforme en una sola lista. Desdoblarlo en alcance y calendario cubre las dos lecturas posibles.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2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15</a:t>
            </a:r>
            <a:endParaRPr/>
          </a:p>
        </p:txBody>
      </p:sp>
      <p:sp>
        <p:nvSpPr>
          <p:cNvPr id="307" name="Google Shape;307;p2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Supervivencia y criterios de corte</a:t>
            </a:r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</a:t>
            </a:r>
            <a:endParaRPr/>
          </a:p>
        </p:txBody>
      </p:sp>
      <p:sp>
        <p:nvSpPr>
          <p:cNvPr id="309" name="Google Shape;309;p27"/>
          <p:cNvSpPr/>
          <p:nvPr/>
        </p:nvSpPr>
        <p:spPr>
          <a:xfrm>
            <a:off x="310896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27"/>
          <p:cNvSpPr txBox="1"/>
          <p:nvPr/>
        </p:nvSpPr>
        <p:spPr>
          <a:xfrm>
            <a:off x="457200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Aditiva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 eligen N de la unión de los N padres y los K hijos</a:t>
            </a:r>
            <a:endParaRPr/>
          </a:p>
        </p:txBody>
      </p:sp>
      <p:sp>
        <p:nvSpPr>
          <p:cNvPr id="311" name="Google Shape;311;p27"/>
          <p:cNvSpPr/>
          <p:nvPr/>
        </p:nvSpPr>
        <p:spPr>
          <a:xfrm>
            <a:off x="3212592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27"/>
          <p:cNvSpPr txBox="1"/>
          <p:nvPr/>
        </p:nvSpPr>
        <p:spPr>
          <a:xfrm>
            <a:off x="3358896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Exclusiva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Si K &gt; N, N de los hijos. Si K ≤ N, todos los hijos más N−K padres</a:t>
            </a:r>
            <a:endParaRPr/>
          </a:p>
        </p:txBody>
      </p:sp>
      <p:sp>
        <p:nvSpPr>
          <p:cNvPr id="313" name="Google Shape;313;p27"/>
          <p:cNvSpPr/>
          <p:nvPr/>
        </p:nvSpPr>
        <p:spPr>
          <a:xfrm>
            <a:off x="6114288" y="1207008"/>
            <a:ext cx="27189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7"/>
          <p:cNvSpPr txBox="1"/>
          <p:nvPr/>
        </p:nvSpPr>
        <p:spPr>
          <a:xfrm>
            <a:off x="6260592" y="1353312"/>
            <a:ext cx="24261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Brecha generacional G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(1−G)·N de la anterior más G·N de los hijos</a:t>
            </a:r>
            <a:endParaRPr/>
          </a:p>
        </p:txBody>
      </p:sp>
      <p:sp>
        <p:nvSpPr>
          <p:cNvPr id="315" name="Google Shape;315;p27"/>
          <p:cNvSpPr/>
          <p:nvPr/>
        </p:nvSpPr>
        <p:spPr>
          <a:xfrm>
            <a:off x="310896" y="2606040"/>
            <a:ext cx="8522100" cy="12801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27"/>
          <p:cNvSpPr txBox="1"/>
          <p:nvPr/>
        </p:nvSpPr>
        <p:spPr>
          <a:xfrm>
            <a:off x="493776" y="2743200"/>
            <a:ext cx="8156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Cinco criterios de corte, con orden de prioridad fijo</a:t>
            </a:r>
            <a:endParaRPr/>
          </a:p>
        </p:txBody>
      </p:sp>
      <p:sp>
        <p:nvSpPr>
          <p:cNvPr id="317" name="Google Shape;317;p27"/>
          <p:cNvSpPr txBox="1"/>
          <p:nvPr/>
        </p:nvSpPr>
        <p:spPr>
          <a:xfrm>
            <a:off x="493776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1. Generaciones</a:t>
            </a:r>
            <a:endParaRPr/>
          </a:p>
        </p:txBody>
      </p:sp>
      <p:sp>
        <p:nvSpPr>
          <p:cNvPr id="318" name="Google Shape;318;p27"/>
          <p:cNvSpPr txBox="1"/>
          <p:nvPr/>
        </p:nvSpPr>
        <p:spPr>
          <a:xfrm>
            <a:off x="493776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tope de horizonte</a:t>
            </a:r>
            <a:endParaRPr/>
          </a:p>
        </p:txBody>
      </p:sp>
      <p:sp>
        <p:nvSpPr>
          <p:cNvPr id="319" name="Google Shape;319;p27"/>
          <p:cNvSpPr txBox="1"/>
          <p:nvPr/>
        </p:nvSpPr>
        <p:spPr>
          <a:xfrm>
            <a:off x="2130552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2. Reloj</a:t>
            </a:r>
            <a:endParaRPr/>
          </a:p>
        </p:txBody>
      </p:sp>
      <p:sp>
        <p:nvSpPr>
          <p:cNvPr id="320" name="Google Shape;320;p27"/>
          <p:cNvSpPr txBox="1"/>
          <p:nvPr/>
        </p:nvSpPr>
        <p:spPr>
          <a:xfrm>
            <a:off x="2130552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segundos transcurridos</a:t>
            </a:r>
            <a:endParaRPr/>
          </a:p>
        </p:txBody>
      </p:sp>
      <p:sp>
        <p:nvSpPr>
          <p:cNvPr id="321" name="Google Shape;321;p27"/>
          <p:cNvSpPr txBox="1"/>
          <p:nvPr/>
        </p:nvSpPr>
        <p:spPr>
          <a:xfrm>
            <a:off x="3767328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3. Fitness mínimo</a:t>
            </a:r>
            <a:endParaRPr/>
          </a:p>
        </p:txBody>
      </p:sp>
      <p:sp>
        <p:nvSpPr>
          <p:cNvPr id="322" name="Google Shape;322;p27"/>
          <p:cNvSpPr txBox="1"/>
          <p:nvPr/>
        </p:nvSpPr>
        <p:spPr>
          <a:xfrm>
            <a:off x="3767328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solución aceptable</a:t>
            </a:r>
            <a:endParaRPr/>
          </a:p>
        </p:txBody>
      </p:sp>
      <p:sp>
        <p:nvSpPr>
          <p:cNvPr id="323" name="Google Shape;323;p27"/>
          <p:cNvSpPr txBox="1"/>
          <p:nvPr/>
        </p:nvSpPr>
        <p:spPr>
          <a:xfrm>
            <a:off x="5404104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4. Contenido</a:t>
            </a:r>
            <a:endParaRPr/>
          </a:p>
        </p:txBody>
      </p:sp>
      <p:sp>
        <p:nvSpPr>
          <p:cNvPr id="324" name="Google Shape;324;p27"/>
          <p:cNvSpPr txBox="1"/>
          <p:nvPr/>
        </p:nvSpPr>
        <p:spPr>
          <a:xfrm>
            <a:off x="5404104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el fitness dejó de moverse</a:t>
            </a:r>
            <a:endParaRPr/>
          </a:p>
        </p:txBody>
      </p:sp>
      <p:sp>
        <p:nvSpPr>
          <p:cNvPr id="325" name="Google Shape;325;p27"/>
          <p:cNvSpPr txBox="1"/>
          <p:nvPr/>
        </p:nvSpPr>
        <p:spPr>
          <a:xfrm>
            <a:off x="7040880" y="3063240"/>
            <a:ext cx="1572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5. Estructura</a:t>
            </a:r>
            <a:endParaRPr/>
          </a:p>
        </p:txBody>
      </p:sp>
      <p:sp>
        <p:nvSpPr>
          <p:cNvPr id="326" name="Google Shape;326;p27"/>
          <p:cNvSpPr txBox="1"/>
          <p:nvPr/>
        </p:nvSpPr>
        <p:spPr>
          <a:xfrm>
            <a:off x="7040880" y="3291840"/>
            <a:ext cx="1572900" cy="1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la población dejó de cambiar</a:t>
            </a:r>
            <a:endParaRPr/>
          </a:p>
        </p:txBody>
      </p:sp>
      <p:sp>
        <p:nvSpPr>
          <p:cNvPr id="327" name="Google Shape;327;p27"/>
          <p:cNvSpPr txBox="1"/>
          <p:nvPr/>
        </p:nvSpPr>
        <p:spPr>
          <a:xfrm>
            <a:off x="493776" y="3675887"/>
            <a:ext cx="8156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validación rechaza un config sin ningún criterio activo: una corrida que nunca termina no arranca.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28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16</a:t>
            </a:r>
            <a:endParaRPr/>
          </a:p>
        </p:txBody>
      </p:sp>
      <p:sp>
        <p:nvSpPr>
          <p:cNvPr id="334" name="Google Shape;334;p28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Diseño experimental</a:t>
            </a:r>
            <a:endParaRPr/>
          </a:p>
        </p:txBody>
      </p:sp>
      <p:sp>
        <p:nvSpPr>
          <p:cNvPr id="335" name="Google Shape;335;p28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sp>
        <p:nvSpPr>
          <p:cNvPr id="336" name="Google Shape;336;p28"/>
          <p:cNvSpPr/>
          <p:nvPr/>
        </p:nvSpPr>
        <p:spPr>
          <a:xfrm>
            <a:off x="310896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28"/>
          <p:cNvSpPr txBox="1"/>
          <p:nvPr/>
        </p:nvSpPr>
        <p:spPr>
          <a:xfrm>
            <a:off x="310896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22</a:t>
            </a:r>
            <a:endParaRPr/>
          </a:p>
        </p:txBody>
      </p:sp>
      <p:sp>
        <p:nvSpPr>
          <p:cNvPr id="338" name="Google Shape;338;p28"/>
          <p:cNvSpPr txBox="1"/>
          <p:nvPr/>
        </p:nvSpPr>
        <p:spPr>
          <a:xfrm>
            <a:off x="310896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celdas</a:t>
            </a:r>
            <a:endParaRPr/>
          </a:p>
        </p:txBody>
      </p:sp>
      <p:sp>
        <p:nvSpPr>
          <p:cNvPr id="339" name="Google Shape;339;p28"/>
          <p:cNvSpPr/>
          <p:nvPr/>
        </p:nvSpPr>
        <p:spPr>
          <a:xfrm>
            <a:off x="2487168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28"/>
          <p:cNvSpPr txBox="1"/>
          <p:nvPr/>
        </p:nvSpPr>
        <p:spPr>
          <a:xfrm>
            <a:off x="2487168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5</a:t>
            </a:r>
            <a:endParaRPr/>
          </a:p>
        </p:txBody>
      </p:sp>
      <p:sp>
        <p:nvSpPr>
          <p:cNvPr id="341" name="Google Shape;341;p28"/>
          <p:cNvSpPr txBox="1"/>
          <p:nvPr/>
        </p:nvSpPr>
        <p:spPr>
          <a:xfrm>
            <a:off x="2487168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semillas por celda</a:t>
            </a:r>
            <a:endParaRPr/>
          </a:p>
        </p:txBody>
      </p:sp>
      <p:sp>
        <p:nvSpPr>
          <p:cNvPr id="342" name="Google Shape;342;p28"/>
          <p:cNvSpPr/>
          <p:nvPr/>
        </p:nvSpPr>
        <p:spPr>
          <a:xfrm>
            <a:off x="4663440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8"/>
          <p:cNvSpPr txBox="1"/>
          <p:nvPr/>
        </p:nvSpPr>
        <p:spPr>
          <a:xfrm>
            <a:off x="4663440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110</a:t>
            </a:r>
            <a:endParaRPr/>
          </a:p>
        </p:txBody>
      </p:sp>
      <p:sp>
        <p:nvSpPr>
          <p:cNvPr id="344" name="Google Shape;344;p28"/>
          <p:cNvSpPr txBox="1"/>
          <p:nvPr/>
        </p:nvSpPr>
        <p:spPr>
          <a:xfrm>
            <a:off x="4663440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corridas</a:t>
            </a:r>
            <a:endParaRPr/>
          </a:p>
        </p:txBody>
      </p:sp>
      <p:sp>
        <p:nvSpPr>
          <p:cNvPr id="345" name="Google Shape;345;p28"/>
          <p:cNvSpPr/>
          <p:nvPr/>
        </p:nvSpPr>
        <p:spPr>
          <a:xfrm>
            <a:off x="6839712" y="1207008"/>
            <a:ext cx="1993500" cy="960000"/>
          </a:xfrm>
          <a:prstGeom prst="roundRect">
            <a:avLst>
              <a:gd fmla="val 9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28"/>
          <p:cNvSpPr txBox="1"/>
          <p:nvPr/>
        </p:nvSpPr>
        <p:spPr>
          <a:xfrm>
            <a:off x="6839712" y="1389888"/>
            <a:ext cx="199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3000</a:t>
            </a:r>
            <a:endParaRPr/>
          </a:p>
        </p:txBody>
      </p:sp>
      <p:sp>
        <p:nvSpPr>
          <p:cNvPr id="347" name="Google Shape;347;p28"/>
          <p:cNvSpPr txBox="1"/>
          <p:nvPr/>
        </p:nvSpPr>
        <p:spPr>
          <a:xfrm>
            <a:off x="6839712" y="1847088"/>
            <a:ext cx="1993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generaciones c/u</a:t>
            </a:r>
            <a:endParaRPr/>
          </a:p>
        </p:txBody>
      </p:sp>
      <p:sp>
        <p:nvSpPr>
          <p:cNvPr id="348" name="Google Shape;348;p28"/>
          <p:cNvSpPr/>
          <p:nvPr/>
        </p:nvSpPr>
        <p:spPr>
          <a:xfrm>
            <a:off x="310896" y="2331720"/>
            <a:ext cx="41697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28"/>
          <p:cNvSpPr txBox="1"/>
          <p:nvPr/>
        </p:nvSpPr>
        <p:spPr>
          <a:xfrm>
            <a:off x="457200" y="2478024"/>
            <a:ext cx="38772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Cuatro brazos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Selección (7 métodos, en padres y reemplazo) · selección solo en padres, reemplazo elite (7 métodos) · supervivencia K/N (6 combinaciones) · control de cruza (2 celdas)</a:t>
            </a:r>
            <a:endParaRPr/>
          </a:p>
        </p:txBody>
      </p:sp>
      <p:sp>
        <p:nvSpPr>
          <p:cNvPr id="350" name="Google Shape;350;p28"/>
          <p:cNvSpPr/>
          <p:nvPr/>
        </p:nvSpPr>
        <p:spPr>
          <a:xfrm>
            <a:off x="4663440" y="2331720"/>
            <a:ext cx="4169700" cy="8688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28"/>
          <p:cNvSpPr txBox="1"/>
          <p:nvPr/>
        </p:nvSpPr>
        <p:spPr>
          <a:xfrm>
            <a:off x="4809744" y="2478024"/>
            <a:ext cx="38772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Configuración base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flag_ar.png · canvas 128×128 · 30 triángulos · N = 30, K = 40 · Pc = 0,8</a:t>
            </a:r>
            <a:endParaRPr/>
          </a:p>
        </p:txBody>
      </p:sp>
      <p:sp>
        <p:nvSpPr>
          <p:cNvPr id="352" name="Google Shape;352;p28"/>
          <p:cNvSpPr/>
          <p:nvPr/>
        </p:nvSpPr>
        <p:spPr>
          <a:xfrm>
            <a:off x="310896" y="3337560"/>
            <a:ext cx="8522100" cy="7773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28"/>
          <p:cNvSpPr txBox="1"/>
          <p:nvPr/>
        </p:nvSpPr>
        <p:spPr>
          <a:xfrm>
            <a:off x="457200" y="3483864"/>
            <a:ext cx="8229600" cy="3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 factor por vez, no el cruce completo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cruce de todos contra todos habría requerido unas 720 corridas. Barrer de a un factor aísla el efecto de cada operador a una fracción del costo.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17</a:t>
            </a:r>
            <a:endParaRPr/>
          </a:p>
        </p:txBody>
      </p:sp>
      <p:sp>
        <p:nvSpPr>
          <p:cNvPr id="360" name="Google Shape;360;p2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Métodos de selección</a:t>
            </a:r>
            <a:endParaRPr/>
          </a:p>
        </p:txBody>
      </p:sp>
      <p:sp>
        <p:nvSpPr>
          <p:cNvPr id="361" name="Google Shape;361;p2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eleccion.png" id="362" name="Google Shape;36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5532121" cy="29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9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 txBox="1"/>
          <p:nvPr/>
        </p:nvSpPr>
        <p:spPr>
          <a:xfrm>
            <a:off x="6199632" y="1353312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Dos grupos, no un gradiente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Elite, ranking y los dos torneos llegan a 0,98. Ruleta, universal y Boltzmann se quedan planos.</a:t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9"/>
          <p:cNvSpPr txBox="1"/>
          <p:nvPr/>
        </p:nvSpPr>
        <p:spPr>
          <a:xfrm>
            <a:off x="6199632" y="2889504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fondo del gráfico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0,695 es lo que puntúa un canvas en blanco, sin un solo triángulo. Los tres de abajo terminan apenas por encima de eso.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3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20</a:t>
            </a:r>
            <a:endParaRPr/>
          </a:p>
        </p:txBody>
      </p:sp>
      <p:sp>
        <p:nvSpPr>
          <p:cNvPr id="373" name="Google Shape;373;p3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Velocidad de convergencia</a:t>
            </a:r>
            <a:endParaRPr/>
          </a:p>
        </p:txBody>
      </p:sp>
      <p:sp>
        <p:nvSpPr>
          <p:cNvPr id="374" name="Google Shape;374;p3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convergencia.png" id="375" name="Google Shape;37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532122" cy="2900991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0"/>
          <p:cNvSpPr/>
          <p:nvPr/>
        </p:nvSpPr>
        <p:spPr>
          <a:xfrm>
            <a:off x="6053328" y="1298448"/>
            <a:ext cx="27798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30"/>
          <p:cNvSpPr txBox="1"/>
          <p:nvPr/>
        </p:nvSpPr>
        <p:spPr>
          <a:xfrm>
            <a:off x="6199632" y="1444751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Elite es el más rápido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519 generaciones hasta 0,95, contra 1472 del torneo probabilístico.</a:t>
            </a:r>
            <a:endParaRPr/>
          </a:p>
        </p:txBody>
      </p:sp>
      <p:sp>
        <p:nvSpPr>
          <p:cNvPr id="378" name="Google Shape;378;p30"/>
          <p:cNvSpPr/>
          <p:nvPr/>
        </p:nvSpPr>
        <p:spPr>
          <a:xfrm>
            <a:off x="6053328" y="2761488"/>
            <a:ext cx="27798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30"/>
          <p:cNvSpPr txBox="1"/>
          <p:nvPr/>
        </p:nvSpPr>
        <p:spPr>
          <a:xfrm>
            <a:off x="6199632" y="2907792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Pero ranking termina mejor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0,98285 contra 0,98153 de elite. Converger rápido no es converger mejor.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31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1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21</a:t>
            </a:r>
            <a:endParaRPr/>
          </a:p>
        </p:txBody>
      </p:sp>
      <p:sp>
        <p:nvSpPr>
          <p:cNvPr id="386" name="Google Shape;386;p31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Por qué la ruleta no arranca</a:t>
            </a:r>
            <a:endParaRPr/>
          </a:p>
        </p:txBody>
      </p:sp>
      <p:sp>
        <p:nvSpPr>
          <p:cNvPr id="387" name="Google Shape;387;p31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presion.png" id="388" name="Google Shape;38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4617718" cy="2870476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31"/>
          <p:cNvSpPr/>
          <p:nvPr/>
        </p:nvSpPr>
        <p:spPr>
          <a:xfrm>
            <a:off x="5138928" y="1207008"/>
            <a:ext cx="36942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31"/>
          <p:cNvSpPr txBox="1"/>
          <p:nvPr/>
        </p:nvSpPr>
        <p:spPr>
          <a:xfrm>
            <a:off x="5285232" y="1353312"/>
            <a:ext cx="3401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fitness vive comprimido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 la población inicial va de 0,5627 a 0,7041. Con ese rango, la probabilidad proporcional casi no distingue entre individuos.</a:t>
            </a:r>
            <a:endParaRPr/>
          </a:p>
        </p:txBody>
      </p:sp>
      <p:sp>
        <p:nvSpPr>
          <p:cNvPr id="391" name="Google Shape;391;p31"/>
          <p:cNvSpPr/>
          <p:nvPr/>
        </p:nvSpPr>
        <p:spPr>
          <a:xfrm>
            <a:off x="5138928" y="2743200"/>
            <a:ext cx="36942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1"/>
          <p:cNvSpPr txBox="1"/>
          <p:nvPr/>
        </p:nvSpPr>
        <p:spPr>
          <a:xfrm>
            <a:off x="5285232" y="2889504"/>
            <a:ext cx="3401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ruleta es azar con pasos extra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Le da al mejor individuo un 9 % más de chances que tirar una moneda. No es convergencia prematura: es falta de presión.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2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32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22</a:t>
            </a:r>
            <a:endParaRPr/>
          </a:p>
        </p:txBody>
      </p:sp>
      <p:sp>
        <p:nvSpPr>
          <p:cNvPr id="399" name="Google Shape;399;p32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Diversidad genética</a:t>
            </a:r>
            <a:endParaRPr/>
          </a:p>
        </p:txBody>
      </p:sp>
      <p:sp>
        <p:nvSpPr>
          <p:cNvPr id="400" name="Google Shape;400;p32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diversidad.png" id="401" name="Google Shape;40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07008"/>
            <a:ext cx="5532121" cy="29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32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32"/>
          <p:cNvSpPr txBox="1"/>
          <p:nvPr/>
        </p:nvSpPr>
        <p:spPr>
          <a:xfrm>
            <a:off x="6199632" y="1353312"/>
            <a:ext cx="24873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Escala logarítmica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En escala lineal las siete curvas se aplastan contra el cero y no se distingue nada.</a:t>
            </a:r>
            <a:endParaRPr/>
          </a:p>
        </p:txBody>
      </p:sp>
      <p:sp>
        <p:nvSpPr>
          <p:cNvPr id="404" name="Google Shape;404;p32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32"/>
          <p:cNvSpPr txBox="1"/>
          <p:nvPr/>
        </p:nvSpPr>
        <p:spPr>
          <a:xfrm>
            <a:off x="6199632" y="2889504"/>
            <a:ext cx="2487300" cy="85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27× de diferencia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Elite queda en 0,0008 y universal en 0,0229. La alta presión colapsa la diversidad; la baja presión la conserva y no la usa.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3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33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23</a:t>
            </a:r>
            <a:endParaRPr/>
          </a:p>
        </p:txBody>
      </p:sp>
      <p:sp>
        <p:nvSpPr>
          <p:cNvPr id="412" name="Google Shape;412;p33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Supervivencia: aditiva vs exclusiva</a:t>
            </a:r>
            <a:endParaRPr/>
          </a:p>
        </p:txBody>
      </p:sp>
      <p:sp>
        <p:nvSpPr>
          <p:cNvPr id="413" name="Google Shape;413;p33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upervivencia.png" id="414" name="Google Shape;41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17320" y="1188720"/>
            <a:ext cx="6309362" cy="2545882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33"/>
          <p:cNvSpPr txBox="1"/>
          <p:nvPr/>
        </p:nvSpPr>
        <p:spPr>
          <a:xfrm>
            <a:off x="310896" y="3785615"/>
            <a:ext cx="852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2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caso patológico es K = N, no K &gt; N</a:t>
            </a:r>
            <a:endParaRPr/>
          </a:p>
        </p:txBody>
      </p:sp>
      <p:sp>
        <p:nvSpPr>
          <p:cNvPr id="416" name="Google Shape;416;p33"/>
          <p:cNvSpPr txBox="1"/>
          <p:nvPr/>
        </p:nvSpPr>
        <p:spPr>
          <a:xfrm>
            <a:off x="310896" y="4041648"/>
            <a:ext cx="8522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 K = N el código devuelve todos los hijos sin ninguna selección: 1329 caídas del mejor fitness sobre 3000 generaciones. Con K = 2N se eligen los mejores N de K y quedan 35.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34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34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24</a:t>
            </a:r>
            <a:endParaRPr/>
          </a:p>
        </p:txBody>
      </p:sp>
      <p:sp>
        <p:nvSpPr>
          <p:cNvPr id="423" name="Google Shape;423;p34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¿La cruza aporta algo?</a:t>
            </a:r>
            <a:endParaRPr/>
          </a:p>
        </p:txBody>
      </p:sp>
      <p:sp>
        <p:nvSpPr>
          <p:cNvPr id="424" name="Google Shape;424;p34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cruza.png" id="425" name="Google Shape;425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166360" cy="2763402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34"/>
          <p:cNvSpPr/>
          <p:nvPr/>
        </p:nvSpPr>
        <p:spPr>
          <a:xfrm>
            <a:off x="5687568" y="129844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34"/>
          <p:cNvSpPr txBox="1"/>
          <p:nvPr/>
        </p:nvSpPr>
        <p:spPr>
          <a:xfrm>
            <a:off x="5833872" y="1444751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control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misma configuración con y sin cruza, al mismo presupuesto de renders y sobre las mismas 5 semillas.</a:t>
            </a:r>
            <a:endParaRPr/>
          </a:p>
        </p:txBody>
      </p:sp>
      <p:sp>
        <p:nvSpPr>
          <p:cNvPr id="428" name="Google Shape;428;p34"/>
          <p:cNvSpPr/>
          <p:nvPr/>
        </p:nvSpPr>
        <p:spPr>
          <a:xfrm>
            <a:off x="5687568" y="276148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34"/>
          <p:cNvSpPr txBox="1"/>
          <p:nvPr/>
        </p:nvSpPr>
        <p:spPr>
          <a:xfrm>
            <a:off x="5833872" y="2907792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No es destructiva ni salvadora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0,98204 contra 0,98249. La diferencia es menor que el ruido entre semillas, que va de 0,970 a 0,993.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5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35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25</a:t>
            </a:r>
            <a:endParaRPr/>
          </a:p>
        </p:txBody>
      </p:sp>
      <p:sp>
        <p:nvSpPr>
          <p:cNvPr id="436" name="Google Shape;436;p35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Comparación contra un hill climber (1+1)</a:t>
            </a:r>
            <a:endParaRPr/>
          </a:p>
        </p:txBody>
      </p:sp>
      <p:sp>
        <p:nvSpPr>
          <p:cNvPr id="437" name="Google Shape;437;p35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hillclimber.png" id="438" name="Google Shape;43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298448"/>
            <a:ext cx="5166360" cy="2763402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35"/>
          <p:cNvSpPr/>
          <p:nvPr/>
        </p:nvSpPr>
        <p:spPr>
          <a:xfrm>
            <a:off x="5687568" y="129844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35"/>
          <p:cNvSpPr txBox="1"/>
          <p:nvPr/>
        </p:nvSpPr>
        <p:spPr>
          <a:xfrm>
            <a:off x="5833872" y="1444751"/>
            <a:ext cx="28530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Qué 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Población de uno, sin cruza y sin selección: muta y acepta solo si mejora. No es un AG, y no lo llamamos así.</a:t>
            </a:r>
            <a:endParaRPr/>
          </a:p>
        </p:txBody>
      </p:sp>
      <p:sp>
        <p:nvSpPr>
          <p:cNvPr id="441" name="Google Shape;441;p35"/>
          <p:cNvSpPr/>
          <p:nvPr/>
        </p:nvSpPr>
        <p:spPr>
          <a:xfrm>
            <a:off x="5687568" y="2761488"/>
            <a:ext cx="3145500" cy="13260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35"/>
          <p:cNvSpPr txBox="1"/>
          <p:nvPr/>
        </p:nvSpPr>
        <p:spPr>
          <a:xfrm>
            <a:off x="5833872" y="2907792"/>
            <a:ext cx="2853000" cy="53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Y nos gana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0,98803 contra 0,98285, y va adelante casi todo el presupuesto. Lo reportamos como salió.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6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36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26</a:t>
            </a:r>
            <a:endParaRPr/>
          </a:p>
        </p:txBody>
      </p:sp>
      <p:sp>
        <p:nvSpPr>
          <p:cNvPr id="449" name="Google Shape;449;p36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Evolución visual: la presión se ve</a:t>
            </a:r>
            <a:endParaRPr/>
          </a:p>
        </p:txBody>
      </p:sp>
      <p:sp>
        <p:nvSpPr>
          <p:cNvPr id="450" name="Google Shape;450;p36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lag_ar_elite.gif" id="451" name="Google Shape;45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03120" y="1298448"/>
            <a:ext cx="2148840" cy="214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36"/>
          <p:cNvSpPr/>
          <p:nvPr/>
        </p:nvSpPr>
        <p:spPr>
          <a:xfrm>
            <a:off x="2103120" y="1298448"/>
            <a:ext cx="2148900" cy="21489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lag_ar_roulette.gif" id="453" name="Google Shape;453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937760" y="1298448"/>
            <a:ext cx="2148840" cy="2148840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36"/>
          <p:cNvSpPr/>
          <p:nvPr/>
        </p:nvSpPr>
        <p:spPr>
          <a:xfrm>
            <a:off x="4937760" y="1298448"/>
            <a:ext cx="2148900" cy="21489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36"/>
          <p:cNvSpPr txBox="1"/>
          <p:nvPr/>
        </p:nvSpPr>
        <p:spPr>
          <a:xfrm>
            <a:off x="2103120" y="3529584"/>
            <a:ext cx="2148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10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Elite — fitness 0,98</a:t>
            </a:r>
            <a:endParaRPr/>
          </a:p>
        </p:txBody>
      </p:sp>
      <p:sp>
        <p:nvSpPr>
          <p:cNvPr id="456" name="Google Shape;456;p36"/>
          <p:cNvSpPr txBox="1"/>
          <p:nvPr/>
        </p:nvSpPr>
        <p:spPr>
          <a:xfrm>
            <a:off x="4937760" y="3529584"/>
            <a:ext cx="2148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10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Ruleta — fitness 0,72</a:t>
            </a:r>
            <a:endParaRPr/>
          </a:p>
        </p:txBody>
      </p:sp>
      <p:sp>
        <p:nvSpPr>
          <p:cNvPr id="457" name="Google Shape;457;p36"/>
          <p:cNvSpPr txBox="1"/>
          <p:nvPr/>
        </p:nvSpPr>
        <p:spPr>
          <a:xfrm>
            <a:off x="310896" y="3977639"/>
            <a:ext cx="852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 misma imagen objetivo, el mismo presupuesto y la misma cantidad de generaciones. Lo único que cambia es el método de selección.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7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37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27</a:t>
            </a:r>
            <a:endParaRPr/>
          </a:p>
        </p:txBody>
      </p:sp>
      <p:sp>
        <p:nvSpPr>
          <p:cNvPr id="464" name="Google Shape;464;p37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Evolución visual: objetivos más difíciles</a:t>
            </a:r>
            <a:endParaRPr/>
          </a:p>
        </p:txBody>
      </p:sp>
      <p:sp>
        <p:nvSpPr>
          <p:cNvPr id="465" name="Google Shape;465;p37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pictogram_elite.gif" id="466" name="Google Shape;466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1604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37"/>
          <p:cNvSpPr/>
          <p:nvPr/>
        </p:nvSpPr>
        <p:spPr>
          <a:xfrm>
            <a:off x="641604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37"/>
          <p:cNvSpPr txBox="1"/>
          <p:nvPr/>
        </p:nvSpPr>
        <p:spPr>
          <a:xfrm>
            <a:off x="310896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Pictograma — 20 triángulos</a:t>
            </a:r>
            <a:endParaRPr/>
          </a:p>
        </p:txBody>
      </p:sp>
      <p:pic>
        <p:nvPicPr>
          <p:cNvPr descr="mona_lisa_elite.gif" id="469" name="Google Shape;469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43300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0" name="Google Shape;470;p37"/>
          <p:cNvSpPr/>
          <p:nvPr/>
        </p:nvSpPr>
        <p:spPr>
          <a:xfrm>
            <a:off x="3543300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37"/>
          <p:cNvSpPr txBox="1"/>
          <p:nvPr/>
        </p:nvSpPr>
        <p:spPr>
          <a:xfrm>
            <a:off x="3212592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Mona Lisa — 60 triángulos</a:t>
            </a:r>
            <a:endParaRPr/>
          </a:p>
        </p:txBody>
      </p:sp>
      <p:pic>
        <p:nvPicPr>
          <p:cNvPr descr="girl_pearl_earring_elite.gif" id="472" name="Google Shape;472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4996" y="1298448"/>
            <a:ext cx="2057400" cy="2057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p37"/>
          <p:cNvSpPr/>
          <p:nvPr/>
        </p:nvSpPr>
        <p:spPr>
          <a:xfrm>
            <a:off x="6444996" y="1298448"/>
            <a:ext cx="2057400" cy="2057400"/>
          </a:xfrm>
          <a:prstGeom prst="rect">
            <a:avLst/>
          </a:prstGeom>
          <a:noFill/>
          <a:ln cap="flat" cmpd="sng" w="9525">
            <a:solidFill>
              <a:srgbClr val="BFC7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37"/>
          <p:cNvSpPr txBox="1"/>
          <p:nvPr/>
        </p:nvSpPr>
        <p:spPr>
          <a:xfrm>
            <a:off x="6114288" y="3438144"/>
            <a:ext cx="2718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La joven de la perla — 60</a:t>
            </a:r>
            <a:endParaRPr/>
          </a:p>
        </p:txBody>
      </p:sp>
      <p:sp>
        <p:nvSpPr>
          <p:cNvPr id="475" name="Google Shape;475;p37"/>
          <p:cNvSpPr txBox="1"/>
          <p:nvPr/>
        </p:nvSpPr>
        <p:spPr>
          <a:xfrm>
            <a:off x="310896" y="3840480"/>
            <a:ext cx="85221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Los dos retratos quedan fuera de la matriz formal de 110 corridas: son de dominio público, vía Wikimedia Commons, y están para variar la complejidad del objetivo.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8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38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28</a:t>
            </a:r>
            <a:endParaRPr/>
          </a:p>
        </p:txBody>
      </p:sp>
      <p:sp>
        <p:nvSpPr>
          <p:cNvPr id="482" name="Google Shape;482;p38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Qué operador conviene</a:t>
            </a:r>
            <a:endParaRPr/>
          </a:p>
        </p:txBody>
      </p:sp>
      <p:sp>
        <p:nvSpPr>
          <p:cNvPr id="483" name="Google Shape;483;p38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484" name="Google Shape;484;p38"/>
          <p:cNvSpPr/>
          <p:nvPr/>
        </p:nvSpPr>
        <p:spPr>
          <a:xfrm>
            <a:off x="310896" y="1207008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38"/>
          <p:cNvSpPr txBox="1"/>
          <p:nvPr/>
        </p:nvSpPr>
        <p:spPr>
          <a:xfrm>
            <a:off x="457200" y="1353312"/>
            <a:ext cx="3877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Selección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Los basados en orden (ranking, elite, torneos) funcionan sobre el fitness crudo; ranking termina primero y elite llega más rápido. Los proporcionales no son peores: sirven igual una vez corregida la escala, y sin elitismo llegan a 0,96 reescalando y a 0,97 con Boltzmann a Tc = 0,002.</a:t>
            </a:r>
            <a:endParaRPr/>
          </a:p>
        </p:txBody>
      </p:sp>
      <p:sp>
        <p:nvSpPr>
          <p:cNvPr id="486" name="Google Shape;486;p38"/>
          <p:cNvSpPr/>
          <p:nvPr/>
        </p:nvSpPr>
        <p:spPr>
          <a:xfrm>
            <a:off x="4663440" y="1207008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38"/>
          <p:cNvSpPr txBox="1"/>
          <p:nvPr/>
        </p:nvSpPr>
        <p:spPr>
          <a:xfrm>
            <a:off x="4809744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Supervivencia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Aditiva siempre. Es monótona por construcción y no perdimos nada usándola. La exclusiva solo es segura con K &lt; N.</a:t>
            </a:r>
            <a:endParaRPr/>
          </a:p>
        </p:txBody>
      </p:sp>
      <p:sp>
        <p:nvSpPr>
          <p:cNvPr id="488" name="Google Shape;488;p38"/>
          <p:cNvSpPr/>
          <p:nvPr/>
        </p:nvSpPr>
        <p:spPr>
          <a:xfrm>
            <a:off x="310896" y="2606040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38"/>
          <p:cNvSpPr txBox="1"/>
          <p:nvPr/>
        </p:nvSpPr>
        <p:spPr>
          <a:xfrm>
            <a:off x="457200" y="2752344"/>
            <a:ext cx="38772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Cruza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Indistinguible del ruido sobre esta representación: no hay convención que alinee el triángulo i entre dos padres, y el orden de dibujado no es conmutativo.</a:t>
            </a:r>
            <a:endParaRPr/>
          </a:p>
        </p:txBody>
      </p:sp>
      <p:sp>
        <p:nvSpPr>
          <p:cNvPr id="490" name="Google Shape;490;p38"/>
          <p:cNvSpPr/>
          <p:nvPr/>
        </p:nvSpPr>
        <p:spPr>
          <a:xfrm>
            <a:off x="4663440" y="2606040"/>
            <a:ext cx="41697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38"/>
          <p:cNvSpPr txBox="1"/>
          <p:nvPr/>
        </p:nvSpPr>
        <p:spPr>
          <a:xfrm>
            <a:off x="4809744" y="275234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Mutación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Es el operador que efectivamente mueve la búsqueda. Con gen simple y Pm alto alcanza para llegar a 0,98.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3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29</a:t>
            </a:r>
            <a:endParaRPr/>
          </a:p>
        </p:txBody>
      </p:sp>
      <p:sp>
        <p:nvSpPr>
          <p:cNvPr id="498" name="Google Shape;498;p3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El hallazgo que no esperábamos</a:t>
            </a:r>
            <a:endParaRPr/>
          </a:p>
        </p:txBody>
      </p:sp>
      <p:sp>
        <p:nvSpPr>
          <p:cNvPr id="499" name="Google Shape;499;p3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500" name="Google Shape;500;p39"/>
          <p:cNvSpPr/>
          <p:nvPr/>
        </p:nvSpPr>
        <p:spPr>
          <a:xfrm>
            <a:off x="310896" y="1207008"/>
            <a:ext cx="8522100" cy="731400"/>
          </a:xfrm>
          <a:prstGeom prst="roundRect">
            <a:avLst>
              <a:gd fmla="val 11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39"/>
          <p:cNvSpPr txBox="1"/>
          <p:nvPr/>
        </p:nvSpPr>
        <p:spPr>
          <a:xfrm>
            <a:off x="310896" y="1444752"/>
            <a:ext cx="8522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7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Un canvas en blanco, sin un solo triángulo, ya puntúa 0,695</a:t>
            </a:r>
            <a:endParaRPr/>
          </a:p>
        </p:txBody>
      </p:sp>
      <p:sp>
        <p:nvSpPr>
          <p:cNvPr id="502" name="Google Shape;502;p39"/>
          <p:cNvSpPr/>
          <p:nvPr/>
        </p:nvSpPr>
        <p:spPr>
          <a:xfrm>
            <a:off x="310896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39"/>
          <p:cNvSpPr txBox="1"/>
          <p:nvPr/>
        </p:nvSpPr>
        <p:spPr>
          <a:xfrm>
            <a:off x="457200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causa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fitness está normalizado contra el peor caso posible, que es un canvas negro contra uno blanco.</a:t>
            </a:r>
            <a:endParaRPr/>
          </a:p>
        </p:txBody>
      </p:sp>
      <p:sp>
        <p:nvSpPr>
          <p:cNvPr id="504" name="Google Shape;504;p39"/>
          <p:cNvSpPr/>
          <p:nvPr/>
        </p:nvSpPr>
        <p:spPr>
          <a:xfrm>
            <a:off x="3212592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39"/>
          <p:cNvSpPr txBox="1"/>
          <p:nvPr/>
        </p:nvSpPr>
        <p:spPr>
          <a:xfrm>
            <a:off x="3358896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La consecuencia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Todo el rango útil vive entre 0,69 y 1,0. La selección proporcional no tiene contra qué contrastar.</a:t>
            </a:r>
            <a:endParaRPr/>
          </a:p>
        </p:txBody>
      </p:sp>
      <p:sp>
        <p:nvSpPr>
          <p:cNvPr id="506" name="Google Shape;506;p39"/>
          <p:cNvSpPr/>
          <p:nvPr/>
        </p:nvSpPr>
        <p:spPr>
          <a:xfrm>
            <a:off x="6114288" y="2084831"/>
            <a:ext cx="2718900" cy="12345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39"/>
          <p:cNvSpPr txBox="1"/>
          <p:nvPr/>
        </p:nvSpPr>
        <p:spPr>
          <a:xfrm>
            <a:off x="6260592" y="2231136"/>
            <a:ext cx="24261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El arreglo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Escalar el fitness contra el mínimo de la población, o bajar mucho la temperatura de Boltzmann.</a:t>
            </a:r>
            <a:endParaRPr/>
          </a:p>
        </p:txBody>
      </p:sp>
      <p:sp>
        <p:nvSpPr>
          <p:cNvPr id="508" name="Google Shape;508;p39"/>
          <p:cNvSpPr txBox="1"/>
          <p:nvPr/>
        </p:nvSpPr>
        <p:spPr>
          <a:xfrm>
            <a:off x="310896" y="3520440"/>
            <a:ext cx="8522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rgbClr val="273C42"/>
                </a:solidFill>
                <a:latin typeface="Lato"/>
                <a:ea typeface="Lato"/>
                <a:cs typeface="Lato"/>
                <a:sym typeface="Lato"/>
              </a:rPr>
              <a:t>Tres de los siete métodos de la matriz no fallan por su definición: fallan porque la función de fitness no les da con qué trabajar.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40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40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30</a:t>
            </a:r>
            <a:endParaRPr/>
          </a:p>
        </p:txBody>
      </p:sp>
      <p:sp>
        <p:nvSpPr>
          <p:cNvPr id="515" name="Google Shape;515;p40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Limitaciones y trabajo futuro</a:t>
            </a:r>
            <a:endParaRPr/>
          </a:p>
        </p:txBody>
      </p:sp>
      <p:sp>
        <p:nvSpPr>
          <p:cNvPr id="516" name="Google Shape;516;p40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Conclusiones</a:t>
            </a:r>
            <a:endParaRPr/>
          </a:p>
        </p:txBody>
      </p:sp>
      <p:sp>
        <p:nvSpPr>
          <p:cNvPr id="517" name="Google Shape;517;p40"/>
          <p:cNvSpPr/>
          <p:nvPr/>
        </p:nvSpPr>
        <p:spPr>
          <a:xfrm>
            <a:off x="310896" y="1207008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40"/>
          <p:cNvSpPr txBox="1"/>
          <p:nvPr/>
        </p:nvSpPr>
        <p:spPr>
          <a:xfrm>
            <a:off x="457200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Una sola imagen en la matriz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Las 110 corridas son todas sobre la bandera. Los otros objetivos quedaron fuera del diseño formal.</a:t>
            </a:r>
            <a:endParaRPr/>
          </a:p>
        </p:txBody>
      </p:sp>
      <p:sp>
        <p:nvSpPr>
          <p:cNvPr id="519" name="Google Shape;519;p40"/>
          <p:cNvSpPr/>
          <p:nvPr/>
        </p:nvSpPr>
        <p:spPr>
          <a:xfrm>
            <a:off x="4663440" y="1207008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p40"/>
          <p:cNvSpPr txBox="1"/>
          <p:nvPr/>
        </p:nvSpPr>
        <p:spPr>
          <a:xfrm>
            <a:off x="4809744" y="1353312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Boltzmann mal escalado — barrido y corregido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T0 = 5,0 y Tc = 0,5 son enormes frente a un spread de fitness de 0,14. Barrimos T0, Tc y k sobre 110 corridas: Tc domina y las otras dos casi no pesan. Bajarla a 0,002 lleva Boltzmann de 0,72 a 0,97, sin elitismo.</a:t>
            </a:r>
            <a:endParaRPr/>
          </a:p>
        </p:txBody>
      </p:sp>
      <p:sp>
        <p:nvSpPr>
          <p:cNvPr id="521" name="Google Shape;521;p40"/>
          <p:cNvSpPr/>
          <p:nvPr/>
        </p:nvSpPr>
        <p:spPr>
          <a:xfrm>
            <a:off x="310896" y="2560320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40"/>
          <p:cNvSpPr txBox="1"/>
          <p:nvPr/>
        </p:nvSpPr>
        <p:spPr>
          <a:xfrm>
            <a:off x="457200" y="270662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4E9E33"/>
                </a:solidFill>
                <a:latin typeface="Lato"/>
                <a:ea typeface="Lato"/>
                <a:cs typeface="Lato"/>
                <a:sym typeface="Lato"/>
              </a:rPr>
              <a:t>Reescalar el fitness — implementado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Confirmado: restarle el piso a la población recupera los tres. Sin elitismo, ruleta pasa de 0,72 a 0,96 y universal de 0,74 a 0,97. Queda como opción de configuración: el default sigue siendo la definición de la cátedra.</a:t>
            </a:r>
            <a:endParaRPr/>
          </a:p>
        </p:txBody>
      </p:sp>
      <p:sp>
        <p:nvSpPr>
          <p:cNvPr id="523" name="Google Shape;523;p40"/>
          <p:cNvSpPr/>
          <p:nvPr/>
        </p:nvSpPr>
        <p:spPr>
          <a:xfrm>
            <a:off x="4663440" y="2560320"/>
            <a:ext cx="4169700" cy="11886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40"/>
          <p:cNvSpPr txBox="1"/>
          <p:nvPr/>
        </p:nvSpPr>
        <p:spPr>
          <a:xfrm>
            <a:off x="4809744" y="2706624"/>
            <a:ext cx="3877200" cy="55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Otras primitivas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El enunciado habilita elipses y otros polígonos. Quedó pendiente.</a:t>
            </a:r>
            <a:endParaRPr/>
          </a:p>
        </p:txBody>
      </p:sp>
      <p:sp>
        <p:nvSpPr>
          <p:cNvPr id="525" name="Google Shape;525;p40"/>
          <p:cNvSpPr txBox="1"/>
          <p:nvPr/>
        </p:nvSpPr>
        <p:spPr>
          <a:xfrm>
            <a:off x="310896" y="3950208"/>
            <a:ext cx="85221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Toda la matriz es reproducible: cada corrida archiva su semilla, su configuración efectiva, las versiones de las librerías y el commit.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41"/>
          <p:cNvSpPr txBox="1"/>
          <p:nvPr>
            <p:ph type="ctrTitle"/>
          </p:nvPr>
        </p:nvSpPr>
        <p:spPr>
          <a:xfrm>
            <a:off x="3096250" y="1627200"/>
            <a:ext cx="2951400" cy="158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Muchas gracias</a:t>
            </a:r>
            <a:endParaRPr/>
          </a:p>
        </p:txBody>
      </p:sp>
      <p:sp>
        <p:nvSpPr>
          <p:cNvPr id="531" name="Google Shape;531;p41"/>
          <p:cNvSpPr txBox="1"/>
          <p:nvPr>
            <p:ph idx="1" type="subTitle"/>
          </p:nvPr>
        </p:nvSpPr>
        <p:spPr>
          <a:xfrm>
            <a:off x="3096363" y="3266930"/>
            <a:ext cx="2951400" cy="70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lnSpcReduction="20000"/>
          </a:bodyPr>
          <a:lstStyle/>
          <a:p>
            <a:pPr indent="-342900" lvl="0" marL="45720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600"/>
              <a:t>¿Preguntas?</a:t>
            </a:r>
            <a:endParaRPr/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18</a:t>
            </a:r>
            <a:endParaRPr/>
          </a:p>
        </p:txBody>
      </p:sp>
      <p:sp>
        <p:nvSpPr>
          <p:cNvPr id="360" name="Google Shape;360;p2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Selección: padres contra reemplazo</a:t>
            </a:r>
            <a:endParaRPr/>
          </a:p>
        </p:txBody>
      </p:sp>
      <p:sp>
        <p:nvSpPr>
          <p:cNvPr id="361" name="Google Shape;361;p2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eleccion.png" id="362" name="Google Shape;36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504" y="1207008"/>
            <a:ext cx="4494905" cy="2946456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9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 txBox="1"/>
          <p:nvPr/>
        </p:nvSpPr>
        <p:spPr>
          <a:xfrm>
            <a:off x="6199632" y="1353312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El reemplazo es el que decide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Los mismos 7 métodos. Si el método gobierna padres y reemplazo, ruleta, universal y Boltzmann se quedan planos. Restringidos a la selección de padres, con reemplazo elite, los siete terminan entre 0,973 y 0,986.</a:t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9"/>
          <p:cNvSpPr txBox="1"/>
          <p:nvPr/>
        </p:nvSpPr>
        <p:spPr>
          <a:xfrm>
            <a:off x="6199632" y="2889504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Por qué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Un padre débil sólo cuesta velocidad: los buenos siguen en la población y se los puede volver a elegir. Un reemplazo débil los descarta. Con ruleta, el mejor individuo sobrevive 0,46 veces por generación.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9"/>
          <p:cNvSpPr/>
          <p:nvPr/>
        </p:nvSpPr>
        <p:spPr>
          <a:xfrm>
            <a:off x="0" y="5047488"/>
            <a:ext cx="9144000" cy="100500"/>
          </a:xfrm>
          <a:prstGeom prst="rect">
            <a:avLst/>
          </a:prstGeom>
          <a:solidFill>
            <a:srgbClr val="F55E6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9"/>
          <p:cNvSpPr txBox="1"/>
          <p:nvPr/>
        </p:nvSpPr>
        <p:spPr>
          <a:xfrm>
            <a:off x="7863840" y="4700016"/>
            <a:ext cx="9693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19</a:t>
            </a:r>
            <a:endParaRPr/>
          </a:p>
        </p:txBody>
      </p:sp>
      <p:sp>
        <p:nvSpPr>
          <p:cNvPr id="360" name="Google Shape;360;p29"/>
          <p:cNvSpPr txBox="1"/>
          <p:nvPr/>
        </p:nvSpPr>
        <p:spPr>
          <a:xfrm>
            <a:off x="310896" y="310896"/>
            <a:ext cx="852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600" u="none" cap="none" strike="noStrike">
                <a:solidFill>
                  <a:srgbClr val="F55E61"/>
                </a:solidFill>
                <a:latin typeface="Playfair Display"/>
                <a:ea typeface="Playfair Display"/>
                <a:cs typeface="Playfair Display"/>
                <a:sym typeface="Playfair Display"/>
              </a:rPr>
              <a:t>Corregida la escala, funcionan los siete</a:t>
            </a:r>
            <a:endParaRPr/>
          </a:p>
        </p:txBody>
      </p:sp>
      <p:sp>
        <p:nvSpPr>
          <p:cNvPr id="361" name="Google Shape;361;p29"/>
          <p:cNvSpPr txBox="1"/>
          <p:nvPr/>
        </p:nvSpPr>
        <p:spPr>
          <a:xfrm>
            <a:off x="310896" y="841248"/>
            <a:ext cx="8522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100" u="none" cap="none" strike="noStrike">
                <a:solidFill>
                  <a:srgbClr val="BFC7CA"/>
                </a:solidFill>
                <a:latin typeface="Lato"/>
                <a:ea typeface="Lato"/>
                <a:cs typeface="Lato"/>
                <a:sym typeface="Lato"/>
              </a:rPr>
              <a:t>Ejercicio 2 · Resultados</a:t>
            </a:r>
            <a:endParaRPr/>
          </a:p>
        </p:txBody>
      </p:sp>
      <p:pic>
        <p:nvPicPr>
          <p:cNvPr descr="fig_seleccion.png" id="362" name="Google Shape;36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0896" y="1392033"/>
            <a:ext cx="5532121" cy="2576406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29"/>
          <p:cNvSpPr/>
          <p:nvPr/>
        </p:nvSpPr>
        <p:spPr>
          <a:xfrm>
            <a:off x="6053328" y="1207008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9"/>
          <p:cNvSpPr txBox="1"/>
          <p:nvPr/>
        </p:nvSpPr>
        <p:spPr>
          <a:xfrm>
            <a:off x="6199632" y="1353312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Reescalado y temperatura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Restarle a cada individuo el piso de la población: ruleta 0,72 → 0,96 y universal 0,74 → 0,97. Boltzmann con Tc = 0,002 en vez de 0,5: 0,72 → 0,97.</a:t>
            </a:r>
            <a:endParaRPr/>
          </a:p>
        </p:txBody>
      </p:sp>
      <p:sp>
        <p:nvSpPr>
          <p:cNvPr id="365" name="Google Shape;365;p29"/>
          <p:cNvSpPr/>
          <p:nvPr/>
        </p:nvSpPr>
        <p:spPr>
          <a:xfrm>
            <a:off x="6053328" y="2743200"/>
            <a:ext cx="2779800" cy="1417200"/>
          </a:xfrm>
          <a:prstGeom prst="roundRect">
            <a:avLst>
              <a:gd fmla="val 7000" name="adj"/>
            </a:avLst>
          </a:prstGeom>
          <a:solidFill>
            <a:srgbClr val="F2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9"/>
          <p:cNvSpPr txBox="1"/>
          <p:nvPr/>
        </p:nvSpPr>
        <p:spPr>
          <a:xfrm>
            <a:off x="6199632" y="2889504"/>
            <a:ext cx="24873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50" u="none" cap="none" strike="noStrike">
                <a:solidFill>
                  <a:srgbClr val="F55E61"/>
                </a:solidFill>
                <a:latin typeface="Lato"/>
                <a:ea typeface="Lato"/>
                <a:cs typeface="Lato"/>
                <a:sym typeface="Lato"/>
              </a:rPr>
              <a:t>Sin elitismo en ninguno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GB" sz="1050" u="none" cap="none" strike="noStrike">
                <a:solidFill>
                  <a:srgbClr val="5E696C"/>
                </a:solidFill>
                <a:latin typeface="Lato"/>
                <a:ea typeface="Lato"/>
                <a:cs typeface="Lato"/>
                <a:sym typeface="Lato"/>
              </a:rPr>
              <a:t>Los tres métodos que la lámina anterior da por perdidos convergen igual que los otros cuatro. No fallaban por su definición, sino por la escala de la función de fitness.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oral">
  <a:themeElements>
    <a:clrScheme name="Coral">
      <a:dk1>
        <a:srgbClr val="F55E61"/>
      </a:dk1>
      <a:lt1>
        <a:srgbClr val="FFFFFF"/>
      </a:lt1>
      <a:dk2>
        <a:srgbClr val="5E696C"/>
      </a:dk2>
      <a:lt2>
        <a:srgbClr val="BFC7CA"/>
      </a:lt2>
      <a:accent1>
        <a:srgbClr val="1E2D31"/>
      </a:accent1>
      <a:accent2>
        <a:srgbClr val="273C42"/>
      </a:accent2>
      <a:accent3>
        <a:srgbClr val="83D061"/>
      </a:accent3>
      <a:accent4>
        <a:srgbClr val="F6CD4C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